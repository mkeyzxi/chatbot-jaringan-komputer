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4630400" cy="8229600"/>
  <p:notesSz cx="8229600" cy="14630400"/>
  <p:embeddedFontLst>
    <p:embeddedFont>
      <p:font typeface="MuseoModerno Medium"/>
      <p:regular r:id="rId24"/>
    </p:embeddedFont>
    <p:embeddedFont>
      <p:font typeface="MuseoModerno Medium"/>
      <p:regular r:id="rId25"/>
    </p:embeddedFont>
    <p:embeddedFont>
      <p:font typeface="MuseoModerno Medium"/>
      <p:regular r:id="rId26"/>
    </p:embeddedFont>
    <p:embeddedFont>
      <p:font typeface="MuseoModerno Medium"/>
      <p:regular r:id="rId27"/>
    </p:embeddedFont>
    <p:embeddedFont>
      <p:font typeface="Source Sans 3"/>
      <p:regular r:id="rId28"/>
    </p:embeddedFont>
    <p:embeddedFont>
      <p:font typeface="Source Sans 3"/>
      <p:regular r:id="rId2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40887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Apa itu WiMAX?</a:t>
            </a:r>
            <a:endParaRPr lang="en-US" sz="4450" dirty="0"/>
          </a:p>
        </p:txBody>
      </p:sp>
      <p:sp>
        <p:nvSpPr>
          <p:cNvPr id="4" name="Text 1"/>
          <p:cNvSpPr/>
          <p:nvPr/>
        </p:nvSpPr>
        <p:spPr>
          <a:xfrm>
            <a:off x="793790" y="445781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Penjelasan mudah tentang internet super cepat tanpa kabel.</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6359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Apa Itu WiMAX?</a:t>
            </a:r>
            <a:endParaRPr lang="en-US" sz="4450" dirty="0"/>
          </a:p>
        </p:txBody>
      </p:sp>
      <p:sp>
        <p:nvSpPr>
          <p:cNvPr id="3" name="Shape 1"/>
          <p:cNvSpPr/>
          <p:nvPr/>
        </p:nvSpPr>
        <p:spPr>
          <a:xfrm>
            <a:off x="793790" y="3225998"/>
            <a:ext cx="4196358" cy="2940010"/>
          </a:xfrm>
          <a:prstGeom prst="roundRect">
            <a:avLst>
              <a:gd name="adj" fmla="val 1157"/>
            </a:avLst>
          </a:prstGeom>
          <a:solidFill>
            <a:srgbClr val="F3EEE3"/>
          </a:solidFill>
          <a:ln/>
        </p:spPr>
      </p:sp>
      <p:sp>
        <p:nvSpPr>
          <p:cNvPr id="4" name="Shape 2"/>
          <p:cNvSpPr/>
          <p:nvPr/>
        </p:nvSpPr>
        <p:spPr>
          <a:xfrm>
            <a:off x="1020604" y="3452813"/>
            <a:ext cx="680442" cy="680442"/>
          </a:xfrm>
          <a:prstGeom prst="roundRect">
            <a:avLst>
              <a:gd name="adj" fmla="val 13436980"/>
            </a:avLst>
          </a:prstGeom>
          <a:solidFill>
            <a:srgbClr val="325F7B"/>
          </a:solidFill>
          <a:ln/>
        </p:spPr>
      </p:sp>
      <p:pic>
        <p:nvPicPr>
          <p:cNvPr id="5" name="Image 0" descr="preencoded.png">    </p:cNvPr>
          <p:cNvPicPr>
            <a:picLocks noChangeAspect="1"/>
          </p:cNvPicPr>
          <p:nvPr/>
        </p:nvPicPr>
        <p:blipFill>
          <a:blip r:embed="rId1"/>
          <a:stretch>
            <a:fillRect/>
          </a:stretch>
        </p:blipFill>
        <p:spPr>
          <a:xfrm>
            <a:off x="1207770" y="3601641"/>
            <a:ext cx="306110" cy="382667"/>
          </a:xfrm>
          <a:prstGeom prst="rect">
            <a:avLst/>
          </a:prstGeom>
        </p:spPr>
      </p:pic>
      <p:sp>
        <p:nvSpPr>
          <p:cNvPr id="6" name="Text 3"/>
          <p:cNvSpPr/>
          <p:nvPr/>
        </p:nvSpPr>
        <p:spPr>
          <a:xfrm>
            <a:off x="1020604" y="43600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Standar Dunia</a:t>
            </a:r>
            <a:endParaRPr lang="en-US" sz="2200" dirty="0"/>
          </a:p>
        </p:txBody>
      </p:sp>
      <p:sp>
        <p:nvSpPr>
          <p:cNvPr id="7" name="Text 4"/>
          <p:cNvSpPr/>
          <p:nvPr/>
        </p:nvSpPr>
        <p:spPr>
          <a:xfrm>
            <a:off x="1020604" y="4850487"/>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Teknologi nirkabel yang dikenal dan bisa dipakai di mana saja di seluruh dunia.</a:t>
            </a:r>
            <a:endParaRPr lang="en-US" sz="1750" dirty="0"/>
          </a:p>
        </p:txBody>
      </p:sp>
      <p:sp>
        <p:nvSpPr>
          <p:cNvPr id="8" name="Shape 5"/>
          <p:cNvSpPr/>
          <p:nvPr/>
        </p:nvSpPr>
        <p:spPr>
          <a:xfrm>
            <a:off x="5216962" y="3225998"/>
            <a:ext cx="4196358" cy="2940010"/>
          </a:xfrm>
          <a:prstGeom prst="roundRect">
            <a:avLst>
              <a:gd name="adj" fmla="val 1157"/>
            </a:avLst>
          </a:prstGeom>
          <a:solidFill>
            <a:srgbClr val="F3EEE3"/>
          </a:solidFill>
          <a:ln/>
        </p:spPr>
      </p:sp>
      <p:sp>
        <p:nvSpPr>
          <p:cNvPr id="9" name="Shape 6"/>
          <p:cNvSpPr/>
          <p:nvPr/>
        </p:nvSpPr>
        <p:spPr>
          <a:xfrm>
            <a:off x="5443776" y="3452813"/>
            <a:ext cx="680442" cy="680442"/>
          </a:xfrm>
          <a:prstGeom prst="roundRect">
            <a:avLst>
              <a:gd name="adj" fmla="val 13436980"/>
            </a:avLst>
          </a:prstGeom>
          <a:solidFill>
            <a:srgbClr val="325F7B"/>
          </a:solidFill>
          <a:ln/>
        </p:spPr>
      </p:sp>
      <p:pic>
        <p:nvPicPr>
          <p:cNvPr id="10" name="Image 1" descr="preencoded.png">    </p:cNvPr>
          <p:cNvPicPr>
            <a:picLocks noChangeAspect="1"/>
          </p:cNvPicPr>
          <p:nvPr/>
        </p:nvPicPr>
        <p:blipFill>
          <a:blip r:embed="rId2"/>
          <a:stretch>
            <a:fillRect/>
          </a:stretch>
        </p:blipFill>
        <p:spPr>
          <a:xfrm>
            <a:off x="5630942" y="3639860"/>
            <a:ext cx="306110" cy="306110"/>
          </a:xfrm>
          <a:prstGeom prst="rect">
            <a:avLst/>
          </a:prstGeom>
        </p:spPr>
      </p:pic>
      <p:sp>
        <p:nvSpPr>
          <p:cNvPr id="11" name="Text 7"/>
          <p:cNvSpPr/>
          <p:nvPr/>
        </p:nvSpPr>
        <p:spPr>
          <a:xfrm>
            <a:off x="5443776" y="43600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Internet Kencang</a:t>
            </a:r>
            <a:endParaRPr lang="en-US" sz="2200" dirty="0"/>
          </a:p>
        </p:txBody>
      </p:sp>
      <p:sp>
        <p:nvSpPr>
          <p:cNvPr id="12" name="Text 8"/>
          <p:cNvSpPr/>
          <p:nvPr/>
        </p:nvSpPr>
        <p:spPr>
          <a:xfrm>
            <a:off x="5443776" y="4850487"/>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Internetnya cepat sekali, kecepatannya bisa mencapai 74 Mbps. Jangkauannya juga luas, sampai 50 km.</a:t>
            </a:r>
            <a:endParaRPr lang="en-US" sz="1750" dirty="0"/>
          </a:p>
        </p:txBody>
      </p:sp>
      <p:sp>
        <p:nvSpPr>
          <p:cNvPr id="13" name="Shape 9"/>
          <p:cNvSpPr/>
          <p:nvPr/>
        </p:nvSpPr>
        <p:spPr>
          <a:xfrm>
            <a:off x="9640133" y="3225998"/>
            <a:ext cx="4196358" cy="2940010"/>
          </a:xfrm>
          <a:prstGeom prst="roundRect">
            <a:avLst>
              <a:gd name="adj" fmla="val 1157"/>
            </a:avLst>
          </a:prstGeom>
          <a:solidFill>
            <a:srgbClr val="F3EEE3"/>
          </a:solidFill>
          <a:ln/>
        </p:spPr>
      </p:sp>
      <p:sp>
        <p:nvSpPr>
          <p:cNvPr id="14" name="Shape 10"/>
          <p:cNvSpPr/>
          <p:nvPr/>
        </p:nvSpPr>
        <p:spPr>
          <a:xfrm>
            <a:off x="9866948" y="3452813"/>
            <a:ext cx="680442" cy="680442"/>
          </a:xfrm>
          <a:prstGeom prst="roundRect">
            <a:avLst>
              <a:gd name="adj" fmla="val 13436980"/>
            </a:avLst>
          </a:prstGeom>
          <a:solidFill>
            <a:srgbClr val="325F7B"/>
          </a:solidFill>
          <a:ln/>
        </p:spPr>
      </p:sp>
      <p:pic>
        <p:nvPicPr>
          <p:cNvPr id="15" name="Image 2" descr="preencoded.png">    </p:cNvPr>
          <p:cNvPicPr>
            <a:picLocks noChangeAspect="1"/>
          </p:cNvPicPr>
          <p:nvPr/>
        </p:nvPicPr>
        <p:blipFill>
          <a:blip r:embed="rId3"/>
          <a:stretch>
            <a:fillRect/>
          </a:stretch>
        </p:blipFill>
        <p:spPr>
          <a:xfrm>
            <a:off x="10054114" y="3639860"/>
            <a:ext cx="306110" cy="306110"/>
          </a:xfrm>
          <a:prstGeom prst="rect">
            <a:avLst/>
          </a:prstGeom>
        </p:spPr>
      </p:pic>
      <p:sp>
        <p:nvSpPr>
          <p:cNvPr id="16" name="Text 11"/>
          <p:cNvSpPr/>
          <p:nvPr/>
        </p:nvSpPr>
        <p:spPr>
          <a:xfrm>
            <a:off x="9866948" y="43600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Murah &amp; Praktis</a:t>
            </a:r>
            <a:endParaRPr lang="en-US" sz="2200" dirty="0"/>
          </a:p>
        </p:txBody>
      </p:sp>
      <p:sp>
        <p:nvSpPr>
          <p:cNvPr id="17" name="Text 12"/>
          <p:cNvSpPr/>
          <p:nvPr/>
        </p:nvSpPr>
        <p:spPr>
          <a:xfrm>
            <a:off x="9866948" y="4850487"/>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Lebih murah dan gampang dipasang daripada internet kabel biasa. Area cakupannya juga lebih besar.</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1008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Jangkauan WiMAX</a:t>
            </a:r>
            <a:endParaRPr lang="en-US" sz="4450" dirty="0"/>
          </a:p>
        </p:txBody>
      </p:sp>
      <p:sp>
        <p:nvSpPr>
          <p:cNvPr id="4" name="Text 1"/>
          <p:cNvSpPr/>
          <p:nvPr/>
        </p:nvSpPr>
        <p:spPr>
          <a:xfrm>
            <a:off x="6280190" y="2659023"/>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Satu pemancar WiMAX memiliki kemampuan luar biasa untuk menyebarkan internet nirkabel ke area yang sangat luas.</a:t>
            </a:r>
            <a:endParaRPr lang="en-US" sz="1750" dirty="0"/>
          </a:p>
        </p:txBody>
      </p:sp>
      <p:sp>
        <p:nvSpPr>
          <p:cNvPr id="5" name="Text 2"/>
          <p:cNvSpPr/>
          <p:nvPr/>
        </p:nvSpPr>
        <p:spPr>
          <a:xfrm>
            <a:off x="6280190" y="3753326"/>
            <a:ext cx="7556421" cy="748427"/>
          </a:xfrm>
          <a:prstGeom prst="rect">
            <a:avLst/>
          </a:prstGeom>
          <a:noFill/>
          <a:ln/>
        </p:spPr>
        <p:txBody>
          <a:bodyPr wrap="none" lIns="0" tIns="0" rIns="0" bIns="0" rtlCol="0" anchor="t"/>
          <a:lstStyle/>
          <a:p>
            <a:pPr algn="ctr" indent="0" marL="0">
              <a:lnSpc>
                <a:spcPts val="5850"/>
              </a:lnSpc>
              <a:buNone/>
            </a:pPr>
            <a:r>
              <a:rPr lang="en-US" sz="5850" dirty="0">
                <a:solidFill>
                  <a:srgbClr val="2B4150"/>
                </a:solidFill>
                <a:latin typeface="MuseoModerno Medium" pitchFamily="34" charset="0"/>
                <a:ea typeface="MuseoModerno Medium" pitchFamily="34" charset="-122"/>
                <a:cs typeface="MuseoModerno Medium" pitchFamily="34" charset="-120"/>
              </a:rPr>
              <a:t>50 KM</a:t>
            </a:r>
            <a:endParaRPr lang="en-US" sz="5850" dirty="0"/>
          </a:p>
        </p:txBody>
      </p:sp>
      <p:sp>
        <p:nvSpPr>
          <p:cNvPr id="6" name="Text 3"/>
          <p:cNvSpPr/>
          <p:nvPr/>
        </p:nvSpPr>
        <p:spPr>
          <a:xfrm>
            <a:off x="8640723" y="4785122"/>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Jangkauan</a:t>
            </a:r>
            <a:endParaRPr lang="en-US" sz="2200" dirty="0"/>
          </a:p>
        </p:txBody>
      </p:sp>
      <p:sp>
        <p:nvSpPr>
          <p:cNvPr id="7" name="Text 4"/>
          <p:cNvSpPr/>
          <p:nvPr/>
        </p:nvSpPr>
        <p:spPr>
          <a:xfrm>
            <a:off x="6280190" y="5275540"/>
            <a:ext cx="7556421" cy="362903"/>
          </a:xfrm>
          <a:prstGeom prst="rect">
            <a:avLst/>
          </a:prstGeom>
          <a:noFill/>
          <a:ln/>
        </p:spPr>
        <p:txBody>
          <a:bodyPr wrap="none" lIns="0" tIns="0" rIns="0" bIns="0" rtlCol="0" anchor="t"/>
          <a:lstStyle/>
          <a:p>
            <a:pPr algn="ctr"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Jarak cakupan internet dari satu pemancar WiMAX.</a:t>
            </a:r>
            <a:endParaRPr lang="en-US" sz="1750" dirty="0"/>
          </a:p>
        </p:txBody>
      </p:sp>
      <p:sp>
        <p:nvSpPr>
          <p:cNvPr id="8" name="Text 5"/>
          <p:cNvSpPr/>
          <p:nvPr/>
        </p:nvSpPr>
        <p:spPr>
          <a:xfrm>
            <a:off x="6280190" y="5893594"/>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Dengan jangkauan sejauh </a:t>
            </a:r>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50 kilometer</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ini, ratusan orang bisa menikmati akses internet yang kencang dan stabil, bahkan di area yang sulit dijangkau.</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897856"/>
            <a:ext cx="9109591"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Kelebihan WiMAX dari yang Lain</a:t>
            </a:r>
            <a:endParaRPr lang="en-US" sz="4450" dirty="0"/>
          </a:p>
        </p:txBody>
      </p:sp>
      <p:sp>
        <p:nvSpPr>
          <p:cNvPr id="3" name="Text 1"/>
          <p:cNvSpPr/>
          <p:nvPr/>
        </p:nvSpPr>
        <p:spPr>
          <a:xfrm>
            <a:off x="793790" y="317361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Jangkauan Luas</a:t>
            </a:r>
            <a:endParaRPr lang="en-US" sz="2200" dirty="0"/>
          </a:p>
        </p:txBody>
      </p:sp>
      <p:sp>
        <p:nvSpPr>
          <p:cNvPr id="4" name="Text 2"/>
          <p:cNvSpPr/>
          <p:nvPr/>
        </p:nvSpPr>
        <p:spPr>
          <a:xfrm>
            <a:off x="793790" y="3754755"/>
            <a:ext cx="3979545" cy="362903"/>
          </a:xfrm>
          <a:prstGeom prst="rect">
            <a:avLst/>
          </a:prstGeom>
          <a:noFill/>
          <a:ln/>
        </p:spPr>
        <p:txBody>
          <a:bodyPr wrap="none" lIns="0" tIns="0" rIns="0" bIns="0" rtlCol="0" anchor="t"/>
          <a:lstStyle/>
          <a:p>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WiMAX:</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hingga 50 km</a:t>
            </a:r>
            <a:endParaRPr lang="en-US" sz="1750" dirty="0"/>
          </a:p>
        </p:txBody>
      </p:sp>
      <p:sp>
        <p:nvSpPr>
          <p:cNvPr id="5" name="Text 3"/>
          <p:cNvSpPr/>
          <p:nvPr/>
        </p:nvSpPr>
        <p:spPr>
          <a:xfrm>
            <a:off x="793790" y="4321731"/>
            <a:ext cx="3979545" cy="362903"/>
          </a:xfrm>
          <a:prstGeom prst="rect">
            <a:avLst/>
          </a:prstGeom>
          <a:noFill/>
          <a:ln/>
        </p:spPr>
        <p:txBody>
          <a:bodyPr wrap="none" lIns="0" tIns="0" rIns="0" bIns="0" rtlCol="0" anchor="t"/>
          <a:lstStyle/>
          <a:p>
            <a:pPr algn="l" indent="0" marL="0">
              <a:lnSpc>
                <a:spcPts val="2850"/>
              </a:lnSpc>
              <a:buNone/>
            </a:pPr>
            <a:r>
              <a:rPr lang="en-US" sz="1750" b="1" dirty="0">
                <a:solidFill>
                  <a:srgbClr val="2B4150"/>
                </a:solidFill>
                <a:latin typeface="Source Sans 3" pitchFamily="34" charset="0"/>
                <a:ea typeface="Source Sans 3" pitchFamily="34" charset="-122"/>
                <a:cs typeface="Source Sans 3" pitchFamily="34" charset="-120"/>
              </a:rPr>
              <a:t>Wi-Fi:</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hanya 100 meter</a:t>
            </a:r>
            <a:endParaRPr lang="en-US" sz="1750" dirty="0"/>
          </a:p>
        </p:txBody>
      </p:sp>
      <p:sp>
        <p:nvSpPr>
          <p:cNvPr id="6" name="Text 4"/>
          <p:cNvSpPr/>
          <p:nvPr/>
        </p:nvSpPr>
        <p:spPr>
          <a:xfrm>
            <a:off x="793790" y="4888706"/>
            <a:ext cx="3979545"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WiMAX menawarkan jangkauan area yang jauh lebih luas dibandingkan Wi-Fi.</a:t>
            </a:r>
            <a:endParaRPr lang="en-US" sz="1750" dirty="0"/>
          </a:p>
        </p:txBody>
      </p:sp>
      <p:sp>
        <p:nvSpPr>
          <p:cNvPr id="7" name="Text 5"/>
          <p:cNvSpPr/>
          <p:nvPr/>
        </p:nvSpPr>
        <p:spPr>
          <a:xfrm>
            <a:off x="5334357" y="317361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Mobilitas Tinggi</a:t>
            </a:r>
            <a:endParaRPr lang="en-US" sz="2200" dirty="0"/>
          </a:p>
        </p:txBody>
      </p:sp>
      <p:sp>
        <p:nvSpPr>
          <p:cNvPr id="8" name="Text 6"/>
          <p:cNvSpPr/>
          <p:nvPr/>
        </p:nvSpPr>
        <p:spPr>
          <a:xfrm>
            <a:off x="5334357" y="3754755"/>
            <a:ext cx="3978116" cy="1088708"/>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WiMAX memungkinkan koneksi internet cepat dan stabil bahkan saat Anda sedang bergerak.</a:t>
            </a:r>
            <a:endParaRPr lang="en-US" sz="1750" dirty="0"/>
          </a:p>
        </p:txBody>
      </p:sp>
      <p:sp>
        <p:nvSpPr>
          <p:cNvPr id="9" name="Text 7"/>
          <p:cNvSpPr/>
          <p:nvPr/>
        </p:nvSpPr>
        <p:spPr>
          <a:xfrm>
            <a:off x="5334357" y="5047536"/>
            <a:ext cx="3978116"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Ideal untuk penggunaan di kendaraan atau perangkat seluler.</a:t>
            </a:r>
            <a:endParaRPr lang="en-US" sz="1750" dirty="0"/>
          </a:p>
        </p:txBody>
      </p:sp>
      <p:sp>
        <p:nvSpPr>
          <p:cNvPr id="10" name="Text 8"/>
          <p:cNvSpPr/>
          <p:nvPr/>
        </p:nvSpPr>
        <p:spPr>
          <a:xfrm>
            <a:off x="9873496" y="3173611"/>
            <a:ext cx="3978116" cy="708660"/>
          </a:xfrm>
          <a:prstGeom prst="rect">
            <a:avLst/>
          </a:prstGeom>
          <a:noFill/>
          <a:ln/>
        </p:spPr>
        <p:txBody>
          <a:bodyPr wrap="squar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Ketahanan Terhadap Gangguan</a:t>
            </a:r>
            <a:endParaRPr lang="en-US" sz="2200" dirty="0"/>
          </a:p>
        </p:txBody>
      </p:sp>
      <p:sp>
        <p:nvSpPr>
          <p:cNvPr id="11" name="Text 9"/>
          <p:cNvSpPr/>
          <p:nvPr/>
        </p:nvSpPr>
        <p:spPr>
          <a:xfrm>
            <a:off x="9873496" y="4109085"/>
            <a:ext cx="3978116"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Sinyal WiMAX lebih kuat dan stabil, sehingga tidak mudah terganggu.</a:t>
            </a:r>
            <a:endParaRPr lang="en-US" sz="1750" dirty="0"/>
          </a:p>
        </p:txBody>
      </p:sp>
      <p:sp>
        <p:nvSpPr>
          <p:cNvPr id="12" name="Text 10"/>
          <p:cNvSpPr/>
          <p:nvPr/>
        </p:nvSpPr>
        <p:spPr>
          <a:xfrm>
            <a:off x="9873496" y="5038963"/>
            <a:ext cx="3978116" cy="1088708"/>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Koneksi internet tetap lancar meskipun kondisi cuaca atau lingkungan kurang ideal.</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04593"/>
            <a:ext cx="1083945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Sistem Komunikasi Point-to-Multipoint</a:t>
            </a:r>
            <a:endParaRPr lang="en-US" sz="4450" dirty="0"/>
          </a:p>
        </p:txBody>
      </p:sp>
      <p:sp>
        <p:nvSpPr>
          <p:cNvPr id="3" name="Text 1"/>
          <p:cNvSpPr/>
          <p:nvPr/>
        </p:nvSpPr>
        <p:spPr>
          <a:xfrm>
            <a:off x="793790" y="2667000"/>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01</a:t>
            </a:r>
            <a:endParaRPr lang="en-US" sz="1750" dirty="0"/>
          </a:p>
        </p:txBody>
      </p:sp>
      <p:sp>
        <p:nvSpPr>
          <p:cNvPr id="4" name="Shape 2"/>
          <p:cNvSpPr/>
          <p:nvPr/>
        </p:nvSpPr>
        <p:spPr>
          <a:xfrm>
            <a:off x="793790" y="3022044"/>
            <a:ext cx="6407944" cy="30480"/>
          </a:xfrm>
          <a:prstGeom prst="rect">
            <a:avLst/>
          </a:prstGeom>
          <a:solidFill>
            <a:srgbClr val="325F7B"/>
          </a:solidFill>
          <a:ln/>
        </p:spPr>
      </p:sp>
      <p:sp>
        <p:nvSpPr>
          <p:cNvPr id="5" name="Text 3"/>
          <p:cNvSpPr/>
          <p:nvPr/>
        </p:nvSpPr>
        <p:spPr>
          <a:xfrm>
            <a:off x="793790" y="319635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Pusat Utama</a:t>
            </a:r>
            <a:endParaRPr lang="en-US" sz="2200" dirty="0"/>
          </a:p>
        </p:txBody>
      </p:sp>
      <p:sp>
        <p:nvSpPr>
          <p:cNvPr id="6" name="Text 4"/>
          <p:cNvSpPr/>
          <p:nvPr/>
        </p:nvSpPr>
        <p:spPr>
          <a:xfrm>
            <a:off x="793790" y="3686770"/>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Ada satu pusat yang menyambungkan banyak alat di area yang luas.</a:t>
            </a:r>
            <a:endParaRPr lang="en-US" sz="1750" dirty="0"/>
          </a:p>
        </p:txBody>
      </p:sp>
      <p:sp>
        <p:nvSpPr>
          <p:cNvPr id="7" name="Text 5"/>
          <p:cNvSpPr/>
          <p:nvPr/>
        </p:nvSpPr>
        <p:spPr>
          <a:xfrm>
            <a:off x="7428548" y="2667000"/>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02</a:t>
            </a:r>
            <a:endParaRPr lang="en-US" sz="1750" dirty="0"/>
          </a:p>
        </p:txBody>
      </p:sp>
      <p:sp>
        <p:nvSpPr>
          <p:cNvPr id="8" name="Shape 6"/>
          <p:cNvSpPr/>
          <p:nvPr/>
        </p:nvSpPr>
        <p:spPr>
          <a:xfrm>
            <a:off x="7428548" y="3022044"/>
            <a:ext cx="6408063" cy="30480"/>
          </a:xfrm>
          <a:prstGeom prst="rect">
            <a:avLst/>
          </a:prstGeom>
          <a:solidFill>
            <a:srgbClr val="325F7B"/>
          </a:solidFill>
          <a:ln/>
        </p:spPr>
      </p:sp>
      <p:sp>
        <p:nvSpPr>
          <p:cNvPr id="9" name="Text 7"/>
          <p:cNvSpPr/>
          <p:nvPr/>
        </p:nvSpPr>
        <p:spPr>
          <a:xfrm>
            <a:off x="7428548" y="319635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Sinyal Kuat</a:t>
            </a:r>
            <a:endParaRPr lang="en-US" sz="2200" dirty="0"/>
          </a:p>
        </p:txBody>
      </p:sp>
      <p:sp>
        <p:nvSpPr>
          <p:cNvPr id="10" name="Text 8"/>
          <p:cNvSpPr/>
          <p:nvPr/>
        </p:nvSpPr>
        <p:spPr>
          <a:xfrm>
            <a:off x="7428548" y="3686770"/>
            <a:ext cx="6408063"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Pakai gelombang khusus agar sinyalnya kuat dan bisa menjangkau jauh.</a:t>
            </a:r>
            <a:endParaRPr lang="en-US" sz="1750" dirty="0"/>
          </a:p>
        </p:txBody>
      </p:sp>
      <p:sp>
        <p:nvSpPr>
          <p:cNvPr id="11" name="Text 9"/>
          <p:cNvSpPr/>
          <p:nvPr/>
        </p:nvSpPr>
        <p:spPr>
          <a:xfrm>
            <a:off x="793790" y="480941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03</a:t>
            </a:r>
            <a:endParaRPr lang="en-US" sz="1750" dirty="0"/>
          </a:p>
        </p:txBody>
      </p:sp>
      <p:sp>
        <p:nvSpPr>
          <p:cNvPr id="12" name="Shape 10"/>
          <p:cNvSpPr/>
          <p:nvPr/>
        </p:nvSpPr>
        <p:spPr>
          <a:xfrm>
            <a:off x="793790" y="5164455"/>
            <a:ext cx="6407944" cy="30480"/>
          </a:xfrm>
          <a:prstGeom prst="rect">
            <a:avLst/>
          </a:prstGeom>
          <a:solidFill>
            <a:srgbClr val="325F7B"/>
          </a:solidFill>
          <a:ln/>
        </p:spPr>
      </p:sp>
      <p:sp>
        <p:nvSpPr>
          <p:cNvPr id="13" name="Text 11"/>
          <p:cNvSpPr/>
          <p:nvPr/>
        </p:nvSpPr>
        <p:spPr>
          <a:xfrm>
            <a:off x="793790" y="5338763"/>
            <a:ext cx="4725472"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Tersambung Meski Ada Halangan</a:t>
            </a:r>
            <a:endParaRPr lang="en-US" sz="2200" dirty="0"/>
          </a:p>
        </p:txBody>
      </p:sp>
      <p:sp>
        <p:nvSpPr>
          <p:cNvPr id="14" name="Text 12"/>
          <p:cNvSpPr/>
          <p:nvPr/>
        </p:nvSpPr>
        <p:spPr>
          <a:xfrm>
            <a:off x="793790" y="5829181"/>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Bisa tersambung langsung atau memutar, jadi mudah dipasang di mana saja.</a:t>
            </a:r>
            <a:endParaRPr lang="en-US" sz="1750" dirty="0"/>
          </a:p>
        </p:txBody>
      </p:sp>
      <p:sp>
        <p:nvSpPr>
          <p:cNvPr id="15" name="Text 13"/>
          <p:cNvSpPr/>
          <p:nvPr/>
        </p:nvSpPr>
        <p:spPr>
          <a:xfrm>
            <a:off x="7428548" y="480941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MuseoModerno Light" pitchFamily="34" charset="0"/>
                <a:ea typeface="MuseoModerno Light" pitchFamily="34" charset="-122"/>
                <a:cs typeface="MuseoModerno Light" pitchFamily="34" charset="-120"/>
              </a:rPr>
              <a:t>04</a:t>
            </a:r>
            <a:endParaRPr lang="en-US" sz="1750" dirty="0"/>
          </a:p>
        </p:txBody>
      </p:sp>
      <p:sp>
        <p:nvSpPr>
          <p:cNvPr id="16" name="Shape 14"/>
          <p:cNvSpPr/>
          <p:nvPr/>
        </p:nvSpPr>
        <p:spPr>
          <a:xfrm>
            <a:off x="7428548" y="5164455"/>
            <a:ext cx="6408063" cy="30480"/>
          </a:xfrm>
          <a:prstGeom prst="rect">
            <a:avLst/>
          </a:prstGeom>
          <a:solidFill>
            <a:srgbClr val="325F7B"/>
          </a:solidFill>
          <a:ln/>
        </p:spPr>
      </p:sp>
      <p:sp>
        <p:nvSpPr>
          <p:cNvPr id="17" name="Text 15"/>
          <p:cNvSpPr/>
          <p:nvPr/>
        </p:nvSpPr>
        <p:spPr>
          <a:xfrm>
            <a:off x="7428548" y="5338763"/>
            <a:ext cx="41281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Cocok untuk Berbagai Tempat</a:t>
            </a:r>
            <a:endParaRPr lang="en-US" sz="2200" dirty="0"/>
          </a:p>
        </p:txBody>
      </p:sp>
      <p:sp>
        <p:nvSpPr>
          <p:cNvPr id="18" name="Text 16"/>
          <p:cNvSpPr/>
          <p:nvPr/>
        </p:nvSpPr>
        <p:spPr>
          <a:xfrm>
            <a:off x="7428548" y="5829181"/>
            <a:ext cx="6408063"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Pas banget untuk kota ramai atau desa pelosok.</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154567"/>
            <a:ext cx="943225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WiMAX: Sambungan Banyak Titik</a:t>
            </a:r>
            <a:endParaRPr lang="en-US" sz="4450" dirty="0"/>
          </a:p>
        </p:txBody>
      </p:sp>
      <p:sp>
        <p:nvSpPr>
          <p:cNvPr id="4" name="Text 1"/>
          <p:cNvSpPr/>
          <p:nvPr/>
        </p:nvSpPr>
        <p:spPr>
          <a:xfrm>
            <a:off x="793790" y="5203508"/>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WiMAX memakai sistem "sambungan banyak titik" yang sangat cerdas dan hemat. Ini berarti, dari </a:t>
            </a:r>
            <a:pPr algn="l" indent="0" marL="0">
              <a:lnSpc>
                <a:spcPts val="2850"/>
              </a:lnSpc>
              <a:buNone/>
            </a:pPr>
            <a:r>
              <a:rPr lang="en-US" sz="1750" b="1" dirty="0">
                <a:solidFill>
                  <a:srgbClr val="2B4150"/>
                </a:solidFill>
                <a:latin typeface="Source Sans 3" pitchFamily="34" charset="0"/>
                <a:ea typeface="Source Sans 3" pitchFamily="34" charset="-122"/>
                <a:cs typeface="Source Sans 3" pitchFamily="34" charset="-120"/>
              </a:rPr>
              <a:t>satu lokasi pusat</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sinyal WiMAX bisa terhubung ke </a:t>
            </a:r>
            <a:pPr algn="l" indent="0" marL="0">
              <a:lnSpc>
                <a:spcPts val="2850"/>
              </a:lnSpc>
              <a:buNone/>
            </a:pPr>
            <a:r>
              <a:rPr lang="en-US" sz="1750" b="1" dirty="0">
                <a:solidFill>
                  <a:srgbClr val="2B4150"/>
                </a:solidFill>
                <a:latin typeface="Source Sans 3" pitchFamily="34" charset="0"/>
                <a:ea typeface="Source Sans 3" pitchFamily="34" charset="-122"/>
                <a:cs typeface="Source Sans 3" pitchFamily="34" charset="-120"/>
              </a:rPr>
              <a:t>banyak perangkat</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atau pengguna sekaligus.</a:t>
            </a:r>
            <a:endParaRPr lang="en-US" sz="1750" dirty="0"/>
          </a:p>
        </p:txBody>
      </p:sp>
      <p:sp>
        <p:nvSpPr>
          <p:cNvPr id="5" name="Text 2"/>
          <p:cNvSpPr/>
          <p:nvPr/>
        </p:nvSpPr>
        <p:spPr>
          <a:xfrm>
            <a:off x="793790" y="6184463"/>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Caranya mudah: sinyal yang dikirim dibagi-bagi. Ada yang </a:t>
            </a:r>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bergantian waktu</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(seperti antrean, satu per satu dapat giliran) dan ada yang pakai </a:t>
            </a:r>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jalur frekuensi berbeda</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(seperti banyak jalan yang bisa dipakai bersamaan). Jadi, semua bisa dapat sinyal tanpa tabrakan.</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778675"/>
            <a:ext cx="7586186"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Komponen Penting WiMAX</a:t>
            </a:r>
            <a:endParaRPr lang="en-US" sz="4450" dirty="0"/>
          </a:p>
        </p:txBody>
      </p:sp>
      <p:pic>
        <p:nvPicPr>
          <p:cNvPr id="3" name="Image 0" descr="preencoded.png">    </p:cNvPr>
          <p:cNvPicPr>
            <a:picLocks noChangeAspect="1"/>
          </p:cNvPicPr>
          <p:nvPr/>
        </p:nvPicPr>
        <p:blipFill>
          <a:blip r:embed="rId1"/>
          <a:stretch>
            <a:fillRect/>
          </a:stretch>
        </p:blipFill>
        <p:spPr>
          <a:xfrm>
            <a:off x="793790" y="2941082"/>
            <a:ext cx="566976" cy="566976"/>
          </a:xfrm>
          <a:prstGeom prst="rect">
            <a:avLst/>
          </a:prstGeom>
        </p:spPr>
      </p:pic>
      <p:sp>
        <p:nvSpPr>
          <p:cNvPr id="4" name="Text 1"/>
          <p:cNvSpPr/>
          <p:nvPr/>
        </p:nvSpPr>
        <p:spPr>
          <a:xfrm>
            <a:off x="1644253" y="3075742"/>
            <a:ext cx="4132659"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Stasiun Utama (Base Station)</a:t>
            </a:r>
            <a:endParaRPr lang="en-US" sz="2200" dirty="0"/>
          </a:p>
        </p:txBody>
      </p:sp>
      <p:sp>
        <p:nvSpPr>
          <p:cNvPr id="5" name="Text 2"/>
          <p:cNvSpPr/>
          <p:nvPr/>
        </p:nvSpPr>
        <p:spPr>
          <a:xfrm>
            <a:off x="1644253" y="3566160"/>
            <a:ext cx="5529143"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Bagian pusat yang memancarkan sinyal WiMAX dan mengatur semua perangkat yang terhubung di sekitarnya.</a:t>
            </a:r>
            <a:endParaRPr lang="en-US" sz="1750" dirty="0"/>
          </a:p>
        </p:txBody>
      </p:sp>
      <p:pic>
        <p:nvPicPr>
          <p:cNvPr id="6" name="Image 1" descr="preencoded.png">    </p:cNvPr>
          <p:cNvPicPr>
            <a:picLocks noChangeAspect="1"/>
          </p:cNvPicPr>
          <p:nvPr/>
        </p:nvPicPr>
        <p:blipFill>
          <a:blip r:embed="rId2"/>
          <a:stretch>
            <a:fillRect/>
          </a:stretch>
        </p:blipFill>
        <p:spPr>
          <a:xfrm>
            <a:off x="7456884" y="2941082"/>
            <a:ext cx="566976" cy="566976"/>
          </a:xfrm>
          <a:prstGeom prst="rect">
            <a:avLst/>
          </a:prstGeom>
        </p:spPr>
      </p:pic>
      <p:sp>
        <p:nvSpPr>
          <p:cNvPr id="7" name="Text 3"/>
          <p:cNvSpPr/>
          <p:nvPr/>
        </p:nvSpPr>
        <p:spPr>
          <a:xfrm>
            <a:off x="8307348" y="3075742"/>
            <a:ext cx="5529263" cy="708660"/>
          </a:xfrm>
          <a:prstGeom prst="rect">
            <a:avLst/>
          </a:prstGeom>
          <a:noFill/>
          <a:ln/>
        </p:spPr>
        <p:txBody>
          <a:bodyPr wrap="squar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Perangkat Pelanggan (Subscriber Station)</a:t>
            </a:r>
            <a:endParaRPr lang="en-US" sz="2200" dirty="0"/>
          </a:p>
        </p:txBody>
      </p:sp>
      <p:sp>
        <p:nvSpPr>
          <p:cNvPr id="8" name="Text 4"/>
          <p:cNvSpPr/>
          <p:nvPr/>
        </p:nvSpPr>
        <p:spPr>
          <a:xfrm>
            <a:off x="8307348" y="3920490"/>
            <a:ext cx="5529263"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Alat yang dipasang di tempat Anda untuk menerima sinyal internet WiMAX.</a:t>
            </a:r>
            <a:endParaRPr lang="en-US" sz="1750" dirty="0"/>
          </a:p>
        </p:txBody>
      </p:sp>
      <p:pic>
        <p:nvPicPr>
          <p:cNvPr id="9" name="Image 2" descr="preencoded.png">    </p:cNvPr>
          <p:cNvPicPr>
            <a:picLocks noChangeAspect="1"/>
          </p:cNvPicPr>
          <p:nvPr/>
        </p:nvPicPr>
        <p:blipFill>
          <a:blip r:embed="rId3"/>
          <a:stretch>
            <a:fillRect/>
          </a:stretch>
        </p:blipFill>
        <p:spPr>
          <a:xfrm>
            <a:off x="793790" y="5099923"/>
            <a:ext cx="566976" cy="566976"/>
          </a:xfrm>
          <a:prstGeom prst="rect">
            <a:avLst/>
          </a:prstGeom>
        </p:spPr>
      </p:pic>
      <p:sp>
        <p:nvSpPr>
          <p:cNvPr id="10" name="Text 5"/>
          <p:cNvSpPr/>
          <p:nvPr/>
        </p:nvSpPr>
        <p:spPr>
          <a:xfrm>
            <a:off x="1644253" y="5234583"/>
            <a:ext cx="2889528"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Pengaturan Jaringan</a:t>
            </a:r>
            <a:endParaRPr lang="en-US" sz="2200" dirty="0"/>
          </a:p>
        </p:txBody>
      </p:sp>
      <p:sp>
        <p:nvSpPr>
          <p:cNvPr id="11" name="Text 6"/>
          <p:cNvSpPr/>
          <p:nvPr/>
        </p:nvSpPr>
        <p:spPr>
          <a:xfrm>
            <a:off x="1644253" y="5725001"/>
            <a:ext cx="5529143"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Sistem untuk mengelola dan memantau kerja seluruh jaringan WiMAX agar berjalan lancar.</a:t>
            </a:r>
            <a:endParaRPr lang="en-US" sz="1750" dirty="0"/>
          </a:p>
        </p:txBody>
      </p:sp>
      <p:pic>
        <p:nvPicPr>
          <p:cNvPr id="12" name="Image 3" descr="preencoded.png">    </p:cNvPr>
          <p:cNvPicPr>
            <a:picLocks noChangeAspect="1"/>
          </p:cNvPicPr>
          <p:nvPr/>
        </p:nvPicPr>
        <p:blipFill>
          <a:blip r:embed="rId4"/>
          <a:stretch>
            <a:fillRect/>
          </a:stretch>
        </p:blipFill>
        <p:spPr>
          <a:xfrm>
            <a:off x="7456884" y="5099923"/>
            <a:ext cx="566976" cy="566976"/>
          </a:xfrm>
          <a:prstGeom prst="rect">
            <a:avLst/>
          </a:prstGeom>
        </p:spPr>
      </p:pic>
      <p:sp>
        <p:nvSpPr>
          <p:cNvPr id="13" name="Text 7"/>
          <p:cNvSpPr/>
          <p:nvPr/>
        </p:nvSpPr>
        <p:spPr>
          <a:xfrm>
            <a:off x="8307348" y="5234583"/>
            <a:ext cx="4241006"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Jaringan Penghubung Internet</a:t>
            </a:r>
            <a:endParaRPr lang="en-US" sz="2200" dirty="0"/>
          </a:p>
        </p:txBody>
      </p:sp>
      <p:sp>
        <p:nvSpPr>
          <p:cNvPr id="14" name="Text 8"/>
          <p:cNvSpPr/>
          <p:nvPr/>
        </p:nvSpPr>
        <p:spPr>
          <a:xfrm>
            <a:off x="8307348" y="5725001"/>
            <a:ext cx="5529263"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Jaringan besar yang menghubungkan WiMAX Anda ke internet di seluruh dunia.</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118836"/>
            <a:ext cx="7589044"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Cara Kerja Jaringan WiMAX</a:t>
            </a:r>
            <a:endParaRPr lang="en-US" sz="4450" dirty="0"/>
          </a:p>
        </p:txBody>
      </p:sp>
      <p:sp>
        <p:nvSpPr>
          <p:cNvPr id="3" name="Text 1"/>
          <p:cNvSpPr/>
          <p:nvPr/>
        </p:nvSpPr>
        <p:spPr>
          <a:xfrm>
            <a:off x="793790" y="3167777"/>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Jaringan WiMAX ini seperti sebuah sistem yang terhubung jadi satu. Sistem ini punya dua bagian utama:</a:t>
            </a:r>
            <a:endParaRPr lang="en-US" sz="1750" dirty="0"/>
          </a:p>
        </p:txBody>
      </p:sp>
      <p:sp>
        <p:nvSpPr>
          <p:cNvPr id="4" name="Text 2"/>
          <p:cNvSpPr/>
          <p:nvPr/>
        </p:nvSpPr>
        <p:spPr>
          <a:xfrm>
            <a:off x="793790" y="3785830"/>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Access Service Network (ASN)</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Ini adalah bagian yang mengatur sambungan internet nirkabel (tanpa kabel) dan memastikan hanya pengguna yang sudah terdaftar saja yang bisa mengaksesnya.</a:t>
            </a:r>
            <a:endParaRPr lang="en-US" sz="1750" dirty="0"/>
          </a:p>
        </p:txBody>
      </p:sp>
      <p:sp>
        <p:nvSpPr>
          <p:cNvPr id="5" name="Text 3"/>
          <p:cNvSpPr/>
          <p:nvPr/>
        </p:nvSpPr>
        <p:spPr>
          <a:xfrm>
            <a:off x="793790" y="4766786"/>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Connectivity Service Network (CSN)</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Bagian ini bertugas menyambungkan jaringan WiMAX ke internet global (seluruh dunia) dan layanan-layanan lain yang dibutuhkan.</a:t>
            </a:r>
            <a:endParaRPr lang="en-US" sz="1750" dirty="0"/>
          </a:p>
        </p:txBody>
      </p:sp>
      <p:sp>
        <p:nvSpPr>
          <p:cNvPr id="6" name="Text 4"/>
          <p:cNvSpPr/>
          <p:nvPr/>
        </p:nvSpPr>
        <p:spPr>
          <a:xfrm>
            <a:off x="793790" y="574774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Kedua bagian ini bekerja sama agar pengguna bisa mendapatkan layanan internet yang lengkap dan optimal.</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337786"/>
            <a:ext cx="7218164"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Teknologi Penting WiMAX</a:t>
            </a:r>
            <a:endParaRPr lang="en-US" sz="4450" dirty="0"/>
          </a:p>
        </p:txBody>
      </p:sp>
      <p:pic>
        <p:nvPicPr>
          <p:cNvPr id="3" name="Image 0" descr="preencoded.png">    </p:cNvPr>
          <p:cNvPicPr>
            <a:picLocks noChangeAspect="1"/>
          </p:cNvPicPr>
          <p:nvPr/>
        </p:nvPicPr>
        <p:blipFill>
          <a:blip r:embed="rId1"/>
          <a:stretch>
            <a:fillRect/>
          </a:stretch>
        </p:blipFill>
        <p:spPr>
          <a:xfrm>
            <a:off x="793790" y="2500193"/>
            <a:ext cx="1134070" cy="1360884"/>
          </a:xfrm>
          <a:prstGeom prst="rect">
            <a:avLst/>
          </a:prstGeom>
        </p:spPr>
      </p:pic>
      <p:sp>
        <p:nvSpPr>
          <p:cNvPr id="4" name="Text 1"/>
          <p:cNvSpPr/>
          <p:nvPr/>
        </p:nvSpPr>
        <p:spPr>
          <a:xfrm>
            <a:off x="2154674" y="2727008"/>
            <a:ext cx="4281488"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OFDM (Pemisah Sinyal Cerdas)</a:t>
            </a:r>
            <a:endParaRPr lang="en-US" sz="2200" dirty="0"/>
          </a:p>
        </p:txBody>
      </p:sp>
      <p:sp>
        <p:nvSpPr>
          <p:cNvPr id="5" name="Text 2"/>
          <p:cNvSpPr/>
          <p:nvPr/>
        </p:nvSpPr>
        <p:spPr>
          <a:xfrm>
            <a:off x="2154674" y="3217426"/>
            <a:ext cx="11681936" cy="362903"/>
          </a:xfrm>
          <a:prstGeom prst="rect">
            <a:avLst/>
          </a:prstGeom>
          <a:noFill/>
          <a:ln/>
        </p:spPr>
        <p:txBody>
          <a:bodyPr wrap="none" lIns="0" tIns="0" rIns="0" bIns="0" rtlCol="0" anchor="t"/>
          <a:lstStyle/>
          <a:p>
            <a:pPr algn="l" indent="0" marL="0">
              <a:lnSpc>
                <a:spcPts val="2850"/>
              </a:lnSpc>
              <a:buNone/>
            </a:pPr>
            <a:r>
              <a:rPr lang="en-US" sz="1750" b="1" dirty="0">
                <a:solidFill>
                  <a:srgbClr val="2B4150"/>
                </a:solidFill>
                <a:latin typeface="Source Sans 3" pitchFamily="34" charset="0"/>
                <a:ea typeface="Source Sans 3" pitchFamily="34" charset="-122"/>
                <a:cs typeface="Source Sans 3" pitchFamily="34" charset="-120"/>
              </a:rPr>
              <a:t>OFDM</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membagi sinyal jadi banyak bagian kecil. Ini membuat sinyal lebih tahan gangguan dan frekuensi dipakai lebih baik.</a:t>
            </a:r>
            <a:endParaRPr lang="en-US" sz="1750" dirty="0"/>
          </a:p>
        </p:txBody>
      </p:sp>
      <p:pic>
        <p:nvPicPr>
          <p:cNvPr id="6" name="Image 1" descr="preencoded.png">    </p:cNvPr>
          <p:cNvPicPr>
            <a:picLocks noChangeAspect="1"/>
          </p:cNvPicPr>
          <p:nvPr/>
        </p:nvPicPr>
        <p:blipFill>
          <a:blip r:embed="rId2"/>
          <a:stretch>
            <a:fillRect/>
          </a:stretch>
        </p:blipFill>
        <p:spPr>
          <a:xfrm>
            <a:off x="793790" y="3861078"/>
            <a:ext cx="1134070" cy="1360884"/>
          </a:xfrm>
          <a:prstGeom prst="rect">
            <a:avLst/>
          </a:prstGeom>
        </p:spPr>
      </p:pic>
      <p:sp>
        <p:nvSpPr>
          <p:cNvPr id="7" name="Text 3"/>
          <p:cNvSpPr/>
          <p:nvPr/>
        </p:nvSpPr>
        <p:spPr>
          <a:xfrm>
            <a:off x="2154674" y="4087892"/>
            <a:ext cx="3413284"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MIMO (Banyak Antena)</a:t>
            </a:r>
            <a:endParaRPr lang="en-US" sz="2200" dirty="0"/>
          </a:p>
        </p:txBody>
      </p:sp>
      <p:sp>
        <p:nvSpPr>
          <p:cNvPr id="8" name="Text 4"/>
          <p:cNvSpPr/>
          <p:nvPr/>
        </p:nvSpPr>
        <p:spPr>
          <a:xfrm>
            <a:off x="2154674" y="4578310"/>
            <a:ext cx="11681936" cy="362903"/>
          </a:xfrm>
          <a:prstGeom prst="rect">
            <a:avLst/>
          </a:prstGeom>
          <a:noFill/>
          <a:ln/>
        </p:spPr>
        <p:txBody>
          <a:bodyPr wrap="none" lIns="0" tIns="0" rIns="0" bIns="0" rtlCol="0" anchor="t"/>
          <a:lstStyle/>
          <a:p>
            <a:pPr algn="l" indent="0" marL="0">
              <a:lnSpc>
                <a:spcPts val="2850"/>
              </a:lnSpc>
              <a:buNone/>
            </a:pPr>
            <a:r>
              <a:rPr lang="en-US" sz="1750" b="1" dirty="0">
                <a:solidFill>
                  <a:srgbClr val="2B4150"/>
                </a:solidFill>
                <a:latin typeface="Source Sans 3" pitchFamily="34" charset="0"/>
                <a:ea typeface="Source Sans 3" pitchFamily="34" charset="-122"/>
                <a:cs typeface="Source Sans 3" pitchFamily="34" charset="-120"/>
              </a:rPr>
              <a:t>MIMO</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memakai beberapa antena sekaligus. Tujuannya agar data lebih cepat terkirim dan sinyal jadi lebih kuat.</a:t>
            </a:r>
            <a:endParaRPr lang="en-US" sz="1750" dirty="0"/>
          </a:p>
        </p:txBody>
      </p:sp>
      <p:pic>
        <p:nvPicPr>
          <p:cNvPr id="9" name="Image 2" descr="preencoded.png">    </p:cNvPr>
          <p:cNvPicPr>
            <a:picLocks noChangeAspect="1"/>
          </p:cNvPicPr>
          <p:nvPr/>
        </p:nvPicPr>
        <p:blipFill>
          <a:blip r:embed="rId3"/>
          <a:stretch>
            <a:fillRect/>
          </a:stretch>
        </p:blipFill>
        <p:spPr>
          <a:xfrm>
            <a:off x="793790" y="5221962"/>
            <a:ext cx="1134070" cy="1669852"/>
          </a:xfrm>
          <a:prstGeom prst="rect">
            <a:avLst/>
          </a:prstGeom>
        </p:spPr>
      </p:pic>
      <p:sp>
        <p:nvSpPr>
          <p:cNvPr id="10" name="Text 5"/>
          <p:cNvSpPr/>
          <p:nvPr/>
        </p:nvSpPr>
        <p:spPr>
          <a:xfrm>
            <a:off x="2154674" y="5448776"/>
            <a:ext cx="5710833"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Modulasi Adaptif (Pengaturan Otomatis)</a:t>
            </a:r>
            <a:endParaRPr lang="en-US" sz="2200" dirty="0"/>
          </a:p>
        </p:txBody>
      </p:sp>
      <p:sp>
        <p:nvSpPr>
          <p:cNvPr id="11" name="Text 6"/>
          <p:cNvSpPr/>
          <p:nvPr/>
        </p:nvSpPr>
        <p:spPr>
          <a:xfrm>
            <a:off x="2154674" y="5939195"/>
            <a:ext cx="11681936"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Sistem ini bisa menyesuaikan diri dengan kondisi sinyal. Jadi, WiMAX selalu bekerja dengan kecepatan terbaik yang mungkin.</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71049" y="606862"/>
            <a:ext cx="7960400" cy="688419"/>
          </a:xfrm>
          <a:prstGeom prst="rect">
            <a:avLst/>
          </a:prstGeom>
          <a:noFill/>
          <a:ln/>
        </p:spPr>
        <p:txBody>
          <a:bodyPr wrap="none" lIns="0" tIns="0" rIns="0" bIns="0" rtlCol="0" anchor="t"/>
          <a:lstStyle/>
          <a:p>
            <a:pPr algn="l" indent="0" marL="0">
              <a:lnSpc>
                <a:spcPts val="5400"/>
              </a:lnSpc>
              <a:buNone/>
            </a:pPr>
            <a:r>
              <a:rPr lang="en-US" sz="4300" dirty="0">
                <a:solidFill>
                  <a:srgbClr val="124E73"/>
                </a:solidFill>
                <a:latin typeface="MuseoModerno Medium" pitchFamily="34" charset="0"/>
                <a:ea typeface="MuseoModerno Medium" pitchFamily="34" charset="-122"/>
                <a:cs typeface="MuseoModerno Medium" pitchFamily="34" charset="-120"/>
              </a:rPr>
              <a:t>Protokol dan Standar WiMAX</a:t>
            </a:r>
            <a:endParaRPr lang="en-US" sz="4300" dirty="0"/>
          </a:p>
        </p:txBody>
      </p:sp>
      <p:sp>
        <p:nvSpPr>
          <p:cNvPr id="3" name="Shape 1"/>
          <p:cNvSpPr/>
          <p:nvPr/>
        </p:nvSpPr>
        <p:spPr>
          <a:xfrm>
            <a:off x="771049" y="4503063"/>
            <a:ext cx="13088303" cy="30480"/>
          </a:xfrm>
          <a:prstGeom prst="roundRect">
            <a:avLst>
              <a:gd name="adj" fmla="val 108416"/>
            </a:avLst>
          </a:prstGeom>
          <a:solidFill>
            <a:srgbClr val="D9D4C9"/>
          </a:solidFill>
          <a:ln/>
        </p:spPr>
      </p:sp>
      <p:sp>
        <p:nvSpPr>
          <p:cNvPr id="4" name="Shape 2"/>
          <p:cNvSpPr/>
          <p:nvPr/>
        </p:nvSpPr>
        <p:spPr>
          <a:xfrm>
            <a:off x="3290768" y="3842325"/>
            <a:ext cx="30480" cy="660797"/>
          </a:xfrm>
          <a:prstGeom prst="roundRect">
            <a:avLst>
              <a:gd name="adj" fmla="val 108416"/>
            </a:avLst>
          </a:prstGeom>
          <a:solidFill>
            <a:srgbClr val="D9D4C9"/>
          </a:solidFill>
          <a:ln/>
        </p:spPr>
      </p:sp>
      <p:sp>
        <p:nvSpPr>
          <p:cNvPr id="5" name="Shape 3"/>
          <p:cNvSpPr/>
          <p:nvPr/>
        </p:nvSpPr>
        <p:spPr>
          <a:xfrm>
            <a:off x="3058239" y="4255234"/>
            <a:ext cx="495657" cy="495657"/>
          </a:xfrm>
          <a:prstGeom prst="roundRect">
            <a:avLst>
              <a:gd name="adj" fmla="val 6667"/>
            </a:avLst>
          </a:prstGeom>
          <a:solidFill>
            <a:srgbClr val="F3EEE3"/>
          </a:solidFill>
          <a:ln/>
        </p:spPr>
      </p:sp>
      <p:sp>
        <p:nvSpPr>
          <p:cNvPr id="6" name="Text 4"/>
          <p:cNvSpPr/>
          <p:nvPr/>
        </p:nvSpPr>
        <p:spPr>
          <a:xfrm>
            <a:off x="3140809" y="4296489"/>
            <a:ext cx="330398" cy="413028"/>
          </a:xfrm>
          <a:prstGeom prst="rect">
            <a:avLst/>
          </a:prstGeom>
          <a:noFill/>
          <a:ln/>
        </p:spPr>
        <p:txBody>
          <a:bodyPr wrap="none" lIns="0" tIns="0" rIns="0" bIns="0" rtlCol="0" anchor="t"/>
          <a:lstStyle/>
          <a:p>
            <a:pPr algn="ctr" indent="0" marL="0">
              <a:lnSpc>
                <a:spcPts val="2600"/>
              </a:lnSpc>
              <a:buNone/>
            </a:pPr>
            <a:r>
              <a:rPr lang="en-US" sz="2600" dirty="0">
                <a:solidFill>
                  <a:srgbClr val="2B4150"/>
                </a:solidFill>
                <a:latin typeface="MuseoModerno Medium" pitchFamily="34" charset="0"/>
                <a:ea typeface="MuseoModerno Medium" pitchFamily="34" charset="-122"/>
                <a:cs typeface="MuseoModerno Medium" pitchFamily="34" charset="-120"/>
              </a:rPr>
              <a:t>1</a:t>
            </a:r>
            <a:endParaRPr lang="en-US" sz="2600" dirty="0"/>
          </a:p>
        </p:txBody>
      </p:sp>
      <p:sp>
        <p:nvSpPr>
          <p:cNvPr id="7" name="Text 5"/>
          <p:cNvSpPr/>
          <p:nvPr/>
        </p:nvSpPr>
        <p:spPr>
          <a:xfrm>
            <a:off x="1083112" y="1735812"/>
            <a:ext cx="4445913" cy="344210"/>
          </a:xfrm>
          <a:prstGeom prst="rect">
            <a:avLst/>
          </a:prstGeom>
          <a:noFill/>
          <a:ln/>
        </p:spPr>
        <p:txBody>
          <a:bodyPr wrap="none" lIns="0" tIns="0" rIns="0" bIns="0" rtlCol="0" anchor="t"/>
          <a:lstStyle/>
          <a:p>
            <a:pPr algn="ctr" indent="0" marL="0">
              <a:lnSpc>
                <a:spcPts val="2700"/>
              </a:lnSpc>
              <a:buNone/>
            </a:pPr>
            <a:r>
              <a:rPr lang="en-US" sz="2150" dirty="0">
                <a:solidFill>
                  <a:srgbClr val="2B4150"/>
                </a:solidFill>
                <a:latin typeface="MuseoModerno Medium" pitchFamily="34" charset="0"/>
                <a:ea typeface="MuseoModerno Medium" pitchFamily="34" charset="-122"/>
                <a:cs typeface="MuseoModerno Medium" pitchFamily="34" charset="-120"/>
              </a:rPr>
              <a:t>IEEE 802.16-2004 (WiMAX Tetap)</a:t>
            </a:r>
            <a:endParaRPr lang="en-US" sz="2150" dirty="0"/>
          </a:p>
        </p:txBody>
      </p:sp>
      <p:sp>
        <p:nvSpPr>
          <p:cNvPr id="8" name="Text 6"/>
          <p:cNvSpPr/>
          <p:nvPr/>
        </p:nvSpPr>
        <p:spPr>
          <a:xfrm>
            <a:off x="991314" y="2212181"/>
            <a:ext cx="4629626" cy="1409700"/>
          </a:xfrm>
          <a:prstGeom prst="rect">
            <a:avLst/>
          </a:prstGeom>
          <a:noFill/>
          <a:ln/>
        </p:spPr>
        <p:txBody>
          <a:bodyPr wrap="square" lIns="0" tIns="0" rIns="0" bIns="0" rtlCol="0" anchor="t"/>
          <a:lstStyle/>
          <a:p>
            <a:pPr algn="ctr" indent="0" marL="0">
              <a:lnSpc>
                <a:spcPts val="2750"/>
              </a:lnSpc>
              <a:buNone/>
            </a:pPr>
            <a:r>
              <a:rPr lang="en-US" sz="1700" dirty="0">
                <a:solidFill>
                  <a:srgbClr val="2B4150"/>
                </a:solidFill>
                <a:latin typeface="Source Sans 3" pitchFamily="34" charset="0"/>
                <a:ea typeface="Source Sans 3" pitchFamily="34" charset="-122"/>
                <a:cs typeface="Source Sans 3" pitchFamily="34" charset="-120"/>
              </a:rPr>
              <a:t>Ini WiMAX yang pertama, khusus untuk internet di tempat yang tidak bergerak, misalnya dari tiang sinyal ke rumah. Kecepatannya lumayan cepat, sampai 75 Mbps.</a:t>
            </a:r>
            <a:endParaRPr lang="en-US" sz="1700" dirty="0"/>
          </a:p>
        </p:txBody>
      </p:sp>
      <p:sp>
        <p:nvSpPr>
          <p:cNvPr id="9" name="Shape 7"/>
          <p:cNvSpPr/>
          <p:nvPr/>
        </p:nvSpPr>
        <p:spPr>
          <a:xfrm>
            <a:off x="5963483" y="4503003"/>
            <a:ext cx="30480" cy="660797"/>
          </a:xfrm>
          <a:prstGeom prst="roundRect">
            <a:avLst>
              <a:gd name="adj" fmla="val 108416"/>
            </a:avLst>
          </a:prstGeom>
          <a:solidFill>
            <a:srgbClr val="D9D4C9"/>
          </a:solidFill>
          <a:ln/>
        </p:spPr>
      </p:sp>
      <p:sp>
        <p:nvSpPr>
          <p:cNvPr id="10" name="Shape 8"/>
          <p:cNvSpPr/>
          <p:nvPr/>
        </p:nvSpPr>
        <p:spPr>
          <a:xfrm>
            <a:off x="5730954" y="4255234"/>
            <a:ext cx="495657" cy="495657"/>
          </a:xfrm>
          <a:prstGeom prst="roundRect">
            <a:avLst>
              <a:gd name="adj" fmla="val 6667"/>
            </a:avLst>
          </a:prstGeom>
          <a:solidFill>
            <a:srgbClr val="F3EEE3"/>
          </a:solidFill>
          <a:ln/>
        </p:spPr>
      </p:sp>
      <p:sp>
        <p:nvSpPr>
          <p:cNvPr id="11" name="Text 9"/>
          <p:cNvSpPr/>
          <p:nvPr/>
        </p:nvSpPr>
        <p:spPr>
          <a:xfrm>
            <a:off x="5813524" y="4296489"/>
            <a:ext cx="330398" cy="413028"/>
          </a:xfrm>
          <a:prstGeom prst="rect">
            <a:avLst/>
          </a:prstGeom>
          <a:noFill/>
          <a:ln/>
        </p:spPr>
        <p:txBody>
          <a:bodyPr wrap="none" lIns="0" tIns="0" rIns="0" bIns="0" rtlCol="0" anchor="t"/>
          <a:lstStyle/>
          <a:p>
            <a:pPr algn="ctr" indent="0" marL="0">
              <a:lnSpc>
                <a:spcPts val="2600"/>
              </a:lnSpc>
              <a:buNone/>
            </a:pPr>
            <a:r>
              <a:rPr lang="en-US" sz="2600" dirty="0">
                <a:solidFill>
                  <a:srgbClr val="2B4150"/>
                </a:solidFill>
                <a:latin typeface="MuseoModerno Medium" pitchFamily="34" charset="0"/>
                <a:ea typeface="MuseoModerno Medium" pitchFamily="34" charset="-122"/>
                <a:cs typeface="MuseoModerno Medium" pitchFamily="34" charset="-120"/>
              </a:rPr>
              <a:t>2</a:t>
            </a:r>
            <a:endParaRPr lang="en-US" sz="2600" dirty="0"/>
          </a:p>
        </p:txBody>
      </p:sp>
      <p:sp>
        <p:nvSpPr>
          <p:cNvPr id="12" name="Text 10"/>
          <p:cNvSpPr/>
          <p:nvPr/>
        </p:nvSpPr>
        <p:spPr>
          <a:xfrm>
            <a:off x="3664029" y="5384244"/>
            <a:ext cx="4629626" cy="688419"/>
          </a:xfrm>
          <a:prstGeom prst="rect">
            <a:avLst/>
          </a:prstGeom>
          <a:noFill/>
          <a:ln/>
        </p:spPr>
        <p:txBody>
          <a:bodyPr wrap="square" lIns="0" tIns="0" rIns="0" bIns="0" rtlCol="0" anchor="t"/>
          <a:lstStyle/>
          <a:p>
            <a:pPr algn="ctr" indent="0" marL="0">
              <a:lnSpc>
                <a:spcPts val="2700"/>
              </a:lnSpc>
              <a:buNone/>
            </a:pPr>
            <a:r>
              <a:rPr lang="en-US" sz="2150" dirty="0">
                <a:solidFill>
                  <a:srgbClr val="2B4150"/>
                </a:solidFill>
                <a:latin typeface="MuseoModerno Medium" pitchFamily="34" charset="0"/>
                <a:ea typeface="MuseoModerno Medium" pitchFamily="34" charset="-122"/>
                <a:cs typeface="MuseoModerno Medium" pitchFamily="34" charset="-120"/>
              </a:rPr>
              <a:t>IEEE 802.16e-2005 (WiMAX Bergerak)</a:t>
            </a:r>
            <a:endParaRPr lang="en-US" sz="2150" dirty="0"/>
          </a:p>
        </p:txBody>
      </p:sp>
      <p:sp>
        <p:nvSpPr>
          <p:cNvPr id="13" name="Text 11"/>
          <p:cNvSpPr/>
          <p:nvPr/>
        </p:nvSpPr>
        <p:spPr>
          <a:xfrm>
            <a:off x="3664029" y="6204823"/>
            <a:ext cx="4629626" cy="1409700"/>
          </a:xfrm>
          <a:prstGeom prst="rect">
            <a:avLst/>
          </a:prstGeom>
          <a:noFill/>
          <a:ln/>
        </p:spPr>
        <p:txBody>
          <a:bodyPr wrap="square" lIns="0" tIns="0" rIns="0" bIns="0" rtlCol="0" anchor="t"/>
          <a:lstStyle/>
          <a:p>
            <a:pPr algn="ctr" indent="0" marL="0">
              <a:lnSpc>
                <a:spcPts val="2750"/>
              </a:lnSpc>
              <a:buNone/>
            </a:pPr>
            <a:r>
              <a:rPr lang="en-US" sz="1700" dirty="0">
                <a:solidFill>
                  <a:srgbClr val="2B4150"/>
                </a:solidFill>
                <a:latin typeface="Source Sans 3" pitchFamily="34" charset="0"/>
                <a:ea typeface="Source Sans 3" pitchFamily="34" charset="-122"/>
                <a:cs typeface="Source Sans 3" pitchFamily="34" charset="-120"/>
              </a:rPr>
              <a:t>Versi WiMAX ini lebih canggih, bisa dipakai sambil bergerak, misalnya di dalam mobil atau kereta. Internetnya tidak putus saat pindah-pindah tempat.</a:t>
            </a:r>
            <a:endParaRPr lang="en-US" sz="1700" dirty="0"/>
          </a:p>
        </p:txBody>
      </p:sp>
      <p:sp>
        <p:nvSpPr>
          <p:cNvPr id="14" name="Shape 12"/>
          <p:cNvSpPr/>
          <p:nvPr/>
        </p:nvSpPr>
        <p:spPr>
          <a:xfrm>
            <a:off x="8636198" y="3842325"/>
            <a:ext cx="30480" cy="660797"/>
          </a:xfrm>
          <a:prstGeom prst="roundRect">
            <a:avLst>
              <a:gd name="adj" fmla="val 108416"/>
            </a:avLst>
          </a:prstGeom>
          <a:solidFill>
            <a:srgbClr val="D9D4C9"/>
          </a:solidFill>
          <a:ln/>
        </p:spPr>
      </p:sp>
      <p:sp>
        <p:nvSpPr>
          <p:cNvPr id="15" name="Shape 13"/>
          <p:cNvSpPr/>
          <p:nvPr/>
        </p:nvSpPr>
        <p:spPr>
          <a:xfrm>
            <a:off x="8403669" y="4255234"/>
            <a:ext cx="495657" cy="495657"/>
          </a:xfrm>
          <a:prstGeom prst="roundRect">
            <a:avLst>
              <a:gd name="adj" fmla="val 6667"/>
            </a:avLst>
          </a:prstGeom>
          <a:solidFill>
            <a:srgbClr val="F3EEE3"/>
          </a:solidFill>
          <a:ln/>
        </p:spPr>
      </p:sp>
      <p:sp>
        <p:nvSpPr>
          <p:cNvPr id="16" name="Text 14"/>
          <p:cNvSpPr/>
          <p:nvPr/>
        </p:nvSpPr>
        <p:spPr>
          <a:xfrm>
            <a:off x="8486239" y="4296489"/>
            <a:ext cx="330398" cy="413028"/>
          </a:xfrm>
          <a:prstGeom prst="rect">
            <a:avLst/>
          </a:prstGeom>
          <a:noFill/>
          <a:ln/>
        </p:spPr>
        <p:txBody>
          <a:bodyPr wrap="none" lIns="0" tIns="0" rIns="0" bIns="0" rtlCol="0" anchor="t"/>
          <a:lstStyle/>
          <a:p>
            <a:pPr algn="ctr" indent="0" marL="0">
              <a:lnSpc>
                <a:spcPts val="2600"/>
              </a:lnSpc>
              <a:buNone/>
            </a:pPr>
            <a:r>
              <a:rPr lang="en-US" sz="2600" dirty="0">
                <a:solidFill>
                  <a:srgbClr val="2B4150"/>
                </a:solidFill>
                <a:latin typeface="MuseoModerno Medium" pitchFamily="34" charset="0"/>
                <a:ea typeface="MuseoModerno Medium" pitchFamily="34" charset="-122"/>
                <a:cs typeface="MuseoModerno Medium" pitchFamily="34" charset="-120"/>
              </a:rPr>
              <a:t>3</a:t>
            </a:r>
            <a:endParaRPr lang="en-US" sz="2600" dirty="0"/>
          </a:p>
        </p:txBody>
      </p:sp>
      <p:sp>
        <p:nvSpPr>
          <p:cNvPr id="17" name="Text 15"/>
          <p:cNvSpPr/>
          <p:nvPr/>
        </p:nvSpPr>
        <p:spPr>
          <a:xfrm>
            <a:off x="7092553" y="1735812"/>
            <a:ext cx="3118009" cy="344210"/>
          </a:xfrm>
          <a:prstGeom prst="rect">
            <a:avLst/>
          </a:prstGeom>
          <a:noFill/>
          <a:ln/>
        </p:spPr>
        <p:txBody>
          <a:bodyPr wrap="none" lIns="0" tIns="0" rIns="0" bIns="0" rtlCol="0" anchor="t"/>
          <a:lstStyle/>
          <a:p>
            <a:pPr algn="ctr" indent="0" marL="0">
              <a:lnSpc>
                <a:spcPts val="2700"/>
              </a:lnSpc>
              <a:buNone/>
            </a:pPr>
            <a:r>
              <a:rPr lang="en-US" sz="2150" dirty="0">
                <a:solidFill>
                  <a:srgbClr val="2B4150"/>
                </a:solidFill>
                <a:latin typeface="MuseoModerno Medium" pitchFamily="34" charset="0"/>
                <a:ea typeface="MuseoModerno Medium" pitchFamily="34" charset="-122"/>
                <a:cs typeface="MuseoModerno Medium" pitchFamily="34" charset="-120"/>
              </a:rPr>
              <a:t>Keamanan (AES &amp; EAP)</a:t>
            </a:r>
            <a:endParaRPr lang="en-US" sz="2150" dirty="0"/>
          </a:p>
        </p:txBody>
      </p:sp>
      <p:sp>
        <p:nvSpPr>
          <p:cNvPr id="18" name="Text 16"/>
          <p:cNvSpPr/>
          <p:nvPr/>
        </p:nvSpPr>
        <p:spPr>
          <a:xfrm>
            <a:off x="6336744" y="2212181"/>
            <a:ext cx="4629626" cy="1057275"/>
          </a:xfrm>
          <a:prstGeom prst="rect">
            <a:avLst/>
          </a:prstGeom>
          <a:noFill/>
          <a:ln/>
        </p:spPr>
        <p:txBody>
          <a:bodyPr wrap="square" lIns="0" tIns="0" rIns="0" bIns="0" rtlCol="0" anchor="t"/>
          <a:lstStyle/>
          <a:p>
            <a:pPr algn="ctr" indent="0" marL="0">
              <a:lnSpc>
                <a:spcPts val="2750"/>
              </a:lnSpc>
              <a:buNone/>
            </a:pPr>
            <a:r>
              <a:rPr lang="en-US" sz="1700" dirty="0">
                <a:solidFill>
                  <a:srgbClr val="2B4150"/>
                </a:solidFill>
                <a:latin typeface="Source Sans 3" pitchFamily="34" charset="0"/>
                <a:ea typeface="Source Sans 3" pitchFamily="34" charset="-122"/>
                <a:cs typeface="Source Sans 3" pitchFamily="34" charset="-120"/>
              </a:rPr>
              <a:t>WiMAX punya sistem keamanan canggih (pakai AES dan EAP) untuk menjaga data pribadi kita tetap aman dan tidak mudah dibajak.</a:t>
            </a:r>
            <a:endParaRPr lang="en-US" sz="1700" dirty="0"/>
          </a:p>
        </p:txBody>
      </p:sp>
      <p:sp>
        <p:nvSpPr>
          <p:cNvPr id="19" name="Shape 17"/>
          <p:cNvSpPr/>
          <p:nvPr/>
        </p:nvSpPr>
        <p:spPr>
          <a:xfrm>
            <a:off x="11308913" y="4503003"/>
            <a:ext cx="30480" cy="660797"/>
          </a:xfrm>
          <a:prstGeom prst="roundRect">
            <a:avLst>
              <a:gd name="adj" fmla="val 108416"/>
            </a:avLst>
          </a:prstGeom>
          <a:solidFill>
            <a:srgbClr val="D9D4C9"/>
          </a:solidFill>
          <a:ln/>
        </p:spPr>
      </p:sp>
      <p:sp>
        <p:nvSpPr>
          <p:cNvPr id="20" name="Shape 18"/>
          <p:cNvSpPr/>
          <p:nvPr/>
        </p:nvSpPr>
        <p:spPr>
          <a:xfrm>
            <a:off x="11076384" y="4255234"/>
            <a:ext cx="495657" cy="495657"/>
          </a:xfrm>
          <a:prstGeom prst="roundRect">
            <a:avLst>
              <a:gd name="adj" fmla="val 6667"/>
            </a:avLst>
          </a:prstGeom>
          <a:solidFill>
            <a:srgbClr val="F3EEE3"/>
          </a:solidFill>
          <a:ln/>
        </p:spPr>
      </p:sp>
      <p:sp>
        <p:nvSpPr>
          <p:cNvPr id="21" name="Text 19"/>
          <p:cNvSpPr/>
          <p:nvPr/>
        </p:nvSpPr>
        <p:spPr>
          <a:xfrm>
            <a:off x="11158954" y="4296489"/>
            <a:ext cx="330398" cy="413028"/>
          </a:xfrm>
          <a:prstGeom prst="rect">
            <a:avLst/>
          </a:prstGeom>
          <a:noFill/>
          <a:ln/>
        </p:spPr>
        <p:txBody>
          <a:bodyPr wrap="none" lIns="0" tIns="0" rIns="0" bIns="0" rtlCol="0" anchor="t"/>
          <a:lstStyle/>
          <a:p>
            <a:pPr algn="ctr" indent="0" marL="0">
              <a:lnSpc>
                <a:spcPts val="2600"/>
              </a:lnSpc>
              <a:buNone/>
            </a:pPr>
            <a:r>
              <a:rPr lang="en-US" sz="2600" dirty="0">
                <a:solidFill>
                  <a:srgbClr val="2B4150"/>
                </a:solidFill>
                <a:latin typeface="MuseoModerno Medium" pitchFamily="34" charset="0"/>
                <a:ea typeface="MuseoModerno Medium" pitchFamily="34" charset="-122"/>
                <a:cs typeface="MuseoModerno Medium" pitchFamily="34" charset="-120"/>
              </a:rPr>
              <a:t>4</a:t>
            </a:r>
            <a:endParaRPr lang="en-US" sz="2600" dirty="0"/>
          </a:p>
        </p:txBody>
      </p:sp>
      <p:sp>
        <p:nvSpPr>
          <p:cNvPr id="22" name="Text 20"/>
          <p:cNvSpPr/>
          <p:nvPr/>
        </p:nvSpPr>
        <p:spPr>
          <a:xfrm>
            <a:off x="9947434" y="5384244"/>
            <a:ext cx="2753678" cy="344210"/>
          </a:xfrm>
          <a:prstGeom prst="rect">
            <a:avLst/>
          </a:prstGeom>
          <a:noFill/>
          <a:ln/>
        </p:spPr>
        <p:txBody>
          <a:bodyPr wrap="none" lIns="0" tIns="0" rIns="0" bIns="0" rtlCol="0" anchor="t"/>
          <a:lstStyle/>
          <a:p>
            <a:pPr algn="ctr" indent="0" marL="0">
              <a:lnSpc>
                <a:spcPts val="2700"/>
              </a:lnSpc>
              <a:buNone/>
            </a:pPr>
            <a:r>
              <a:rPr lang="en-US" sz="2150" dirty="0">
                <a:solidFill>
                  <a:srgbClr val="2B4150"/>
                </a:solidFill>
                <a:latin typeface="MuseoModerno Medium" pitchFamily="34" charset="0"/>
                <a:ea typeface="MuseoModerno Medium" pitchFamily="34" charset="-122"/>
                <a:cs typeface="MuseoModerno Medium" pitchFamily="34" charset="-120"/>
              </a:rPr>
              <a:t>Paket Data Fleksibel</a:t>
            </a:r>
            <a:endParaRPr lang="en-US" sz="2150" dirty="0"/>
          </a:p>
        </p:txBody>
      </p:sp>
      <p:sp>
        <p:nvSpPr>
          <p:cNvPr id="23" name="Text 21"/>
          <p:cNvSpPr/>
          <p:nvPr/>
        </p:nvSpPr>
        <p:spPr>
          <a:xfrm>
            <a:off x="9009459" y="5860613"/>
            <a:ext cx="4629626" cy="1762125"/>
          </a:xfrm>
          <a:prstGeom prst="rect">
            <a:avLst/>
          </a:prstGeom>
          <a:noFill/>
          <a:ln/>
        </p:spPr>
        <p:txBody>
          <a:bodyPr wrap="square" lIns="0" tIns="0" rIns="0" bIns="0" rtlCol="0" anchor="t"/>
          <a:lstStyle/>
          <a:p>
            <a:pPr algn="ctr" indent="0" marL="0">
              <a:lnSpc>
                <a:spcPts val="2750"/>
              </a:lnSpc>
              <a:buNone/>
            </a:pPr>
            <a:r>
              <a:rPr lang="en-US" sz="1700" dirty="0">
                <a:solidFill>
                  <a:srgbClr val="2B4150"/>
                </a:solidFill>
                <a:latin typeface="Source Sans 3" pitchFamily="34" charset="0"/>
                <a:ea typeface="Source Sans 3" pitchFamily="34" charset="-122"/>
                <a:cs typeface="Source Sans 3" pitchFamily="34" charset="-120"/>
              </a:rPr>
              <a:t>WiMAX cerdas, bisa atur besar kecilnya data yang dikirim (dari 2,5 sampai 20 milidetik) secara otomatis. Ini supaya internet tetap stabil dan lancar terus, tidak peduli sinyalnya lagi bagaimana.</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864525"/>
            <a:ext cx="6925032"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Pengiriman Data WiMAX</a:t>
            </a:r>
            <a:endParaRPr lang="en-US" sz="4450" dirty="0"/>
          </a:p>
        </p:txBody>
      </p:sp>
      <p:sp>
        <p:nvSpPr>
          <p:cNvPr id="4" name="Text 1"/>
          <p:cNvSpPr/>
          <p:nvPr/>
        </p:nvSpPr>
        <p:spPr>
          <a:xfrm>
            <a:off x="793790" y="391346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WiMAX mengirim dan menerima data dengan cara khusus bernama </a:t>
            </a:r>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Time Division Duplex (TDD)</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Cara ini memungkinkan WiMAX untuk mengatur kapan dia mengirim data (upload) dan kapan menerima data (download) secara fleksibel. Jadi, internet bisa dipakai lebih efisien dan pas dengan kebutuhanmu.</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27234" y="904875"/>
            <a:ext cx="9829324" cy="649248"/>
          </a:xfrm>
          <a:prstGeom prst="rect">
            <a:avLst/>
          </a:prstGeom>
          <a:noFill/>
          <a:ln/>
        </p:spPr>
        <p:txBody>
          <a:bodyPr wrap="none" lIns="0" tIns="0" rIns="0" bIns="0" rtlCol="0" anchor="t"/>
          <a:lstStyle/>
          <a:p>
            <a:pPr algn="l" indent="0" marL="0">
              <a:lnSpc>
                <a:spcPts val="5100"/>
              </a:lnSpc>
              <a:buNone/>
            </a:pPr>
            <a:r>
              <a:rPr lang="en-US" sz="4050" dirty="0">
                <a:solidFill>
                  <a:srgbClr val="124E73"/>
                </a:solidFill>
                <a:latin typeface="MuseoModerno Medium" pitchFamily="34" charset="0"/>
                <a:ea typeface="MuseoModerno Medium" pitchFamily="34" charset="-122"/>
                <a:cs typeface="MuseoModerno Medium" pitchFamily="34" charset="-120"/>
              </a:rPr>
              <a:t>Memahami Time Division Duplex (TDD)</a:t>
            </a:r>
            <a:endParaRPr lang="en-US" sz="4050" dirty="0"/>
          </a:p>
        </p:txBody>
      </p:sp>
      <p:sp>
        <p:nvSpPr>
          <p:cNvPr id="3" name="Text 1"/>
          <p:cNvSpPr/>
          <p:nvPr/>
        </p:nvSpPr>
        <p:spPr>
          <a:xfrm>
            <a:off x="727234" y="1969651"/>
            <a:ext cx="13175933" cy="332423"/>
          </a:xfrm>
          <a:prstGeom prst="rect">
            <a:avLst/>
          </a:prstGeom>
          <a:noFill/>
          <a:ln/>
        </p:spPr>
        <p:txBody>
          <a:bodyPr wrap="none" lIns="0" tIns="0" rIns="0" bIns="0" rtlCol="0" anchor="t"/>
          <a:lstStyle/>
          <a:p>
            <a:pPr algn="l" indent="0" marL="0">
              <a:lnSpc>
                <a:spcPts val="2600"/>
              </a:lnSpc>
              <a:buNone/>
            </a:pPr>
            <a:r>
              <a:rPr lang="en-US" sz="1600" dirty="0">
                <a:solidFill>
                  <a:srgbClr val="2B4150"/>
                </a:solidFill>
                <a:latin typeface="Source Sans 3" pitchFamily="34" charset="0"/>
                <a:ea typeface="Source Sans 3" pitchFamily="34" charset="-122"/>
                <a:cs typeface="Source Sans 3" pitchFamily="34" charset="-120"/>
              </a:rPr>
              <a:t>Mari kita bahas lebih lanjut tentang TDD, cara cerdas WiMAX mengatur komunikasi data.</a:t>
            </a:r>
            <a:endParaRPr lang="en-US" sz="1600" dirty="0"/>
          </a:p>
        </p:txBody>
      </p:sp>
      <p:sp>
        <p:nvSpPr>
          <p:cNvPr id="4" name="Text 2"/>
          <p:cNvSpPr/>
          <p:nvPr/>
        </p:nvSpPr>
        <p:spPr>
          <a:xfrm>
            <a:off x="727234" y="2535793"/>
            <a:ext cx="13175933" cy="997268"/>
          </a:xfrm>
          <a:prstGeom prst="rect">
            <a:avLst/>
          </a:prstGeom>
          <a:noFill/>
          <a:ln/>
        </p:spPr>
        <p:txBody>
          <a:bodyPr wrap="square" lIns="0" tIns="0" rIns="0" bIns="0" rtlCol="0" anchor="t"/>
          <a:lstStyle/>
          <a:p>
            <a:pPr algn="l" indent="0" marL="0">
              <a:lnSpc>
                <a:spcPts val="2600"/>
              </a:lnSpc>
              <a:buNone/>
            </a:pPr>
            <a:r>
              <a:rPr lang="en-US" sz="1600" b="1" dirty="0">
                <a:solidFill>
                  <a:srgbClr val="2B4150"/>
                </a:solidFill>
                <a:latin typeface="Source Sans 3" pitchFamily="34" charset="0"/>
                <a:ea typeface="Source Sans 3" pitchFamily="34" charset="-122"/>
                <a:cs typeface="Source Sans 3" pitchFamily="34" charset="-120"/>
              </a:rPr>
              <a:t>Apa itu TDD?</a:t>
            </a:r>
            <a:pPr algn="l" indent="0" marL="0">
              <a:lnSpc>
                <a:spcPts val="2600"/>
              </a:lnSpc>
              <a:buNone/>
            </a:pPr>
            <a:r>
              <a:rPr lang="en-US" sz="1600" dirty="0">
                <a:solidFill>
                  <a:srgbClr val="2B4150"/>
                </a:solidFill>
                <a:latin typeface="Source Sans 3" pitchFamily="34" charset="0"/>
                <a:ea typeface="Source Sans 3" pitchFamily="34" charset="-122"/>
                <a:cs typeface="Source Sans 3" pitchFamily="34" charset="-120"/>
              </a:rPr>
              <a:t>TDD, atau Time Division Duplex, adalah metode di mana WiMAX menggunakan frekuensi radio yang sama untuk mengirim dan menerima data, tetapi dilakukan pada waktu yang berbeda. Ini seperti satu jalur jalan yang bisa digunakan untuk lalu lintas ke dua arah, namun tidak secara bersamaan.</a:t>
            </a:r>
            <a:endParaRPr lang="en-US" sz="1600" dirty="0"/>
          </a:p>
        </p:txBody>
      </p:sp>
      <p:sp>
        <p:nvSpPr>
          <p:cNvPr id="5" name="Text 3"/>
          <p:cNvSpPr/>
          <p:nvPr/>
        </p:nvSpPr>
        <p:spPr>
          <a:xfrm>
            <a:off x="727234" y="3766780"/>
            <a:ext cx="13175933" cy="1662113"/>
          </a:xfrm>
          <a:prstGeom prst="rect">
            <a:avLst/>
          </a:prstGeom>
          <a:noFill/>
          <a:ln/>
        </p:spPr>
        <p:txBody>
          <a:bodyPr wrap="square" lIns="0" tIns="0" rIns="0" bIns="0" rtlCol="0" anchor="t"/>
          <a:lstStyle/>
          <a:p>
            <a:pPr algn="l" indent="0" marL="0">
              <a:lnSpc>
                <a:spcPts val="2600"/>
              </a:lnSpc>
              <a:buNone/>
            </a:pPr>
            <a:r>
              <a:rPr lang="en-US" sz="1600" b="1" dirty="0">
                <a:solidFill>
                  <a:srgbClr val="2B4150"/>
                </a:solidFill>
                <a:latin typeface="Source Sans 3" pitchFamily="34" charset="0"/>
                <a:ea typeface="Source Sans 3" pitchFamily="34" charset="-122"/>
                <a:cs typeface="Source Sans 3" pitchFamily="34" charset="-120"/>
              </a:rPr>
              <a:t>Bagaimana Cara Kerjanya?</a:t>
            </a:r>
            <a:pPr algn="l" indent="0" marL="0">
              <a:lnSpc>
                <a:spcPts val="2600"/>
              </a:lnSpc>
              <a:buNone/>
            </a:pPr>
            <a:r>
              <a:rPr lang="en-US" sz="1600" dirty="0">
                <a:solidFill>
                  <a:srgbClr val="2B4150"/>
                </a:solidFill>
                <a:latin typeface="Source Sans 3" pitchFamily="34" charset="0"/>
                <a:ea typeface="Source Sans 3" pitchFamily="34" charset="-122"/>
                <a:cs typeface="Source Sans 3" pitchFamily="34" charset="-120"/>
              </a:rPr>
              <a:t>Bayangkan kamu sedang berkomunikasi dengan walkie-talkie. Kamu harus menekan tombol untuk bicara (mengirim), lalu melepaskan tombol itu untuk mendengarkan (menerima). Kamu tidak bisa bicara dan mendengarkan pada saat yang sama, kan? Nah, TDD bekerja mirip seperti itu. WiMAX membagi waktu menjadi "slot" kecil. Di satu slot waktu, data dikirim (upload). Di slot waktu berikutnya, data diterima (download). Proses pergantian ini terjadi sangat cepat, sehingga kamu tidak menyadarinya dan terasa seperti semua berjalan bersamaan!</a:t>
            </a:r>
            <a:endParaRPr lang="en-US" sz="1600" dirty="0"/>
          </a:p>
        </p:txBody>
      </p:sp>
      <p:sp>
        <p:nvSpPr>
          <p:cNvPr id="6" name="Text 4"/>
          <p:cNvSpPr/>
          <p:nvPr/>
        </p:nvSpPr>
        <p:spPr>
          <a:xfrm>
            <a:off x="727234" y="5662613"/>
            <a:ext cx="13175933" cy="1662113"/>
          </a:xfrm>
          <a:prstGeom prst="rect">
            <a:avLst/>
          </a:prstGeom>
          <a:noFill/>
          <a:ln/>
        </p:spPr>
        <p:txBody>
          <a:bodyPr wrap="square" lIns="0" tIns="0" rIns="0" bIns="0" rtlCol="0" anchor="t"/>
          <a:lstStyle/>
          <a:p>
            <a:pPr algn="l" indent="0" marL="0">
              <a:lnSpc>
                <a:spcPts val="2600"/>
              </a:lnSpc>
              <a:buNone/>
            </a:pPr>
            <a:r>
              <a:rPr lang="en-US" sz="1600" b="1" dirty="0">
                <a:solidFill>
                  <a:srgbClr val="2B4150"/>
                </a:solidFill>
                <a:latin typeface="Source Sans 3" pitchFamily="34" charset="0"/>
                <a:ea typeface="Source Sans 3" pitchFamily="34" charset="-122"/>
                <a:cs typeface="Source Sans 3" pitchFamily="34" charset="-120"/>
              </a:rPr>
              <a:t>Mengapa TDD Penting untuk WiMAX?</a:t>
            </a:r>
            <a:pPr algn="l" indent="0" marL="0">
              <a:lnSpc>
                <a:spcPts val="2600"/>
              </a:lnSpc>
              <a:buNone/>
            </a:pPr>
            <a:r>
              <a:rPr lang="en-US" sz="1600" dirty="0">
                <a:solidFill>
                  <a:srgbClr val="2B4150"/>
                </a:solidFill>
                <a:latin typeface="Source Sans 3" pitchFamily="34" charset="0"/>
                <a:ea typeface="Source Sans 3" pitchFamily="34" charset="-122"/>
                <a:cs typeface="Source Sans 3" pitchFamily="34" charset="-120"/>
              </a:rPr>
              <a:t>TDD memberikan fleksibilitas luar biasa. Jika kamu sedang melakukan video call atau mengunggah banyak foto, WiMAX bisa mengalokasikan lebih banyak waktu untuk pengiriman data (upload). Sebaliknya, jika kamu sedang menonton video atau menjelajah internet (lebih banyak download), WiMAX bisa memberikan lebih banyak waktu untuk penerimaan data. Fleksibilitas ini memastikan internetmu selalu efisien dan sesuai dengan aktivitas yang sedang kamu lakukan, memaksimalkan pengalaman penggunaanmu.</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27817" y="493395"/>
            <a:ext cx="5660588" cy="560546"/>
          </a:xfrm>
          <a:prstGeom prst="rect">
            <a:avLst/>
          </a:prstGeom>
          <a:noFill/>
          <a:ln/>
        </p:spPr>
        <p:txBody>
          <a:bodyPr wrap="none" lIns="0" tIns="0" rIns="0" bIns="0" rtlCol="0" anchor="t"/>
          <a:lstStyle/>
          <a:p>
            <a:pPr algn="l" indent="0" marL="0">
              <a:lnSpc>
                <a:spcPts val="4400"/>
              </a:lnSpc>
              <a:buNone/>
            </a:pPr>
            <a:r>
              <a:rPr lang="en-US" sz="3500" dirty="0">
                <a:solidFill>
                  <a:srgbClr val="124E73"/>
                </a:solidFill>
                <a:latin typeface="MuseoModerno Medium" pitchFamily="34" charset="0"/>
                <a:ea typeface="MuseoModerno Medium" pitchFamily="34" charset="-122"/>
                <a:cs typeface="MuseoModerno Medium" pitchFamily="34" charset="-120"/>
              </a:rPr>
              <a:t>Perbandingan FDD vs TDD</a:t>
            </a:r>
            <a:endParaRPr lang="en-US" sz="3500" dirty="0"/>
          </a:p>
        </p:txBody>
      </p:sp>
      <p:pic>
        <p:nvPicPr>
          <p:cNvPr id="3" name="Image 0" descr="preencoded.png">    </p:cNvPr>
          <p:cNvPicPr>
            <a:picLocks noChangeAspect="1"/>
          </p:cNvPicPr>
          <p:nvPr/>
        </p:nvPicPr>
        <p:blipFill>
          <a:blip r:embed="rId1"/>
          <a:stretch>
            <a:fillRect/>
          </a:stretch>
        </p:blipFill>
        <p:spPr>
          <a:xfrm>
            <a:off x="3308866" y="1412677"/>
            <a:ext cx="8012549" cy="4506992"/>
          </a:xfrm>
          <a:prstGeom prst="rect">
            <a:avLst/>
          </a:prstGeom>
        </p:spPr>
      </p:pic>
      <p:sp>
        <p:nvSpPr>
          <p:cNvPr id="4" name="Text 1"/>
          <p:cNvSpPr/>
          <p:nvPr/>
        </p:nvSpPr>
        <p:spPr>
          <a:xfrm>
            <a:off x="627817" y="6121479"/>
            <a:ext cx="13374767" cy="287060"/>
          </a:xfrm>
          <a:prstGeom prst="rect">
            <a:avLst/>
          </a:prstGeom>
          <a:noFill/>
          <a:ln/>
        </p:spPr>
        <p:txBody>
          <a:bodyPr wrap="none" lIns="0" tIns="0" rIns="0" bIns="0" rtlCol="0" anchor="t"/>
          <a:lstStyle/>
          <a:p>
            <a:pPr algn="l" indent="0" marL="0">
              <a:lnSpc>
                <a:spcPts val="2250"/>
              </a:lnSpc>
              <a:buNone/>
            </a:pPr>
            <a:r>
              <a:rPr lang="en-US" sz="1400" dirty="0">
                <a:solidFill>
                  <a:srgbClr val="2B4150"/>
                </a:solidFill>
                <a:latin typeface="Source Sans 3" pitchFamily="34" charset="0"/>
                <a:ea typeface="Source Sans 3" pitchFamily="34" charset="-122"/>
                <a:cs typeface="Source Sans 3" pitchFamily="34" charset="-120"/>
              </a:rPr>
              <a:t>Bayangkan sebuah </a:t>
            </a:r>
            <a:pPr algn="l" indent="0" marL="0">
              <a:lnSpc>
                <a:spcPts val="2250"/>
              </a:lnSpc>
              <a:buNone/>
            </a:pPr>
            <a:r>
              <a:rPr lang="en-US" sz="1400" b="1" dirty="0">
                <a:solidFill>
                  <a:srgbClr val="2B4150"/>
                </a:solidFill>
                <a:latin typeface="Source Sans 3" pitchFamily="34" charset="0"/>
                <a:ea typeface="Source Sans 3" pitchFamily="34" charset="-122"/>
                <a:cs typeface="Source Sans 3" pitchFamily="34" charset="-120"/>
              </a:rPr>
              <a:t>jalan satu jalur</a:t>
            </a:r>
            <a:pPr algn="l" indent="0" marL="0">
              <a:lnSpc>
                <a:spcPts val="2250"/>
              </a:lnSpc>
              <a:buNone/>
            </a:pPr>
            <a:r>
              <a:rPr lang="en-US" sz="1400" dirty="0">
                <a:solidFill>
                  <a:srgbClr val="2B4150"/>
                </a:solidFill>
                <a:latin typeface="Source Sans 3" pitchFamily="34" charset="0"/>
                <a:ea typeface="Source Sans 3" pitchFamily="34" charset="-122"/>
                <a:cs typeface="Source Sans 3" pitchFamily="34" charset="-120"/>
              </a:rPr>
              <a:t>:</a:t>
            </a:r>
            <a:endParaRPr lang="en-US" sz="1400" dirty="0"/>
          </a:p>
        </p:txBody>
      </p:sp>
      <p:sp>
        <p:nvSpPr>
          <p:cNvPr id="5" name="Text 2"/>
          <p:cNvSpPr/>
          <p:nvPr/>
        </p:nvSpPr>
        <p:spPr>
          <a:xfrm>
            <a:off x="627817" y="6610350"/>
            <a:ext cx="13374767" cy="287060"/>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2B4150"/>
                </a:solidFill>
                <a:latin typeface="Source Sans 3" pitchFamily="34" charset="0"/>
                <a:ea typeface="Source Sans 3" pitchFamily="34" charset="-122"/>
                <a:cs typeface="Source Sans 3" pitchFamily="34" charset="-120"/>
              </a:rPr>
              <a:t>TDD:</a:t>
            </a:r>
            <a:pPr algn="l" indent="0" marL="0">
              <a:lnSpc>
                <a:spcPts val="2250"/>
              </a:lnSpc>
              <a:buNone/>
            </a:pPr>
            <a:r>
              <a:rPr lang="en-US" sz="1400" dirty="0">
                <a:solidFill>
                  <a:srgbClr val="2B4150"/>
                </a:solidFill>
                <a:latin typeface="Source Sans 3" pitchFamily="34" charset="0"/>
                <a:ea typeface="Source Sans 3" pitchFamily="34" charset="-122"/>
                <a:cs typeface="Source Sans 3" pitchFamily="34" charset="-120"/>
              </a:rPr>
              <a:t> mobil arah A dan arah B pakai jalur </a:t>
            </a:r>
            <a:pPr algn="l" indent="0" marL="0">
              <a:lnSpc>
                <a:spcPts val="2250"/>
              </a:lnSpc>
              <a:buNone/>
            </a:pPr>
            <a:r>
              <a:rPr lang="en-US" sz="1400" b="1" dirty="0">
                <a:solidFill>
                  <a:srgbClr val="2B4150"/>
                </a:solidFill>
                <a:latin typeface="Source Sans 3" pitchFamily="34" charset="0"/>
                <a:ea typeface="Source Sans 3" pitchFamily="34" charset="-122"/>
                <a:cs typeface="Source Sans 3" pitchFamily="34" charset="-120"/>
              </a:rPr>
              <a:t>bergantian</a:t>
            </a:r>
            <a:pPr algn="l" indent="0" marL="0">
              <a:lnSpc>
                <a:spcPts val="2250"/>
              </a:lnSpc>
              <a:buNone/>
            </a:pPr>
            <a:r>
              <a:rPr lang="en-US" sz="1400" dirty="0">
                <a:solidFill>
                  <a:srgbClr val="2B4150"/>
                </a:solidFill>
                <a:latin typeface="Source Sans 3" pitchFamily="34" charset="0"/>
                <a:ea typeface="Source Sans 3" pitchFamily="34" charset="-122"/>
                <a:cs typeface="Source Sans 3" pitchFamily="34" charset="-120"/>
              </a:rPr>
              <a:t> → pagi untuk arah A, sore untuk arah B.</a:t>
            </a:r>
            <a:endParaRPr lang="en-US" sz="1400" dirty="0"/>
          </a:p>
        </p:txBody>
      </p:sp>
      <p:sp>
        <p:nvSpPr>
          <p:cNvPr id="6" name="Text 3"/>
          <p:cNvSpPr/>
          <p:nvPr/>
        </p:nvSpPr>
        <p:spPr>
          <a:xfrm>
            <a:off x="627817" y="6960156"/>
            <a:ext cx="13374767" cy="287060"/>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2B4150"/>
                </a:solidFill>
                <a:latin typeface="Source Sans 3" pitchFamily="34" charset="0"/>
                <a:ea typeface="Source Sans 3" pitchFamily="34" charset="-122"/>
                <a:cs typeface="Source Sans 3" pitchFamily="34" charset="-120"/>
              </a:rPr>
              <a:t>FDD:</a:t>
            </a:r>
            <a:pPr algn="l" indent="0" marL="0">
              <a:lnSpc>
                <a:spcPts val="2250"/>
              </a:lnSpc>
              <a:buNone/>
            </a:pPr>
            <a:r>
              <a:rPr lang="en-US" sz="1400" dirty="0">
                <a:solidFill>
                  <a:srgbClr val="2B4150"/>
                </a:solidFill>
                <a:latin typeface="Source Sans 3" pitchFamily="34" charset="0"/>
                <a:ea typeface="Source Sans 3" pitchFamily="34" charset="-122"/>
                <a:cs typeface="Source Sans 3" pitchFamily="34" charset="-120"/>
              </a:rPr>
              <a:t> ada </a:t>
            </a:r>
            <a:pPr algn="l" indent="0" marL="0">
              <a:lnSpc>
                <a:spcPts val="2250"/>
              </a:lnSpc>
              <a:buNone/>
            </a:pPr>
            <a:r>
              <a:rPr lang="en-US" sz="1400" b="1" dirty="0">
                <a:solidFill>
                  <a:srgbClr val="2B4150"/>
                </a:solidFill>
                <a:latin typeface="Source Sans 3" pitchFamily="34" charset="0"/>
                <a:ea typeface="Source Sans 3" pitchFamily="34" charset="-122"/>
                <a:cs typeface="Source Sans 3" pitchFamily="34" charset="-120"/>
              </a:rPr>
              <a:t>dua jalur terpisah</a:t>
            </a:r>
            <a:pPr algn="l" indent="0" marL="0">
              <a:lnSpc>
                <a:spcPts val="2250"/>
              </a:lnSpc>
              <a:buNone/>
            </a:pPr>
            <a:r>
              <a:rPr lang="en-US" sz="1400" dirty="0">
                <a:solidFill>
                  <a:srgbClr val="2B4150"/>
                </a:solidFill>
                <a:latin typeface="Source Sans 3" pitchFamily="34" charset="0"/>
                <a:ea typeface="Source Sans 3" pitchFamily="34" charset="-122"/>
                <a:cs typeface="Source Sans 3" pitchFamily="34" charset="-120"/>
              </a:rPr>
              <a:t> → satu untuk arah A, satu untuk arah B.</a:t>
            </a:r>
            <a:endParaRPr lang="en-US" sz="1400" dirty="0"/>
          </a:p>
        </p:txBody>
      </p:sp>
      <p:sp>
        <p:nvSpPr>
          <p:cNvPr id="7" name="Text 4"/>
          <p:cNvSpPr/>
          <p:nvPr/>
        </p:nvSpPr>
        <p:spPr>
          <a:xfrm>
            <a:off x="627817" y="7449026"/>
            <a:ext cx="13374767" cy="287060"/>
          </a:xfrm>
          <a:prstGeom prst="rect">
            <a:avLst/>
          </a:prstGeom>
          <a:noFill/>
          <a:ln/>
        </p:spPr>
        <p:txBody>
          <a:bodyPr wrap="none" lIns="0" tIns="0" rIns="0" bIns="0" rtlCol="0" anchor="t"/>
          <a:lstStyle/>
          <a:p>
            <a:pPr algn="l" indent="0" marL="0">
              <a:lnSpc>
                <a:spcPts val="2250"/>
              </a:lnSpc>
              <a:buNone/>
            </a:pPr>
            <a:r>
              <a:rPr lang="en-US" sz="1400" dirty="0">
                <a:solidFill>
                  <a:srgbClr val="2B4150"/>
                </a:solidFill>
                <a:latin typeface="Source Sans 3" pitchFamily="34" charset="0"/>
                <a:ea typeface="Source Sans 3" pitchFamily="34" charset="-122"/>
                <a:cs typeface="Source Sans 3" pitchFamily="34" charset="-120"/>
              </a:rPr>
              <a:t>TDD hemat jalan (spektrum), tapi harus </a:t>
            </a:r>
            <a:pPr algn="l" indent="0" marL="0">
              <a:lnSpc>
                <a:spcPts val="2250"/>
              </a:lnSpc>
              <a:buNone/>
            </a:pPr>
            <a:r>
              <a:rPr lang="en-US" sz="1400" b="1" dirty="0">
                <a:solidFill>
                  <a:srgbClr val="2B4150"/>
                </a:solidFill>
                <a:latin typeface="Source Sans 3" pitchFamily="34" charset="0"/>
                <a:ea typeface="Source Sans 3" pitchFamily="34" charset="-122"/>
                <a:cs typeface="Source Sans 3" pitchFamily="34" charset="-120"/>
              </a:rPr>
              <a:t>atur waktu dengan ketat</a:t>
            </a:r>
            <a:pPr algn="l" indent="0" marL="0">
              <a:lnSpc>
                <a:spcPts val="2250"/>
              </a:lnSpc>
              <a:buNone/>
            </a:pPr>
            <a:r>
              <a:rPr lang="en-US" sz="1400" dirty="0">
                <a:solidFill>
                  <a:srgbClr val="2B4150"/>
                </a:solidFill>
                <a:latin typeface="Source Sans 3" pitchFamily="34" charset="0"/>
                <a:ea typeface="Source Sans 3" pitchFamily="34" charset="-122"/>
                <a:cs typeface="Source Sans 3" pitchFamily="34" charset="-120"/>
              </a:rPr>
              <a: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024533"/>
            <a:ext cx="7375803"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Sistem Keamanan WiMAX</a:t>
            </a:r>
            <a:endParaRPr lang="en-US" sz="4450" dirty="0"/>
          </a:p>
        </p:txBody>
      </p:sp>
      <p:sp>
        <p:nvSpPr>
          <p:cNvPr id="3" name="Shape 1"/>
          <p:cNvSpPr/>
          <p:nvPr/>
        </p:nvSpPr>
        <p:spPr>
          <a:xfrm>
            <a:off x="793790" y="2186940"/>
            <a:ext cx="6407944" cy="2214205"/>
          </a:xfrm>
          <a:prstGeom prst="roundRect">
            <a:avLst>
              <a:gd name="adj" fmla="val 1537"/>
            </a:avLst>
          </a:prstGeom>
          <a:solidFill>
            <a:srgbClr val="F3EEE3"/>
          </a:solidFill>
          <a:ln/>
        </p:spPr>
      </p:sp>
      <p:sp>
        <p:nvSpPr>
          <p:cNvPr id="4" name="Shape 2"/>
          <p:cNvSpPr/>
          <p:nvPr/>
        </p:nvSpPr>
        <p:spPr>
          <a:xfrm>
            <a:off x="1020604" y="2413754"/>
            <a:ext cx="680442" cy="680442"/>
          </a:xfrm>
          <a:prstGeom prst="roundRect">
            <a:avLst>
              <a:gd name="adj" fmla="val 13436980"/>
            </a:avLst>
          </a:prstGeom>
          <a:solidFill>
            <a:srgbClr val="325F7B"/>
          </a:solidFill>
          <a:ln/>
        </p:spPr>
      </p:sp>
      <p:sp>
        <p:nvSpPr>
          <p:cNvPr id="5" name="Text 3"/>
          <p:cNvSpPr/>
          <p:nvPr/>
        </p:nvSpPr>
        <p:spPr>
          <a:xfrm>
            <a:off x="1020604" y="332101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Data Rahasia</a:t>
            </a:r>
            <a:endParaRPr lang="en-US" sz="2200" dirty="0"/>
          </a:p>
        </p:txBody>
      </p:sp>
      <p:sp>
        <p:nvSpPr>
          <p:cNvPr id="6" name="Text 4"/>
          <p:cNvSpPr/>
          <p:nvPr/>
        </p:nvSpPr>
        <p:spPr>
          <a:xfrm>
            <a:off x="1020604" y="3811429"/>
            <a:ext cx="5954316"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Menjaga data tetap rahasia agar tidak bisa dicuri orang lain.</a:t>
            </a:r>
            <a:endParaRPr lang="en-US" sz="1750" dirty="0"/>
          </a:p>
        </p:txBody>
      </p:sp>
      <p:sp>
        <p:nvSpPr>
          <p:cNvPr id="7" name="Shape 5"/>
          <p:cNvSpPr/>
          <p:nvPr/>
        </p:nvSpPr>
        <p:spPr>
          <a:xfrm>
            <a:off x="7428548" y="2186940"/>
            <a:ext cx="6408063" cy="2214205"/>
          </a:xfrm>
          <a:prstGeom prst="roundRect">
            <a:avLst>
              <a:gd name="adj" fmla="val 1537"/>
            </a:avLst>
          </a:prstGeom>
          <a:solidFill>
            <a:srgbClr val="F3EEE3"/>
          </a:solidFill>
          <a:ln/>
        </p:spPr>
      </p:sp>
      <p:sp>
        <p:nvSpPr>
          <p:cNvPr id="8" name="Shape 6"/>
          <p:cNvSpPr/>
          <p:nvPr/>
        </p:nvSpPr>
        <p:spPr>
          <a:xfrm>
            <a:off x="7655362" y="2413754"/>
            <a:ext cx="680442" cy="680442"/>
          </a:xfrm>
          <a:prstGeom prst="roundRect">
            <a:avLst>
              <a:gd name="adj" fmla="val 13436980"/>
            </a:avLst>
          </a:prstGeom>
          <a:solidFill>
            <a:srgbClr val="325F7B"/>
          </a:solidFill>
          <a:ln/>
        </p:spPr>
      </p:sp>
      <p:sp>
        <p:nvSpPr>
          <p:cNvPr id="9" name="Text 7"/>
          <p:cNvSpPr/>
          <p:nvPr/>
        </p:nvSpPr>
        <p:spPr>
          <a:xfrm>
            <a:off x="7655362" y="3321010"/>
            <a:ext cx="3055620"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Hanya yang Diizinkan</a:t>
            </a:r>
            <a:endParaRPr lang="en-US" sz="2200" dirty="0"/>
          </a:p>
        </p:txBody>
      </p:sp>
      <p:sp>
        <p:nvSpPr>
          <p:cNvPr id="10" name="Text 8"/>
          <p:cNvSpPr/>
          <p:nvPr/>
        </p:nvSpPr>
        <p:spPr>
          <a:xfrm>
            <a:off x="7655362" y="3811429"/>
            <a:ext cx="5954435"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Cuma orang yang diizinkan yang bisa mengakses layanan ini.</a:t>
            </a:r>
            <a:endParaRPr lang="en-US" sz="1750" dirty="0"/>
          </a:p>
        </p:txBody>
      </p:sp>
      <p:sp>
        <p:nvSpPr>
          <p:cNvPr id="11" name="Shape 9"/>
          <p:cNvSpPr/>
          <p:nvPr/>
        </p:nvSpPr>
        <p:spPr>
          <a:xfrm>
            <a:off x="793790" y="4627959"/>
            <a:ext cx="6407944" cy="2577108"/>
          </a:xfrm>
          <a:prstGeom prst="roundRect">
            <a:avLst>
              <a:gd name="adj" fmla="val 1320"/>
            </a:avLst>
          </a:prstGeom>
          <a:solidFill>
            <a:srgbClr val="F3EEE3"/>
          </a:solidFill>
          <a:ln/>
        </p:spPr>
      </p:sp>
      <p:sp>
        <p:nvSpPr>
          <p:cNvPr id="12" name="Shape 10"/>
          <p:cNvSpPr/>
          <p:nvPr/>
        </p:nvSpPr>
        <p:spPr>
          <a:xfrm>
            <a:off x="1020604" y="4854773"/>
            <a:ext cx="680442" cy="680442"/>
          </a:xfrm>
          <a:prstGeom prst="roundRect">
            <a:avLst>
              <a:gd name="adj" fmla="val 13436980"/>
            </a:avLst>
          </a:prstGeom>
          <a:solidFill>
            <a:srgbClr val="325F7B"/>
          </a:solidFill>
          <a:ln/>
        </p:spPr>
      </p:sp>
      <p:sp>
        <p:nvSpPr>
          <p:cNvPr id="13" name="Text 11"/>
          <p:cNvSpPr/>
          <p:nvPr/>
        </p:nvSpPr>
        <p:spPr>
          <a:xfrm>
            <a:off x="1020604" y="5762030"/>
            <a:ext cx="3003233"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Aman dari Gangguan</a:t>
            </a:r>
            <a:endParaRPr lang="en-US" sz="2200" dirty="0"/>
          </a:p>
        </p:txBody>
      </p:sp>
      <p:sp>
        <p:nvSpPr>
          <p:cNvPr id="14" name="Text 12"/>
          <p:cNvSpPr/>
          <p:nvPr/>
        </p:nvSpPr>
        <p:spPr>
          <a:xfrm>
            <a:off x="1020604" y="6252448"/>
            <a:ext cx="5954316"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Mencegah pihak yang tidak berkepentingan masuk atau merusak sistem.</a:t>
            </a:r>
            <a:endParaRPr lang="en-US" sz="1750" dirty="0"/>
          </a:p>
        </p:txBody>
      </p:sp>
      <p:sp>
        <p:nvSpPr>
          <p:cNvPr id="15" name="Shape 13"/>
          <p:cNvSpPr/>
          <p:nvPr/>
        </p:nvSpPr>
        <p:spPr>
          <a:xfrm>
            <a:off x="7428548" y="4627959"/>
            <a:ext cx="6408063" cy="2577108"/>
          </a:xfrm>
          <a:prstGeom prst="roundRect">
            <a:avLst>
              <a:gd name="adj" fmla="val 1320"/>
            </a:avLst>
          </a:prstGeom>
          <a:solidFill>
            <a:srgbClr val="F3EEE3"/>
          </a:solidFill>
          <a:ln/>
        </p:spPr>
      </p:sp>
      <p:sp>
        <p:nvSpPr>
          <p:cNvPr id="16" name="Shape 14"/>
          <p:cNvSpPr/>
          <p:nvPr/>
        </p:nvSpPr>
        <p:spPr>
          <a:xfrm>
            <a:off x="7655362" y="4854773"/>
            <a:ext cx="680442" cy="680442"/>
          </a:xfrm>
          <a:prstGeom prst="roundRect">
            <a:avLst>
              <a:gd name="adj" fmla="val 13436980"/>
            </a:avLst>
          </a:prstGeom>
          <a:solidFill>
            <a:srgbClr val="325F7B"/>
          </a:solidFill>
          <a:ln/>
        </p:spPr>
      </p:sp>
      <p:pic>
        <p:nvPicPr>
          <p:cNvPr id="17" name="Image 0" descr="preencoded.png">    </p:cNvPr>
          <p:cNvPicPr>
            <a:picLocks noChangeAspect="1"/>
          </p:cNvPicPr>
          <p:nvPr/>
        </p:nvPicPr>
        <p:blipFill>
          <a:blip r:embed="rId1"/>
          <a:stretch>
            <a:fillRect/>
          </a:stretch>
        </p:blipFill>
        <p:spPr>
          <a:xfrm>
            <a:off x="7842528" y="5003602"/>
            <a:ext cx="306110" cy="382667"/>
          </a:xfrm>
          <a:prstGeom prst="rect">
            <a:avLst/>
          </a:prstGeom>
        </p:spPr>
      </p:pic>
      <p:sp>
        <p:nvSpPr>
          <p:cNvPr id="18" name="Text 15"/>
          <p:cNvSpPr/>
          <p:nvPr/>
        </p:nvSpPr>
        <p:spPr>
          <a:xfrm>
            <a:off x="7655362" y="576203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Terus Diperbarui</a:t>
            </a:r>
            <a:endParaRPr lang="en-US" sz="2200" dirty="0"/>
          </a:p>
        </p:txBody>
      </p:sp>
      <p:sp>
        <p:nvSpPr>
          <p:cNvPr id="19" name="Text 16"/>
          <p:cNvSpPr/>
          <p:nvPr/>
        </p:nvSpPr>
        <p:spPr>
          <a:xfrm>
            <a:off x="7655362" y="6252448"/>
            <a:ext cx="5954435"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Selalu diperbarui agar aman dari bahaya di internet.</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728543"/>
            <a:ext cx="1221105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WiMAX di Indonesia: Internet untuk Semua</a:t>
            </a:r>
            <a:endParaRPr lang="en-US" sz="4450" dirty="0"/>
          </a:p>
        </p:txBody>
      </p:sp>
      <p:sp>
        <p:nvSpPr>
          <p:cNvPr id="3" name="Text 1"/>
          <p:cNvSpPr/>
          <p:nvPr/>
        </p:nvSpPr>
        <p:spPr>
          <a:xfrm>
            <a:off x="793790" y="2004298"/>
            <a:ext cx="3526631" cy="354330"/>
          </a:xfrm>
          <a:prstGeom prst="rect">
            <a:avLst/>
          </a:prstGeom>
          <a:noFill/>
          <a:ln/>
        </p:spPr>
        <p:txBody>
          <a:bodyPr wrap="non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Manfaat Penting WiMAX</a:t>
            </a:r>
            <a:endParaRPr lang="en-US" sz="2200" dirty="0"/>
          </a:p>
        </p:txBody>
      </p:sp>
      <p:sp>
        <p:nvSpPr>
          <p:cNvPr id="4" name="Text 2"/>
          <p:cNvSpPr/>
          <p:nvPr/>
        </p:nvSpPr>
        <p:spPr>
          <a:xfrm>
            <a:off x="793790" y="2585442"/>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Internet cepat untuk desa dan pulau terpencil</a:t>
            </a:r>
            <a:endParaRPr lang="en-US" sz="1750" dirty="0"/>
          </a:p>
        </p:txBody>
      </p:sp>
      <p:sp>
        <p:nvSpPr>
          <p:cNvPr id="5" name="Text 3"/>
          <p:cNvSpPr/>
          <p:nvPr/>
        </p:nvSpPr>
        <p:spPr>
          <a:xfrm>
            <a:off x="793790" y="3027640"/>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Menghubungkan lebih banyak orang ke internet</a:t>
            </a:r>
            <a:endParaRPr lang="en-US" sz="1750" dirty="0"/>
          </a:p>
        </p:txBody>
      </p:sp>
      <p:sp>
        <p:nvSpPr>
          <p:cNvPr id="6" name="Text 4"/>
          <p:cNvSpPr/>
          <p:nvPr/>
        </p:nvSpPr>
        <p:spPr>
          <a:xfrm>
            <a:off x="793790" y="3469838"/>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Lebih murah daripada pasang kabel fiber optik</a:t>
            </a:r>
            <a:endParaRPr lang="en-US" sz="1750" dirty="0"/>
          </a:p>
        </p:txBody>
      </p:sp>
      <p:sp>
        <p:nvSpPr>
          <p:cNvPr id="7" name="Text 5"/>
          <p:cNvSpPr/>
          <p:nvPr/>
        </p:nvSpPr>
        <p:spPr>
          <a:xfrm>
            <a:off x="793790" y="3912037"/>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4150"/>
                </a:solidFill>
                <a:latin typeface="Source Sans 3" pitchFamily="34" charset="0"/>
                <a:ea typeface="Source Sans 3" pitchFamily="34" charset="-122"/>
                <a:cs typeface="Source Sans 3" pitchFamily="34" charset="-120"/>
              </a:rPr>
              <a:t>Membuat internet tersebar rata di seluruh Indonesia</a:t>
            </a:r>
            <a:endParaRPr lang="en-US" sz="1750" dirty="0"/>
          </a:p>
        </p:txBody>
      </p:sp>
      <p:sp>
        <p:nvSpPr>
          <p:cNvPr id="8" name="Text 6"/>
          <p:cNvSpPr/>
          <p:nvPr/>
        </p:nvSpPr>
        <p:spPr>
          <a:xfrm>
            <a:off x="793790" y="4479012"/>
            <a:ext cx="7604284"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WiMAX sangat membantu Indonesia mencapai target Indonesia Digital 2030. Karena bisa menjangkau area luas dengan biaya terjangkau.</a:t>
            </a:r>
            <a:endParaRPr lang="en-US" sz="1750" dirty="0"/>
          </a:p>
        </p:txBody>
      </p:sp>
      <p:sp>
        <p:nvSpPr>
          <p:cNvPr id="9" name="Text 7"/>
          <p:cNvSpPr/>
          <p:nvPr/>
        </p:nvSpPr>
        <p:spPr>
          <a:xfrm>
            <a:off x="8959096" y="2004298"/>
            <a:ext cx="3253145" cy="354330"/>
          </a:xfrm>
          <a:prstGeom prst="rect">
            <a:avLst/>
          </a:prstGeom>
          <a:noFill/>
          <a:ln/>
        </p:spPr>
        <p:txBody>
          <a:bodyPr wrap="non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Apa yang Ingin Dicapai</a:t>
            </a:r>
            <a:endParaRPr lang="en-US" sz="2200" dirty="0"/>
          </a:p>
        </p:txBody>
      </p:sp>
      <p:sp>
        <p:nvSpPr>
          <p:cNvPr id="10" name="Text 8"/>
          <p:cNvSpPr/>
          <p:nvPr/>
        </p:nvSpPr>
        <p:spPr>
          <a:xfrm>
            <a:off x="8959096" y="2727127"/>
            <a:ext cx="4885015" cy="748427"/>
          </a:xfrm>
          <a:prstGeom prst="rect">
            <a:avLst/>
          </a:prstGeom>
          <a:noFill/>
          <a:ln/>
        </p:spPr>
        <p:txBody>
          <a:bodyPr wrap="none" lIns="0" tIns="0" rIns="0" bIns="0" rtlCol="0" anchor="t"/>
          <a:lstStyle/>
          <a:p>
            <a:pPr algn="ctr" indent="0" marL="0">
              <a:lnSpc>
                <a:spcPts val="5850"/>
              </a:lnSpc>
              <a:buNone/>
            </a:pPr>
            <a:r>
              <a:rPr lang="en-US" sz="5850" dirty="0">
                <a:solidFill>
                  <a:srgbClr val="2B4150"/>
                </a:solidFill>
                <a:latin typeface="MuseoModerno Medium" pitchFamily="34" charset="0"/>
                <a:ea typeface="MuseoModerno Medium" pitchFamily="34" charset="-122"/>
                <a:cs typeface="MuseoModerno Medium" pitchFamily="34" charset="-120"/>
              </a:rPr>
              <a:t>50%</a:t>
            </a:r>
            <a:endParaRPr lang="en-US" sz="5850" dirty="0"/>
          </a:p>
        </p:txBody>
      </p:sp>
      <p:sp>
        <p:nvSpPr>
          <p:cNvPr id="11" name="Text 9"/>
          <p:cNvSpPr/>
          <p:nvPr/>
        </p:nvSpPr>
        <p:spPr>
          <a:xfrm>
            <a:off x="9983986" y="3758922"/>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Daerah Terpencil</a:t>
            </a:r>
            <a:endParaRPr lang="en-US" sz="2200" dirty="0"/>
          </a:p>
        </p:txBody>
      </p:sp>
      <p:sp>
        <p:nvSpPr>
          <p:cNvPr id="12" name="Text 10"/>
          <p:cNvSpPr/>
          <p:nvPr/>
        </p:nvSpPr>
        <p:spPr>
          <a:xfrm>
            <a:off x="8959096" y="4340066"/>
            <a:ext cx="4885015" cy="362903"/>
          </a:xfrm>
          <a:prstGeom prst="rect">
            <a:avLst/>
          </a:prstGeom>
          <a:noFill/>
          <a:ln/>
        </p:spPr>
        <p:txBody>
          <a:bodyPr wrap="none" lIns="0" tIns="0" rIns="0" bIns="0" rtlCol="0" anchor="t"/>
          <a:lstStyle/>
          <a:p>
            <a:pPr algn="ctr"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WiMAX menjangkau banyak desa</a:t>
            </a:r>
            <a:endParaRPr lang="en-US" sz="1750" dirty="0"/>
          </a:p>
        </p:txBody>
      </p:sp>
      <p:sp>
        <p:nvSpPr>
          <p:cNvPr id="13" name="Text 11"/>
          <p:cNvSpPr/>
          <p:nvPr/>
        </p:nvSpPr>
        <p:spPr>
          <a:xfrm>
            <a:off x="8959096" y="5269944"/>
            <a:ext cx="4885015" cy="748427"/>
          </a:xfrm>
          <a:prstGeom prst="rect">
            <a:avLst/>
          </a:prstGeom>
          <a:noFill/>
          <a:ln/>
        </p:spPr>
        <p:txBody>
          <a:bodyPr wrap="none" lIns="0" tIns="0" rIns="0" bIns="0" rtlCol="0" anchor="t"/>
          <a:lstStyle/>
          <a:p>
            <a:pPr algn="ctr" indent="0" marL="0">
              <a:lnSpc>
                <a:spcPts val="5850"/>
              </a:lnSpc>
              <a:buNone/>
            </a:pPr>
            <a:r>
              <a:rPr lang="en-US" sz="5850" dirty="0">
                <a:solidFill>
                  <a:srgbClr val="2B4150"/>
                </a:solidFill>
                <a:latin typeface="MuseoModerno Medium" pitchFamily="34" charset="0"/>
                <a:ea typeface="MuseoModerno Medium" pitchFamily="34" charset="-122"/>
                <a:cs typeface="MuseoModerno Medium" pitchFamily="34" charset="-120"/>
              </a:rPr>
              <a:t>74Mbps</a:t>
            </a:r>
            <a:endParaRPr lang="en-US" sz="5850" dirty="0"/>
          </a:p>
        </p:txBody>
      </p:sp>
      <p:sp>
        <p:nvSpPr>
          <p:cNvPr id="14" name="Text 12"/>
          <p:cNvSpPr/>
          <p:nvPr/>
        </p:nvSpPr>
        <p:spPr>
          <a:xfrm>
            <a:off x="9983986" y="6301740"/>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Kecepatan Puncak</a:t>
            </a:r>
            <a:endParaRPr lang="en-US" sz="2200" dirty="0"/>
          </a:p>
        </p:txBody>
      </p:sp>
      <p:sp>
        <p:nvSpPr>
          <p:cNvPr id="15" name="Text 13"/>
          <p:cNvSpPr/>
          <p:nvPr/>
        </p:nvSpPr>
        <p:spPr>
          <a:xfrm>
            <a:off x="8959096" y="6882884"/>
            <a:ext cx="4885015" cy="362903"/>
          </a:xfrm>
          <a:prstGeom prst="rect">
            <a:avLst/>
          </a:prstGeom>
          <a:noFill/>
          <a:ln/>
        </p:spPr>
        <p:txBody>
          <a:bodyPr wrap="none" lIns="0" tIns="0" rIns="0" bIns="0" rtlCol="0" anchor="t"/>
          <a:lstStyle/>
          <a:p>
            <a:pPr algn="ctr"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Internet bisa sangat cepat</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644985"/>
            <a:ext cx="9375577"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Penerapan WiMAX: Urban &amp; Rural</a:t>
            </a:r>
            <a:endParaRPr lang="en-US" sz="4450" dirty="0"/>
          </a:p>
        </p:txBody>
      </p:sp>
      <p:sp>
        <p:nvSpPr>
          <p:cNvPr id="4" name="Text 1"/>
          <p:cNvSpPr/>
          <p:nvPr/>
        </p:nvSpPr>
        <p:spPr>
          <a:xfrm>
            <a:off x="793790" y="569392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WiMAX di Indonesia punya dua kegunaan penting. Di </a:t>
            </a:r>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kota-kota besar</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WiMAX bikin internet di HP dan laptop jadi cepat. Kalau di </a:t>
            </a:r>
            <a:pPr algn="l" indent="0" marL="0">
              <a:lnSpc>
                <a:spcPts val="2850"/>
              </a:lnSpc>
              <a:buNone/>
            </a:pPr>
            <a:r>
              <a:rPr lang="en-US" sz="1750" b="1" dirty="0">
                <a:solidFill>
                  <a:srgbClr val="325F7B"/>
                </a:solidFill>
                <a:latin typeface="Source Sans 3" pitchFamily="34" charset="0"/>
                <a:ea typeface="Source Sans 3" pitchFamily="34" charset="-122"/>
                <a:cs typeface="Source Sans 3" pitchFamily="34" charset="-120"/>
              </a:rPr>
              <a:t>desa-desa</a:t>
            </a:r>
            <a:pPr algn="l" indent="0" marL="0">
              <a:lnSpc>
                <a:spcPts val="2850"/>
              </a:lnSpc>
              <a:buNone/>
            </a:pPr>
            <a:r>
              <a:rPr lang="en-US" sz="1750" dirty="0">
                <a:solidFill>
                  <a:srgbClr val="2B4150"/>
                </a:solidFill>
                <a:latin typeface="Source Sans 3" pitchFamily="34" charset="0"/>
                <a:ea typeface="Source Sans 3" pitchFamily="34" charset="-122"/>
                <a:cs typeface="Source Sans 3" pitchFamily="34" charset="-120"/>
              </a:rPr>
              <a:t>, WiMAX kasih internet yang penting buat kebutuhan sehari-hari. Tujuannya supaya semua orang di Indonesia bisa internetan.</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75903" y="799028"/>
            <a:ext cx="7564993" cy="1409700"/>
          </a:xfrm>
          <a:prstGeom prst="rect">
            <a:avLst/>
          </a:prstGeom>
          <a:noFill/>
          <a:ln/>
        </p:spPr>
        <p:txBody>
          <a:bodyPr wrap="square" lIns="0" tIns="0" rIns="0" bIns="0" rtlCol="0" anchor="t"/>
          <a:lstStyle/>
          <a:p>
            <a:pPr algn="l" indent="0" marL="0">
              <a:lnSpc>
                <a:spcPts val="5550"/>
              </a:lnSpc>
              <a:buNone/>
            </a:pPr>
            <a:r>
              <a:rPr lang="en-US" sz="4400" dirty="0">
                <a:solidFill>
                  <a:srgbClr val="124E73"/>
                </a:solidFill>
                <a:latin typeface="MuseoModerno Medium" pitchFamily="34" charset="0"/>
                <a:ea typeface="MuseoModerno Medium" pitchFamily="34" charset="-122"/>
                <a:cs typeface="MuseoModerno Medium" pitchFamily="34" charset="-120"/>
              </a:rPr>
              <a:t>WiMAX: Internet untuk Masa Depan Indonesia</a:t>
            </a:r>
            <a:endParaRPr lang="en-US" sz="4400" dirty="0"/>
          </a:p>
        </p:txBody>
      </p:sp>
      <p:sp>
        <p:nvSpPr>
          <p:cNvPr id="4" name="Shape 1"/>
          <p:cNvSpPr/>
          <p:nvPr/>
        </p:nvSpPr>
        <p:spPr>
          <a:xfrm>
            <a:off x="6275903" y="2546985"/>
            <a:ext cx="3669744" cy="2382679"/>
          </a:xfrm>
          <a:prstGeom prst="roundRect">
            <a:avLst>
              <a:gd name="adj" fmla="val 1420"/>
            </a:avLst>
          </a:prstGeom>
          <a:solidFill>
            <a:srgbClr val="325F7B"/>
          </a:solidFill>
          <a:ln/>
        </p:spPr>
      </p:sp>
      <p:sp>
        <p:nvSpPr>
          <p:cNvPr id="5" name="Text 2"/>
          <p:cNvSpPr/>
          <p:nvPr/>
        </p:nvSpPr>
        <p:spPr>
          <a:xfrm>
            <a:off x="6501408" y="2772489"/>
            <a:ext cx="2819638" cy="352425"/>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Internet Lengkap</a:t>
            </a:r>
            <a:endParaRPr lang="en-US" sz="2200" dirty="0"/>
          </a:p>
        </p:txBody>
      </p:sp>
      <p:sp>
        <p:nvSpPr>
          <p:cNvPr id="6" name="Text 3"/>
          <p:cNvSpPr/>
          <p:nvPr/>
        </p:nvSpPr>
        <p:spPr>
          <a:xfrm>
            <a:off x="6501408" y="3260169"/>
            <a:ext cx="3218736" cy="1443990"/>
          </a:xfrm>
          <a:prstGeom prst="rect">
            <a:avLst/>
          </a:prstGeom>
          <a:noFill/>
          <a:ln/>
        </p:spPr>
        <p:txBody>
          <a:bodyPr wrap="square" lIns="0" tIns="0" rIns="0" bIns="0" rtlCol="0" anchor="t"/>
          <a:lstStyle/>
          <a:p>
            <a:pPr algn="l" indent="0" marL="0">
              <a:lnSpc>
                <a:spcPts val="2800"/>
              </a:lnSpc>
              <a:buNone/>
            </a:pPr>
            <a:r>
              <a:rPr lang="en-US" sz="1750" dirty="0">
                <a:solidFill>
                  <a:srgbClr val="FFFFFF"/>
                </a:solidFill>
                <a:latin typeface="Source Sans 3" pitchFamily="34" charset="0"/>
                <a:ea typeface="Source Sans 3" pitchFamily="34" charset="-122"/>
                <a:cs typeface="Source Sans 3" pitchFamily="34" charset="-120"/>
              </a:rPr>
              <a:t>WiMAX bisa kasih internet cepat, sinyalnya luas sampai ke banyak tempat, dan bisa dibawa ke mana saja. Semua dalam satu teknologi.</a:t>
            </a:r>
            <a:endParaRPr lang="en-US" sz="1750" dirty="0"/>
          </a:p>
        </p:txBody>
      </p:sp>
      <p:sp>
        <p:nvSpPr>
          <p:cNvPr id="7" name="Shape 4"/>
          <p:cNvSpPr/>
          <p:nvPr/>
        </p:nvSpPr>
        <p:spPr>
          <a:xfrm>
            <a:off x="10171152" y="2546985"/>
            <a:ext cx="3669744" cy="2382679"/>
          </a:xfrm>
          <a:prstGeom prst="roundRect">
            <a:avLst>
              <a:gd name="adj" fmla="val 1420"/>
            </a:avLst>
          </a:prstGeom>
          <a:solidFill>
            <a:srgbClr val="325F7B"/>
          </a:solidFill>
          <a:ln/>
        </p:spPr>
      </p:sp>
      <p:sp>
        <p:nvSpPr>
          <p:cNvPr id="8" name="Text 5"/>
          <p:cNvSpPr/>
          <p:nvPr/>
        </p:nvSpPr>
        <p:spPr>
          <a:xfrm>
            <a:off x="10396657" y="2772489"/>
            <a:ext cx="3161109" cy="352425"/>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Buat Segala Keperluan</a:t>
            </a:r>
            <a:endParaRPr lang="en-US" sz="2200" dirty="0"/>
          </a:p>
        </p:txBody>
      </p:sp>
      <p:sp>
        <p:nvSpPr>
          <p:cNvPr id="9" name="Text 6"/>
          <p:cNvSpPr/>
          <p:nvPr/>
        </p:nvSpPr>
        <p:spPr>
          <a:xfrm>
            <a:off x="10396657" y="3260169"/>
            <a:ext cx="3218736" cy="1443990"/>
          </a:xfrm>
          <a:prstGeom prst="rect">
            <a:avLst/>
          </a:prstGeom>
          <a:noFill/>
          <a:ln/>
        </p:spPr>
        <p:txBody>
          <a:bodyPr wrap="square" lIns="0" tIns="0" rIns="0" bIns="0" rtlCol="0" anchor="t"/>
          <a:lstStyle/>
          <a:p>
            <a:pPr algn="l" indent="0" marL="0">
              <a:lnSpc>
                <a:spcPts val="2800"/>
              </a:lnSpc>
              <a:buNone/>
            </a:pPr>
            <a:r>
              <a:rPr lang="en-US" sz="1750" dirty="0">
                <a:solidFill>
                  <a:srgbClr val="FFFFFF"/>
                </a:solidFill>
                <a:latin typeface="Source Sans 3" pitchFamily="34" charset="0"/>
                <a:ea typeface="Source Sans 3" pitchFamily="34" charset="-122"/>
                <a:cs typeface="Source Sans 3" pitchFamily="34" charset="-120"/>
              </a:rPr>
              <a:t>WiMAX cocok buat internet di rumah, kantor, atau waktu kamu jalan-jalan. Kualitasnya bagus dan stabil.</a:t>
            </a:r>
            <a:endParaRPr lang="en-US" sz="1750" dirty="0"/>
          </a:p>
        </p:txBody>
      </p:sp>
      <p:sp>
        <p:nvSpPr>
          <p:cNvPr id="10" name="Shape 7"/>
          <p:cNvSpPr/>
          <p:nvPr/>
        </p:nvSpPr>
        <p:spPr>
          <a:xfrm>
            <a:off x="6275903" y="5155168"/>
            <a:ext cx="7564993" cy="1660684"/>
          </a:xfrm>
          <a:prstGeom prst="roundRect">
            <a:avLst>
              <a:gd name="adj" fmla="val 2037"/>
            </a:avLst>
          </a:prstGeom>
          <a:solidFill>
            <a:srgbClr val="325F7B"/>
          </a:solidFill>
          <a:ln/>
        </p:spPr>
      </p:sp>
      <p:sp>
        <p:nvSpPr>
          <p:cNvPr id="11" name="Text 8"/>
          <p:cNvSpPr/>
          <p:nvPr/>
        </p:nvSpPr>
        <p:spPr>
          <a:xfrm>
            <a:off x="6501408" y="5380673"/>
            <a:ext cx="3157776" cy="352425"/>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MuseoModerno Medium" pitchFamily="34" charset="0"/>
                <a:ea typeface="MuseoModerno Medium" pitchFamily="34" charset="-122"/>
                <a:cs typeface="MuseoModerno Medium" pitchFamily="34" charset="-120"/>
              </a:rPr>
              <a:t>Terus Maju dan Hemat</a:t>
            </a:r>
            <a:endParaRPr lang="en-US" sz="2200" dirty="0"/>
          </a:p>
        </p:txBody>
      </p:sp>
      <p:sp>
        <p:nvSpPr>
          <p:cNvPr id="12" name="Text 9"/>
          <p:cNvSpPr/>
          <p:nvPr/>
        </p:nvSpPr>
        <p:spPr>
          <a:xfrm>
            <a:off x="6501408" y="5868352"/>
            <a:ext cx="7113984" cy="721995"/>
          </a:xfrm>
          <a:prstGeom prst="rect">
            <a:avLst/>
          </a:prstGeom>
          <a:noFill/>
          <a:ln/>
        </p:spPr>
        <p:txBody>
          <a:bodyPr wrap="square" lIns="0" tIns="0" rIns="0" bIns="0" rtlCol="0" anchor="t"/>
          <a:lstStyle/>
          <a:p>
            <a:pPr algn="l" indent="0" marL="0">
              <a:lnSpc>
                <a:spcPts val="2800"/>
              </a:lnSpc>
              <a:buNone/>
            </a:pPr>
            <a:r>
              <a:rPr lang="en-US" sz="1750" dirty="0">
                <a:solidFill>
                  <a:srgbClr val="FFFFFF"/>
                </a:solidFill>
                <a:latin typeface="Source Sans 3" pitchFamily="34" charset="0"/>
                <a:ea typeface="Source Sans 3" pitchFamily="34" charset="-122"/>
                <a:cs typeface="Source Sans 3" pitchFamily="34" charset="-120"/>
              </a:rPr>
              <a:t>Teknologi WiMAX terus dikembangkan. Jadi, internetnya makin ngebut dan tidak boros listrik.</a:t>
            </a:r>
            <a:endParaRPr lang="en-US" sz="1750" dirty="0"/>
          </a:p>
        </p:txBody>
      </p:sp>
      <p:sp>
        <p:nvSpPr>
          <p:cNvPr id="13" name="Text 10"/>
          <p:cNvSpPr/>
          <p:nvPr/>
        </p:nvSpPr>
        <p:spPr>
          <a:xfrm>
            <a:off x="6275903" y="7069574"/>
            <a:ext cx="7564993" cy="360998"/>
          </a:xfrm>
          <a:prstGeom prst="rect">
            <a:avLst/>
          </a:prstGeom>
          <a:noFill/>
          <a:ln/>
        </p:spPr>
        <p:txBody>
          <a:bodyPr wrap="none" lIns="0" tIns="0" rIns="0" bIns="0" rtlCol="0" anchor="t"/>
          <a:lstStyle/>
          <a:p>
            <a:pPr algn="l" indent="0" marL="0">
              <a:lnSpc>
                <a:spcPts val="280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2025-09-29T13:38:07Z</dcterms:created>
  <dcterms:modified xsi:type="dcterms:W3CDTF">2025-09-29T13:38:07Z</dcterms:modified>
</cp:coreProperties>
</file>
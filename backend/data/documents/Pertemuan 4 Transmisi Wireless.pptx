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g"/>
  <Override PartName="/ppt/media/image7.jpg" ContentType="image/jpg"/>
  <Override PartName="/ppt/media/image8.jpg" ContentType="image/jp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9"/>
  </p:notesMasterIdLst>
  <p:sldIdLst>
    <p:sldId id="256" r:id="rId2"/>
    <p:sldId id="267" r:id="rId3"/>
    <p:sldId id="268" r:id="rId4"/>
    <p:sldId id="270" r:id="rId5"/>
    <p:sldId id="26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2" r:id="rId17"/>
    <p:sldId id="271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51"/>
    <p:restoredTop sz="93914"/>
  </p:normalViewPr>
  <p:slideViewPr>
    <p:cSldViewPr>
      <p:cViewPr varScale="1">
        <p:scale>
          <a:sx n="140" d="100"/>
          <a:sy n="140" d="100"/>
        </p:scale>
        <p:origin x="60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66B0F-9633-B646-8A09-73EF14B4FD17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40DD5-2B71-7542-924E-B7A659B2F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77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40DD5-2B71-7542-924E-B7A659B2FF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12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40DD5-2B71-7542-924E-B7A659B2FF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53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/>
        </p:nvGrpSpPr>
        <p:grpSpPr>
          <a:xfrm>
            <a:off x="-1203532" y="-3756"/>
            <a:ext cx="10347533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71116" y="2395728"/>
            <a:ext cx="5308092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495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1116" y="3721608"/>
            <a:ext cx="5308092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350" spc="225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171450" lvl="0" indent="-17145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567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/>
        </p:nvSpPr>
        <p:spPr>
          <a:xfrm>
            <a:off x="0" y="1"/>
            <a:ext cx="9144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/>
        </p:nvSpPr>
        <p:spPr>
          <a:xfrm rot="16200000" flipV="1">
            <a:off x="1112261" y="-1112261"/>
            <a:ext cx="6862743" cy="9087265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/>
        </p:nvSpPr>
        <p:spPr>
          <a:xfrm rot="5400000" flipV="1">
            <a:off x="3597488" y="782783"/>
            <a:ext cx="6326154" cy="476059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/>
        </p:nvSpPr>
        <p:spPr>
          <a:xfrm rot="2700000">
            <a:off x="6700970" y="2066798"/>
            <a:ext cx="4406148" cy="397442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/>
        </p:nvSpPr>
        <p:spPr>
          <a:xfrm rot="8100000" flipH="1">
            <a:off x="7187681" y="1088097"/>
            <a:ext cx="3804135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/>
        </p:nvSpPr>
        <p:spPr>
          <a:xfrm rot="2700000">
            <a:off x="8469217" y="5885197"/>
            <a:ext cx="877778" cy="1316667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/>
        </p:nvSpPr>
        <p:spPr>
          <a:xfrm rot="8100000" flipH="1">
            <a:off x="7936699" y="5841410"/>
            <a:ext cx="1779261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/>
        </p:nvGrpSpPr>
        <p:grpSpPr>
          <a:xfrm rot="16200000">
            <a:off x="132239" y="-689051"/>
            <a:ext cx="1532001" cy="1369847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/>
        </p:nvGrpSpPr>
        <p:grpSpPr>
          <a:xfrm rot="16200000">
            <a:off x="1392345" y="-373940"/>
            <a:ext cx="818398" cy="73962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754880"/>
            <a:ext cx="5102352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spc="225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171450" lvl="0" indent="-17145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78" y="3886201"/>
            <a:ext cx="5836158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405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3787893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/>
        </p:nvSpPr>
        <p:spPr>
          <a:xfrm rot="16200000" flipV="1">
            <a:off x="1283979" y="-997278"/>
            <a:ext cx="6862743" cy="8857300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/>
        </p:nvSpPr>
        <p:spPr>
          <a:xfrm rot="16200000" flipV="1">
            <a:off x="1112262" y="-1112261"/>
            <a:ext cx="6862743" cy="9087265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/>
        </p:nvGrpSpPr>
        <p:grpSpPr>
          <a:xfrm>
            <a:off x="7332057" y="2057401"/>
            <a:ext cx="331016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/>
        </p:nvSpPr>
        <p:spPr>
          <a:xfrm rot="2700000">
            <a:off x="8469217" y="5885197"/>
            <a:ext cx="877778" cy="1316667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/>
        </p:nvSpPr>
        <p:spPr>
          <a:xfrm rot="8100000" flipH="1">
            <a:off x="7936699" y="5841410"/>
            <a:ext cx="1779261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/>
        </p:nvGrpSpPr>
        <p:grpSpPr>
          <a:xfrm rot="16200000" flipH="1">
            <a:off x="7303720" y="6409175"/>
            <a:ext cx="1052473" cy="907084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78" y="3886201"/>
            <a:ext cx="5836158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405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 err="1"/>
              <a:t>Sistem</a:t>
            </a:r>
            <a:r>
              <a:rPr lang="en-US" noProof="0" dirty="0"/>
              <a:t> </a:t>
            </a:r>
            <a:r>
              <a:rPr lang="en-US" noProof="0" dirty="0" err="1"/>
              <a:t>Deteksi</a:t>
            </a:r>
            <a:r>
              <a:rPr lang="en-US" noProof="0" dirty="0"/>
              <a:t> </a:t>
            </a:r>
            <a:r>
              <a:rPr lang="en-US" noProof="0" dirty="0" err="1"/>
              <a:t>Intrusi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8" y="4754880"/>
            <a:ext cx="5102352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spc="225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171450" lvl="0" indent="-171450"/>
            <a:r>
              <a:rPr lang="en-US" noProof="0" dirty="0"/>
              <a:t>Andi Muhammad </a:t>
            </a:r>
            <a:r>
              <a:rPr lang="en-US" noProof="0" dirty="0" err="1"/>
              <a:t>Nurhidayat</a:t>
            </a:r>
            <a:endParaRPr lang="en-US" noProof="0" dirty="0"/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154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/>
        </p:nvSpPr>
        <p:spPr>
          <a:xfrm rot="16200000" flipV="1">
            <a:off x="1283979" y="-997278"/>
            <a:ext cx="6862743" cy="8857300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/>
        </p:nvSpPr>
        <p:spPr>
          <a:xfrm rot="16200000" flipV="1">
            <a:off x="1112262" y="-1112261"/>
            <a:ext cx="6862743" cy="9087265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/>
        </p:nvSpPr>
        <p:spPr>
          <a:xfrm>
            <a:off x="400049" y="914400"/>
            <a:ext cx="1458686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/>
        </p:nvSpPr>
        <p:spPr>
          <a:xfrm>
            <a:off x="717745" y="923306"/>
            <a:ext cx="753836" cy="2859313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38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3200401"/>
            <a:ext cx="5663293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24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 err="1"/>
              <a:t>Aturan</a:t>
            </a:r>
            <a:r>
              <a:rPr lang="en-US" noProof="0" dirty="0"/>
              <a:t> Mid :</a:t>
            </a:r>
            <a:br>
              <a:rPr lang="en-US" noProof="0" dirty="0"/>
            </a:br>
            <a:r>
              <a:rPr lang="en-US" noProof="0" dirty="0"/>
              <a:t>- </a:t>
            </a:r>
            <a:r>
              <a:rPr lang="en-US" noProof="0" dirty="0" err="1"/>
              <a:t>Dilarang</a:t>
            </a:r>
            <a:r>
              <a:rPr lang="en-US" noProof="0" dirty="0"/>
              <a:t> </a:t>
            </a:r>
            <a:r>
              <a:rPr lang="en-US" noProof="0" dirty="0" err="1"/>
              <a:t>berdiskusi</a:t>
            </a:r>
            <a:r>
              <a:rPr lang="en-US" noProof="0" dirty="0"/>
              <a:t> </a:t>
            </a:r>
            <a:r>
              <a:rPr lang="en-US" noProof="0" dirty="0" err="1"/>
              <a:t>selain</a:t>
            </a:r>
            <a:r>
              <a:rPr lang="en-US" noProof="0" dirty="0"/>
              <a:t> </a:t>
            </a:r>
            <a:r>
              <a:rPr lang="en-US" noProof="0" dirty="0" err="1"/>
              <a:t>angg</a:t>
            </a:r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2125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 err="1"/>
              <a:t>Simulasi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75" y="1625386"/>
            <a:ext cx="5038725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9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9001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5514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7275" y="1749570"/>
            <a:ext cx="702945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652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24" y="1825625"/>
            <a:ext cx="8411426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618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376" y="1681163"/>
            <a:ext cx="3868340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5609" y="1681163"/>
            <a:ext cx="3868341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3376" y="2505075"/>
            <a:ext cx="3868340" cy="3684588"/>
          </a:xfrm>
        </p:spPr>
        <p:txBody>
          <a:bodyPr>
            <a:normAutofit/>
          </a:bodyPr>
          <a:lstStyle>
            <a:lvl1pPr>
              <a:defRPr sz="135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56559" y="2505075"/>
            <a:ext cx="3887391" cy="3684588"/>
          </a:xfrm>
        </p:spPr>
        <p:txBody>
          <a:bodyPr>
            <a:normAutofit/>
          </a:bodyPr>
          <a:lstStyle>
            <a:lvl1pPr>
              <a:defRPr sz="135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020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2524" y="1517715"/>
            <a:ext cx="3888328" cy="4659248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1pPr>
            <a:lvl2pPr marL="600075" indent="-257175">
              <a:buFont typeface="Arial" panose="020B0604020202020204" pitchFamily="34" charset="0"/>
              <a:buChar char="•"/>
              <a:defRPr sz="1350">
                <a:solidFill>
                  <a:schemeClr val="bg1"/>
                </a:solidFill>
              </a:defRPr>
            </a:lvl2pPr>
            <a:lvl3pPr marL="942975" indent="-257175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1243013" indent="-214313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1585913" indent="-214313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5623" y="1517715"/>
            <a:ext cx="3888328" cy="465924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830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3659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16673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99686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82700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65713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9921" y="4240093"/>
            <a:ext cx="1332105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22934" y="4240093"/>
            <a:ext cx="1332105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05948" y="4240093"/>
            <a:ext cx="1332105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588961" y="4240093"/>
            <a:ext cx="1332105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71974" y="4240093"/>
            <a:ext cx="1332105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/>
        </p:nvCxnSpPr>
        <p:spPr>
          <a:xfrm>
            <a:off x="931766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/>
        </p:nvCxnSpPr>
        <p:spPr>
          <a:xfrm>
            <a:off x="2614779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/>
        </p:nvCxnSpPr>
        <p:spPr>
          <a:xfrm>
            <a:off x="4297793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/>
        </p:nvCxnSpPr>
        <p:spPr>
          <a:xfrm>
            <a:off x="5980806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/>
        </p:nvCxnSpPr>
        <p:spPr>
          <a:xfrm>
            <a:off x="7663819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5272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6570" y="4240093"/>
            <a:ext cx="2469980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6"/>
            <a:ext cx="9144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3127" y="4240093"/>
            <a:ext cx="2469980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59683" y="4240093"/>
            <a:ext cx="2469980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4478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6570" y="4240093"/>
            <a:ext cx="7051505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6"/>
            <a:ext cx="9144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194100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82566" y="1444650"/>
            <a:ext cx="5661385" cy="457907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2525" y="1444650"/>
            <a:ext cx="2523797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74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2525" y="1444650"/>
            <a:ext cx="2523797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217" y="1444650"/>
            <a:ext cx="5770733" cy="457907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0353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35209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2223" y="0"/>
            <a:ext cx="9156224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1143000" y="-1143001"/>
            <a:ext cx="6858000" cy="9144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1143000" y="-1143001"/>
            <a:ext cx="6858000" cy="9144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/>
        </p:nvGrpSpPr>
        <p:grpSpPr>
          <a:xfrm>
            <a:off x="0" y="0"/>
            <a:ext cx="5161475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12931" y="2807208"/>
            <a:ext cx="3709199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405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118342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2223" y="0"/>
            <a:ext cx="9156224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1143000" y="-1143001"/>
            <a:ext cx="6858000" cy="9144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1143000" y="-1143001"/>
            <a:ext cx="6858000" cy="9144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0181" y="3429000"/>
            <a:ext cx="3709199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405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/>
        </p:nvSpPr>
        <p:spPr>
          <a:xfrm rot="13500000">
            <a:off x="-1302864" y="-162471"/>
            <a:ext cx="6043521" cy="6320308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/>
        </p:nvSpPr>
        <p:spPr>
          <a:xfrm rot="13500000">
            <a:off x="-1614363" y="-997743"/>
            <a:ext cx="6043521" cy="675666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/>
        </p:nvSpPr>
        <p:spPr>
          <a:xfrm rot="18900000" flipH="1">
            <a:off x="-2010864" y="-465959"/>
            <a:ext cx="647933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651595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15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115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34375" y="6356351"/>
            <a:ext cx="49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/>
        </p:nvSpPr>
        <p:spPr>
          <a:xfrm>
            <a:off x="0" y="2"/>
            <a:ext cx="9144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/>
        </p:nvSpPr>
        <p:spPr>
          <a:xfrm>
            <a:off x="0" y="2"/>
            <a:ext cx="9144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/>
        </p:nvSpPr>
        <p:spPr>
          <a:xfrm rot="16200000" flipV="1">
            <a:off x="1140629" y="-1145372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/>
        </p:nvSpPr>
        <p:spPr>
          <a:xfrm rot="16200000" flipV="1">
            <a:off x="1140629" y="-1145372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/>
        </p:nvSpPr>
        <p:spPr>
          <a:xfrm>
            <a:off x="333375" y="542925"/>
            <a:ext cx="8410575" cy="401648"/>
          </a:xfrm>
          <a:prstGeom prst="rect">
            <a:avLst/>
          </a:prstGeom>
        </p:spPr>
        <p:txBody>
          <a:bodyPr vert="horz" wrap="square" lIns="68580" tIns="34290" rIns="68580" bIns="3429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/>
        </p:nvSpPr>
        <p:spPr>
          <a:xfrm>
            <a:off x="8439150" y="6315076"/>
            <a:ext cx="30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sz="750" noProof="0" smtClean="0"/>
              <a:pPr/>
              <a:t>‹#›</a:t>
            </a:fld>
            <a:endParaRPr lang="en-US" sz="750" noProof="0" dirty="0"/>
          </a:p>
        </p:txBody>
      </p:sp>
    </p:spTree>
    <p:extLst>
      <p:ext uri="{BB962C8B-B14F-4D97-AF65-F5344CB8AC3E}">
        <p14:creationId xmlns:p14="http://schemas.microsoft.com/office/powerpoint/2010/main" val="304179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3400" y="1686504"/>
            <a:ext cx="5080192" cy="2517348"/>
          </a:xfrm>
          <a:prstGeom prst="rect">
            <a:avLst/>
          </a:prstGeom>
        </p:spPr>
        <p:txBody>
          <a:bodyPr wrap="square" lIns="0" tIns="39370" rIns="0" bIns="0" rtlCol="0">
            <a:noAutofit/>
          </a:bodyPr>
          <a:lstStyle/>
          <a:p>
            <a:pPr marL="12700" algn="ctr">
              <a:lnSpc>
                <a:spcPts val="6200"/>
              </a:lnSpc>
            </a:pPr>
            <a:r>
              <a:rPr sz="6000" spc="0" dirty="0" err="1">
                <a:solidFill>
                  <a:schemeClr val="bg1"/>
                </a:solidFill>
                <a:latin typeface="Bahnschrift Condensed" panose="020B0502040204020203" pitchFamily="34" charset="0"/>
                <a:cs typeface="Bernard MT Condensed"/>
              </a:rPr>
              <a:t>Transmisi</a:t>
            </a:r>
            <a:r>
              <a:rPr lang="en-US" sz="6000" spc="0" dirty="0">
                <a:solidFill>
                  <a:schemeClr val="bg1"/>
                </a:solidFill>
                <a:latin typeface="Bahnschrift Condensed" panose="020B0502040204020203" pitchFamily="34" charset="0"/>
                <a:cs typeface="Bernard MT Condensed"/>
              </a:rPr>
              <a:t> Signal Wireless</a:t>
            </a:r>
            <a:endParaRPr sz="6000" dirty="0">
              <a:solidFill>
                <a:schemeClr val="bg1"/>
              </a:solidFill>
              <a:latin typeface="Bahnschrift Condensed" panose="020B0502040204020203" pitchFamily="34" charset="0"/>
              <a:cs typeface="Bernard MT Condense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6248" y="1292652"/>
            <a:ext cx="1927544" cy="787704"/>
          </a:xfrm>
          <a:prstGeom prst="rect">
            <a:avLst/>
          </a:prstGeom>
        </p:spPr>
        <p:txBody>
          <a:bodyPr wrap="square" lIns="0" tIns="39370" rIns="0" bIns="0" rtlCol="0">
            <a:noAutofit/>
          </a:bodyPr>
          <a:lstStyle/>
          <a:p>
            <a:pPr marL="12700">
              <a:lnSpc>
                <a:spcPts val="6200"/>
              </a:lnSpc>
            </a:pPr>
            <a:endParaRPr sz="6000" dirty="0">
              <a:latin typeface="Bernard MT Condensed"/>
              <a:cs typeface="Bernard MT Condense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107657" y="6172200"/>
            <a:ext cx="4284726" cy="432612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12700">
              <a:lnSpc>
                <a:spcPts val="3404"/>
              </a:lnSpc>
            </a:pPr>
            <a:r>
              <a:rPr lang="en-US" sz="3200" spc="0" dirty="0">
                <a:solidFill>
                  <a:schemeClr val="bg1"/>
                </a:solidFill>
                <a:latin typeface="Bahnschrift Condensed" panose="020B0502040204020203" pitchFamily="34" charset="0"/>
                <a:cs typeface="Bernard MT Condensed"/>
              </a:rPr>
              <a:t>Andi Muhammad Nur </a:t>
            </a:r>
            <a:r>
              <a:rPr lang="en-US" sz="3200" spc="0" dirty="0" err="1">
                <a:solidFill>
                  <a:schemeClr val="bg1"/>
                </a:solidFill>
                <a:latin typeface="Bahnschrift Condensed" panose="020B0502040204020203" pitchFamily="34" charset="0"/>
                <a:cs typeface="Bernard MT Condensed"/>
              </a:rPr>
              <a:t>Hidayat</a:t>
            </a:r>
            <a:endParaRPr sz="3200" dirty="0">
              <a:solidFill>
                <a:schemeClr val="bg1"/>
              </a:solidFill>
              <a:latin typeface="Bahnschrift Condensed" panose="020B0502040204020203" pitchFamily="34" charset="0"/>
              <a:cs typeface="Bernard MT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E81C-C955-45E8-B462-7B03EFDD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</a:t>
            </a:r>
            <a:r>
              <a:rPr lang="en-US" dirty="0" err="1"/>
              <a:t>Transmisi</a:t>
            </a:r>
            <a:r>
              <a:rPr lang="en-US" dirty="0"/>
              <a:t> Wireless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F3D8C-E9A8-4DE8-83CF-1416F4E30C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8662" y="2174302"/>
            <a:ext cx="7686675" cy="267003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ID" dirty="0"/>
              <a:t>Media </a:t>
            </a:r>
            <a:r>
              <a:rPr lang="en-ID" dirty="0" err="1"/>
              <a:t>transmisi</a:t>
            </a:r>
            <a:r>
              <a:rPr lang="en-ID" dirty="0"/>
              <a:t> wireless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media </a:t>
            </a:r>
            <a:r>
              <a:rPr lang="en-ID" dirty="0" err="1"/>
              <a:t>transmisi</a:t>
            </a:r>
            <a:r>
              <a:rPr lang="en-ID" dirty="0"/>
              <a:t> data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kabel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proses </a:t>
            </a:r>
            <a:r>
              <a:rPr lang="en-ID" dirty="0" err="1"/>
              <a:t>transmisinya</a:t>
            </a:r>
            <a:r>
              <a:rPr lang="en-ID" dirty="0"/>
              <a:t>, media unguided/wireless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memanfaatkan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antena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transmisi</a:t>
            </a:r>
            <a:r>
              <a:rPr lang="en-ID" dirty="0"/>
              <a:t> di </a:t>
            </a:r>
            <a:r>
              <a:rPr lang="en-ID" dirty="0" err="1"/>
              <a:t>udara</a:t>
            </a:r>
            <a:r>
              <a:rPr lang="en-ID" dirty="0"/>
              <a:t>,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hampa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air.Untuk</a:t>
            </a:r>
            <a:r>
              <a:rPr lang="en-ID" dirty="0"/>
              <a:t> </a:t>
            </a:r>
            <a:r>
              <a:rPr lang="en-ID" dirty="0" err="1"/>
              <a:t>transmisi</a:t>
            </a:r>
            <a:r>
              <a:rPr lang="en-ID" dirty="0"/>
              <a:t>, </a:t>
            </a:r>
            <a:r>
              <a:rPr lang="en-ID" dirty="0" err="1"/>
              <a:t>Antena</a:t>
            </a:r>
            <a:r>
              <a:rPr lang="en-ID" dirty="0"/>
              <a:t> </a:t>
            </a:r>
            <a:r>
              <a:rPr lang="en-ID" dirty="0" err="1"/>
              <a:t>menyebarkan</a:t>
            </a:r>
            <a:r>
              <a:rPr lang="en-ID" dirty="0"/>
              <a:t> </a:t>
            </a:r>
            <a:r>
              <a:rPr lang="en-ID" dirty="0" err="1"/>
              <a:t>energi</a:t>
            </a:r>
            <a:r>
              <a:rPr lang="en-ID" dirty="0"/>
              <a:t> </a:t>
            </a:r>
            <a:r>
              <a:rPr lang="en-ID" dirty="0" err="1"/>
              <a:t>elektromagnetik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media (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), </a:t>
            </a: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penerimaan</a:t>
            </a:r>
            <a:r>
              <a:rPr lang="en-ID" dirty="0"/>
              <a:t> </a:t>
            </a:r>
            <a:r>
              <a:rPr lang="en-ID" dirty="0" err="1"/>
              <a:t>sinyal</a:t>
            </a:r>
            <a:r>
              <a:rPr lang="en-ID" dirty="0"/>
              <a:t>, </a:t>
            </a:r>
            <a:r>
              <a:rPr lang="en-ID" dirty="0" err="1"/>
              <a:t>antena</a:t>
            </a:r>
            <a:r>
              <a:rPr lang="en-ID" dirty="0"/>
              <a:t> </a:t>
            </a:r>
            <a:r>
              <a:rPr lang="en-ID" dirty="0" err="1"/>
              <a:t>menangkap</a:t>
            </a:r>
            <a:r>
              <a:rPr lang="en-ID" dirty="0"/>
              <a:t> </a:t>
            </a:r>
            <a:r>
              <a:rPr lang="en-ID" dirty="0" err="1"/>
              <a:t>gelombang</a:t>
            </a:r>
            <a:r>
              <a:rPr lang="en-ID" dirty="0"/>
              <a:t> </a:t>
            </a:r>
            <a:r>
              <a:rPr lang="en-ID" dirty="0" err="1"/>
              <a:t>elektromagnetik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media. </a:t>
            </a:r>
          </a:p>
        </p:txBody>
      </p:sp>
    </p:spTree>
    <p:extLst>
      <p:ext uri="{BB962C8B-B14F-4D97-AF65-F5344CB8AC3E}">
        <p14:creationId xmlns:p14="http://schemas.microsoft.com/office/powerpoint/2010/main" val="377094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9DD5-A08B-4CB8-9319-C8314869D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</a:t>
            </a:r>
            <a:r>
              <a:rPr lang="en-US" dirty="0" err="1"/>
              <a:t>Transmisi</a:t>
            </a:r>
            <a:r>
              <a:rPr lang="en-US" dirty="0"/>
              <a:t> Wireless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E9E21-1050-452D-933D-CF48EBDD3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75" y="1625386"/>
            <a:ext cx="5838825" cy="4093243"/>
          </a:xfrm>
        </p:spPr>
        <p:txBody>
          <a:bodyPr/>
          <a:lstStyle/>
          <a:p>
            <a:pPr marL="0" indent="0" algn="just">
              <a:buNone/>
            </a:pPr>
            <a:r>
              <a:rPr lang="en-ID" sz="1800" dirty="0"/>
              <a:t>Pada </a:t>
            </a:r>
            <a:r>
              <a:rPr lang="en-ID" sz="1800" dirty="0" err="1"/>
              <a:t>dasarnya</a:t>
            </a:r>
            <a:r>
              <a:rPr lang="en-ID" sz="1800" dirty="0"/>
              <a:t> </a:t>
            </a:r>
            <a:r>
              <a:rPr lang="en-ID" sz="1800" dirty="0" err="1"/>
              <a:t>terdapat</a:t>
            </a:r>
            <a:r>
              <a:rPr lang="en-ID" sz="1800" dirty="0"/>
              <a:t> </a:t>
            </a:r>
            <a:r>
              <a:rPr lang="en-ID" sz="1800" dirty="0" err="1"/>
              <a:t>dua</a:t>
            </a:r>
            <a:r>
              <a:rPr lang="en-ID" sz="1800" dirty="0"/>
              <a:t> </a:t>
            </a:r>
            <a:r>
              <a:rPr lang="en-ID" sz="1800" dirty="0" err="1"/>
              <a:t>jenis</a:t>
            </a:r>
            <a:r>
              <a:rPr lang="en-ID" sz="1800" dirty="0"/>
              <a:t> </a:t>
            </a:r>
            <a:r>
              <a:rPr lang="en-ID" sz="1800" dirty="0" err="1"/>
              <a:t>konfigurasi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transmisi</a:t>
            </a:r>
            <a:r>
              <a:rPr lang="en-ID" sz="1800" dirty="0"/>
              <a:t> wireless, :</a:t>
            </a:r>
          </a:p>
          <a:p>
            <a:pPr marL="0" indent="0" algn="just">
              <a:buNone/>
            </a:pPr>
            <a:r>
              <a:rPr lang="en-ID" sz="1800" dirty="0"/>
              <a:t>1.  </a:t>
            </a:r>
            <a:r>
              <a:rPr lang="en-ID" sz="1800" dirty="0" err="1"/>
              <a:t>Searah</a:t>
            </a:r>
            <a:endParaRPr lang="en-ID" sz="1800" dirty="0"/>
          </a:p>
          <a:p>
            <a:pPr marL="0" indent="0" algn="just">
              <a:buNone/>
            </a:pP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konfigurasi</a:t>
            </a:r>
            <a:r>
              <a:rPr lang="en-ID" sz="1800" dirty="0"/>
              <a:t> </a:t>
            </a:r>
            <a:r>
              <a:rPr lang="en-ID" sz="1800" dirty="0" err="1"/>
              <a:t>searah</a:t>
            </a:r>
            <a:r>
              <a:rPr lang="en-ID" sz="1800" dirty="0"/>
              <a:t>, </a:t>
            </a:r>
            <a:r>
              <a:rPr lang="en-ID" sz="1800" dirty="0" err="1"/>
              <a:t>antena</a:t>
            </a:r>
            <a:r>
              <a:rPr lang="en-ID" sz="1800" dirty="0"/>
              <a:t> </a:t>
            </a:r>
            <a:r>
              <a:rPr lang="en-ID" sz="1800" dirty="0" err="1"/>
              <a:t>pentransmisi</a:t>
            </a:r>
            <a:r>
              <a:rPr lang="en-ID" sz="1800" dirty="0"/>
              <a:t> </a:t>
            </a:r>
            <a:r>
              <a:rPr lang="en-ID" sz="1800" dirty="0" err="1"/>
              <a:t>mengeluarkan</a:t>
            </a:r>
            <a:r>
              <a:rPr lang="en-ID" sz="1800" dirty="0"/>
              <a:t> </a:t>
            </a:r>
            <a:r>
              <a:rPr lang="en-ID" sz="1800" dirty="0" err="1"/>
              <a:t>sinyal</a:t>
            </a:r>
            <a:r>
              <a:rPr lang="en-ID" sz="1800" dirty="0"/>
              <a:t> </a:t>
            </a:r>
            <a:r>
              <a:rPr lang="en-ID" sz="1800" dirty="0" err="1"/>
              <a:t>elektromagnetik</a:t>
            </a:r>
            <a:r>
              <a:rPr lang="en-ID" sz="1800" dirty="0"/>
              <a:t> yang </a:t>
            </a:r>
            <a:r>
              <a:rPr lang="en-ID" sz="1800" dirty="0" err="1"/>
              <a:t>terpusat</a:t>
            </a:r>
            <a:r>
              <a:rPr lang="en-ID" sz="1800" dirty="0"/>
              <a:t>; </a:t>
            </a:r>
            <a:r>
              <a:rPr lang="en-ID" sz="1800" dirty="0" err="1"/>
              <a:t>antena</a:t>
            </a:r>
            <a:r>
              <a:rPr lang="en-ID" sz="1800" dirty="0"/>
              <a:t> </a:t>
            </a:r>
            <a:r>
              <a:rPr lang="en-ID" sz="1800" dirty="0" err="1"/>
              <a:t>pentransmisi</a:t>
            </a:r>
            <a:r>
              <a:rPr lang="en-ID" sz="1800" dirty="0"/>
              <a:t> dan </a:t>
            </a:r>
            <a:r>
              <a:rPr lang="en-ID" sz="1800" dirty="0" err="1"/>
              <a:t>antena</a:t>
            </a:r>
            <a:r>
              <a:rPr lang="en-ID" sz="1800" dirty="0"/>
              <a:t> </a:t>
            </a:r>
            <a:r>
              <a:rPr lang="en-ID" sz="1800" dirty="0" err="1"/>
              <a:t>penerima</a:t>
            </a:r>
            <a:r>
              <a:rPr lang="en-ID" sz="1800" dirty="0"/>
              <a:t>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disejajarkan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hati-hati</a:t>
            </a:r>
            <a:r>
              <a:rPr lang="en-ID" sz="1800" dirty="0"/>
              <a:t>. </a:t>
            </a:r>
            <a:r>
              <a:rPr lang="en-ID" sz="1800" dirty="0" err="1"/>
              <a:t>Umumnya</a:t>
            </a:r>
            <a:r>
              <a:rPr lang="en-ID" sz="1800" dirty="0"/>
              <a:t>, </a:t>
            </a:r>
            <a:r>
              <a:rPr lang="en-ID" sz="1800" dirty="0" err="1"/>
              <a:t>semakin</a:t>
            </a:r>
            <a:r>
              <a:rPr lang="en-ID" sz="1800" dirty="0"/>
              <a:t> </a:t>
            </a:r>
            <a:r>
              <a:rPr lang="en-ID" sz="1800" dirty="0" err="1"/>
              <a:t>tinggi</a:t>
            </a:r>
            <a:r>
              <a:rPr lang="en-ID" sz="1800" dirty="0"/>
              <a:t> </a:t>
            </a:r>
            <a:r>
              <a:rPr lang="en-ID" sz="1800" dirty="0" err="1"/>
              <a:t>frekuensi</a:t>
            </a:r>
            <a:r>
              <a:rPr lang="en-ID" sz="1800" dirty="0"/>
              <a:t> </a:t>
            </a:r>
            <a:r>
              <a:rPr lang="en-ID" sz="1800" dirty="0" err="1"/>
              <a:t>sinyal</a:t>
            </a:r>
            <a:r>
              <a:rPr lang="en-ID" sz="1800" dirty="0"/>
              <a:t>, </a:t>
            </a:r>
            <a:r>
              <a:rPr lang="en-ID" sz="1800" dirty="0" err="1"/>
              <a:t>semakin</a:t>
            </a:r>
            <a:r>
              <a:rPr lang="en-ID" sz="1800" dirty="0"/>
              <a:t> </a:t>
            </a:r>
            <a:r>
              <a:rPr lang="en-ID" sz="1800" dirty="0" err="1"/>
              <a:t>mungkin</a:t>
            </a:r>
            <a:r>
              <a:rPr lang="en-ID" sz="1800" dirty="0"/>
              <a:t> </a:t>
            </a:r>
            <a:r>
              <a:rPr lang="en-ID" sz="1800" dirty="0" err="1"/>
              <a:t>menfokuskannya</a:t>
            </a:r>
            <a:r>
              <a:rPr lang="en-ID" sz="1800" dirty="0"/>
              <a:t> </a:t>
            </a:r>
            <a:r>
              <a:rPr lang="en-ID" sz="1800" dirty="0" err="1"/>
              <a:t>kedalam</a:t>
            </a:r>
            <a:r>
              <a:rPr lang="en-ID" sz="1800" dirty="0"/>
              <a:t> </a:t>
            </a:r>
            <a:r>
              <a:rPr lang="en-ID" sz="1800" dirty="0" err="1"/>
              <a:t>sinar</a:t>
            </a:r>
            <a:r>
              <a:rPr lang="en-ID" sz="1800" dirty="0"/>
              <a:t> </a:t>
            </a:r>
            <a:r>
              <a:rPr lang="en-ID" sz="1800" dirty="0" err="1"/>
              <a:t>searah</a:t>
            </a:r>
            <a:r>
              <a:rPr lang="en-ID" sz="1800" dirty="0"/>
              <a:t>.</a:t>
            </a:r>
          </a:p>
          <a:p>
            <a:pPr marL="0" indent="0" algn="just">
              <a:buNone/>
            </a:pPr>
            <a:r>
              <a:rPr lang="en-ID" sz="1800" dirty="0"/>
              <a:t>2.  </a:t>
            </a:r>
            <a:r>
              <a:rPr lang="en-ID" sz="1800" dirty="0" err="1"/>
              <a:t>Segala</a:t>
            </a:r>
            <a:r>
              <a:rPr lang="en-ID" sz="1800" dirty="0"/>
              <a:t> </a:t>
            </a:r>
            <a:r>
              <a:rPr lang="en-ID" sz="1800" dirty="0" err="1"/>
              <a:t>Arah</a:t>
            </a:r>
            <a:endParaRPr lang="en-ID" sz="1800" dirty="0"/>
          </a:p>
          <a:p>
            <a:pPr marL="0" indent="0" algn="just">
              <a:buNone/>
            </a:pP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konfigurasi</a:t>
            </a:r>
            <a:r>
              <a:rPr lang="en-ID" sz="1800" dirty="0"/>
              <a:t> </a:t>
            </a:r>
            <a:r>
              <a:rPr lang="en-ID" sz="1800" dirty="0" err="1"/>
              <a:t>segala</a:t>
            </a:r>
            <a:r>
              <a:rPr lang="en-ID" sz="1800" dirty="0"/>
              <a:t> </a:t>
            </a:r>
            <a:r>
              <a:rPr lang="en-ID" sz="1800" dirty="0" err="1"/>
              <a:t>arah</a:t>
            </a:r>
            <a:r>
              <a:rPr lang="en-ID" sz="1800" dirty="0"/>
              <a:t>, </a:t>
            </a:r>
            <a:r>
              <a:rPr lang="en-ID" sz="1800" dirty="0" err="1"/>
              <a:t>sinyal</a:t>
            </a:r>
            <a:r>
              <a:rPr lang="en-ID" sz="1800" dirty="0"/>
              <a:t> yang </a:t>
            </a:r>
            <a:r>
              <a:rPr lang="en-ID" sz="1800" dirty="0" err="1"/>
              <a:t>ditransmisikan</a:t>
            </a:r>
            <a:r>
              <a:rPr lang="en-ID" sz="1800" dirty="0"/>
              <a:t> </a:t>
            </a:r>
            <a:r>
              <a:rPr lang="en-ID" sz="1800" dirty="0" err="1"/>
              <a:t>menyebar</a:t>
            </a:r>
            <a:r>
              <a:rPr lang="en-ID" sz="1800" dirty="0"/>
              <a:t> </a:t>
            </a:r>
            <a:r>
              <a:rPr lang="en-ID" sz="1800" dirty="0" err="1"/>
              <a:t>luas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seagala</a:t>
            </a:r>
            <a:r>
              <a:rPr lang="en-ID" sz="1800" dirty="0"/>
              <a:t> </a:t>
            </a:r>
            <a:r>
              <a:rPr lang="en-ID" sz="1800" dirty="0" err="1"/>
              <a:t>penjuru</a:t>
            </a:r>
            <a:r>
              <a:rPr lang="en-ID" sz="1800" dirty="0"/>
              <a:t> dan </a:t>
            </a:r>
            <a:r>
              <a:rPr lang="en-ID" sz="1800" dirty="0" err="1"/>
              <a:t>diterima</a:t>
            </a:r>
            <a:r>
              <a:rPr lang="en-ID" sz="1800" dirty="0"/>
              <a:t> oleh </a:t>
            </a:r>
            <a:r>
              <a:rPr lang="en-ID" sz="1800" dirty="0" err="1"/>
              <a:t>banyak</a:t>
            </a:r>
            <a:r>
              <a:rPr lang="en-ID" sz="1800" dirty="0"/>
              <a:t> </a:t>
            </a:r>
            <a:r>
              <a:rPr lang="en-ID" sz="1800" dirty="0" err="1"/>
              <a:t>antena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4872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CB2A-17CB-4B23-AAC6-46BEDDE5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AD93-1A4A-4EAF-995B-60A1702100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5EBABC6-E2EE-4AD3-813C-EFB708710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0163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566A-9551-4D69-AB6D-A98B09D58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</a:t>
            </a:r>
            <a:r>
              <a:rPr lang="en-US" dirty="0" err="1"/>
              <a:t>Transmisi</a:t>
            </a:r>
            <a:r>
              <a:rPr lang="en-US" dirty="0"/>
              <a:t> Wireless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6924E-8123-4A91-994E-4F22406799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75" y="1625386"/>
            <a:ext cx="5686425" cy="4093243"/>
          </a:xfrm>
        </p:spPr>
        <p:txBody>
          <a:bodyPr/>
          <a:lstStyle/>
          <a:p>
            <a:pPr marL="0" indent="0">
              <a:buNone/>
            </a:pPr>
            <a:r>
              <a:rPr lang="en-ID" sz="2000" b="1" dirty="0" err="1"/>
              <a:t>Keunggulan</a:t>
            </a:r>
            <a:r>
              <a:rPr lang="en-ID" sz="2000" b="1" dirty="0"/>
              <a:t>  media </a:t>
            </a:r>
            <a:r>
              <a:rPr lang="en-ID" sz="2000" b="1" dirty="0" err="1"/>
              <a:t>transmisi</a:t>
            </a:r>
            <a:r>
              <a:rPr lang="en-ID" sz="2000" b="1" dirty="0"/>
              <a:t> wireless :</a:t>
            </a:r>
          </a:p>
          <a:p>
            <a:pPr algn="just"/>
            <a:r>
              <a:rPr lang="en-ID" sz="1800" dirty="0" err="1"/>
              <a:t>Biaya</a:t>
            </a:r>
            <a:r>
              <a:rPr lang="en-ID" sz="1800" dirty="0"/>
              <a:t> </a:t>
            </a:r>
            <a:r>
              <a:rPr lang="en-ID" sz="1800" dirty="0" err="1"/>
              <a:t>pemeliharaannya</a:t>
            </a:r>
            <a:r>
              <a:rPr lang="en-ID" sz="1800" dirty="0"/>
              <a:t> </a:t>
            </a:r>
            <a:r>
              <a:rPr lang="en-ID" sz="1800" dirty="0" err="1"/>
              <a:t>murah</a:t>
            </a:r>
            <a:r>
              <a:rPr lang="en-ID" sz="1800" dirty="0"/>
              <a:t> (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mencakup</a:t>
            </a:r>
            <a:r>
              <a:rPr lang="en-ID" sz="1800" dirty="0"/>
              <a:t> central </a:t>
            </a:r>
            <a:r>
              <a:rPr lang="en-ID" sz="1800" dirty="0" err="1"/>
              <a:t>poin</a:t>
            </a:r>
            <a:r>
              <a:rPr lang="en-ID" sz="1800" dirty="0"/>
              <a:t> </a:t>
            </a:r>
            <a:r>
              <a:rPr lang="en-ID" sz="1800" dirty="0" err="1"/>
              <a:t>bukan</a:t>
            </a:r>
            <a:r>
              <a:rPr lang="en-ID" sz="1800" dirty="0"/>
              <a:t> </a:t>
            </a:r>
            <a:r>
              <a:rPr lang="en-ID" sz="1800" dirty="0" err="1"/>
              <a:t>seperti</a:t>
            </a:r>
            <a:r>
              <a:rPr lang="en-ID" sz="1800" dirty="0"/>
              <a:t> pada </a:t>
            </a:r>
            <a:r>
              <a:rPr lang="en-ID" sz="1800" dirty="0" err="1"/>
              <a:t>jaringan</a:t>
            </a:r>
            <a:r>
              <a:rPr lang="en-ID" sz="1800" dirty="0"/>
              <a:t> </a:t>
            </a:r>
            <a:r>
              <a:rPr lang="en-ID" sz="1800" dirty="0" err="1"/>
              <a:t>kabel</a:t>
            </a:r>
            <a:r>
              <a:rPr lang="en-ID" sz="1800" dirty="0"/>
              <a:t> yang </a:t>
            </a:r>
            <a:r>
              <a:rPr lang="en-ID" sz="1800" dirty="0" err="1"/>
              <a:t>mencakup</a:t>
            </a:r>
            <a:r>
              <a:rPr lang="en-ID" sz="1800" dirty="0"/>
              <a:t> </a:t>
            </a:r>
            <a:r>
              <a:rPr lang="en-ID" sz="1800" dirty="0" err="1"/>
              <a:t>keseluruhan</a:t>
            </a:r>
            <a:r>
              <a:rPr lang="en-ID" sz="1800" dirty="0"/>
              <a:t> </a:t>
            </a:r>
            <a:r>
              <a:rPr lang="en-ID" sz="1800" dirty="0" err="1"/>
              <a:t>kabel</a:t>
            </a:r>
            <a:r>
              <a:rPr lang="en-ID" sz="1800" dirty="0"/>
              <a:t>).</a:t>
            </a:r>
          </a:p>
          <a:p>
            <a:pPr algn="just"/>
            <a:r>
              <a:rPr lang="en-ID" sz="1800" dirty="0" err="1"/>
              <a:t>Infrastrukturnya</a:t>
            </a:r>
            <a:r>
              <a:rPr lang="en-ID" sz="1800" dirty="0"/>
              <a:t> </a:t>
            </a:r>
            <a:r>
              <a:rPr lang="en-ID" sz="1800" dirty="0" err="1"/>
              <a:t>berdimensi</a:t>
            </a:r>
            <a:r>
              <a:rPr lang="en-ID" sz="1800" dirty="0"/>
              <a:t> </a:t>
            </a:r>
            <a:r>
              <a:rPr lang="en-ID" sz="1800" dirty="0" err="1"/>
              <a:t>kecil</a:t>
            </a:r>
            <a:r>
              <a:rPr lang="en-ID" sz="1800" dirty="0"/>
              <a:t>, </a:t>
            </a:r>
            <a:r>
              <a:rPr lang="en-ID" sz="1800" dirty="0" err="1"/>
              <a:t>pembangunannya</a:t>
            </a:r>
            <a:r>
              <a:rPr lang="en-ID" sz="1800" dirty="0"/>
              <a:t> </a:t>
            </a:r>
            <a:r>
              <a:rPr lang="en-ID" sz="1800" dirty="0" err="1"/>
              <a:t>cepat</a:t>
            </a:r>
            <a:r>
              <a:rPr lang="en-ID" sz="1800" dirty="0"/>
              <a:t>, </a:t>
            </a:r>
            <a:r>
              <a:rPr lang="en-ID" sz="1800" dirty="0" err="1"/>
              <a:t>mudah</a:t>
            </a:r>
            <a:r>
              <a:rPr lang="en-ID" sz="1800" dirty="0"/>
              <a:t> </a:t>
            </a:r>
            <a:r>
              <a:rPr lang="en-ID" sz="1800" dirty="0" err="1"/>
              <a:t>dikembangkan</a:t>
            </a:r>
            <a:r>
              <a:rPr lang="en-ID" sz="1800" dirty="0"/>
              <a:t> (</a:t>
            </a:r>
            <a:r>
              <a:rPr lang="en-ID" sz="1800" dirty="0" err="1"/>
              <a:t>misalnya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konsep</a:t>
            </a:r>
            <a:r>
              <a:rPr lang="en-ID" sz="1800" dirty="0"/>
              <a:t> </a:t>
            </a:r>
            <a:r>
              <a:rPr lang="en-ID" sz="1800" dirty="0" err="1"/>
              <a:t>mikrosel</a:t>
            </a:r>
            <a:r>
              <a:rPr lang="en-ID" sz="1800" dirty="0"/>
              <a:t> dan </a:t>
            </a:r>
            <a:r>
              <a:rPr lang="en-ID" sz="1800" dirty="0" err="1"/>
              <a:t>teknik</a:t>
            </a:r>
            <a:r>
              <a:rPr lang="en-ID" sz="1800" dirty="0"/>
              <a:t> frequency reuse).</a:t>
            </a:r>
          </a:p>
          <a:p>
            <a:pPr algn="just"/>
            <a:r>
              <a:rPr lang="en-ID" sz="1800" dirty="0" err="1"/>
              <a:t>Mudah</a:t>
            </a:r>
            <a:r>
              <a:rPr lang="en-ID" sz="1800" dirty="0"/>
              <a:t> &amp; </a:t>
            </a:r>
            <a:r>
              <a:rPr lang="en-ID" sz="1800" dirty="0" err="1"/>
              <a:t>murah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direlokasi</a:t>
            </a:r>
            <a:r>
              <a:rPr lang="en-ID" sz="1800" dirty="0"/>
              <a:t> dan </a:t>
            </a:r>
            <a:r>
              <a:rPr lang="en-ID" sz="1800" dirty="0" err="1"/>
              <a:t>mendukung</a:t>
            </a:r>
            <a:r>
              <a:rPr lang="en-ID" sz="1800" dirty="0"/>
              <a:t> </a:t>
            </a:r>
            <a:r>
              <a:rPr lang="en-ID" sz="1800" dirty="0" err="1"/>
              <a:t>fleksibilitas</a:t>
            </a:r>
            <a:r>
              <a:rPr lang="en-ID" sz="1800" dirty="0"/>
              <a:t>.</a:t>
            </a:r>
          </a:p>
          <a:p>
            <a:pPr algn="just"/>
            <a:r>
              <a:rPr lang="en-ID" sz="1800" dirty="0" err="1"/>
              <a:t>Koneksi</a:t>
            </a:r>
            <a:r>
              <a:rPr lang="en-ID" sz="1800" dirty="0"/>
              <a:t> Internet </a:t>
            </a:r>
            <a:r>
              <a:rPr lang="en-ID" sz="1800" dirty="0" err="1"/>
              <a:t>akses</a:t>
            </a:r>
            <a:r>
              <a:rPr lang="en-ID" sz="1800" dirty="0"/>
              <a:t> 24 jam, </a:t>
            </a:r>
            <a:r>
              <a:rPr lang="en-ID" sz="1800" dirty="0" err="1"/>
              <a:t>aksesnya</a:t>
            </a:r>
            <a:r>
              <a:rPr lang="en-ID" sz="1800" dirty="0"/>
              <a:t> yang </a:t>
            </a:r>
            <a:r>
              <a:rPr lang="en-ID" sz="1800" dirty="0" err="1"/>
              <a:t>cepat</a:t>
            </a:r>
            <a:r>
              <a:rPr lang="en-ID" sz="1800" dirty="0"/>
              <a:t>, dan </a:t>
            </a:r>
            <a:r>
              <a:rPr lang="en-ID" sz="1800" dirty="0" err="1"/>
              <a:t>bebas</a:t>
            </a:r>
            <a:r>
              <a:rPr lang="en-ID" sz="1800" dirty="0"/>
              <a:t> </a:t>
            </a:r>
            <a:r>
              <a:rPr lang="en-ID" sz="1800" dirty="0" err="1"/>
              <a:t>pulsa</a:t>
            </a:r>
            <a:r>
              <a:rPr lang="en-ID" sz="1800" dirty="0"/>
              <a:t> </a:t>
            </a:r>
            <a:r>
              <a:rPr lang="en-ID" sz="1800" dirty="0" err="1"/>
              <a:t>telpon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4699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7340" y="1080262"/>
            <a:ext cx="301328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1.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22452" y="1080262"/>
            <a:ext cx="4968748" cy="5091938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3110" algn="just">
              <a:lnSpc>
                <a:spcPts val="2500"/>
              </a:lnSpc>
            </a:pPr>
            <a:r>
              <a:rPr sz="2400" b="1" spc="-7" dirty="0">
                <a:solidFill>
                  <a:schemeClr val="bg1"/>
                </a:solidFill>
                <a:latin typeface="Calibri"/>
                <a:cs typeface="Calibri"/>
              </a:rPr>
              <a:t>Panjang Gelombang (Wavelength)</a:t>
            </a:r>
            <a:endParaRPr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99995"/>
              </a:lnSpc>
              <a:spcBef>
                <a:spcPts val="440"/>
              </a:spcBef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Adal</a:t>
            </a:r>
            <a:r>
              <a:rPr sz="2400" spc="4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h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ja</a:t>
            </a:r>
            <a:r>
              <a:rPr sz="2400" spc="-39" dirty="0">
                <a:solidFill>
                  <a:schemeClr val="bg1"/>
                </a:solidFill>
                <a:latin typeface="Calibri"/>
                <a:cs typeface="Calibri"/>
              </a:rPr>
              <a:t>r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ak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chemeClr val="bg1"/>
                </a:solidFill>
                <a:latin typeface="Calibri"/>
                <a:cs typeface="Calibri"/>
              </a:rPr>
              <a:t>nt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ar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1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ujung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pun</a:t>
            </a:r>
            <a:r>
              <a:rPr sz="2400" spc="-25" dirty="0" err="1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ak</a:t>
            </a:r>
            <a:r>
              <a:rPr lang="en-US"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25" dirty="0" err="1">
                <a:solidFill>
                  <a:schemeClr val="bg1"/>
                </a:solidFill>
                <a:latin typeface="Calibri"/>
                <a:cs typeface="Calibri"/>
              </a:rPr>
              <a:t>g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elombang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 den</a:t>
            </a:r>
            <a:r>
              <a:rPr sz="2400" spc="-44" dirty="0">
                <a:solidFill>
                  <a:schemeClr val="bg1"/>
                </a:solidFill>
                <a:latin typeface="Calibri"/>
                <a:cs typeface="Calibri"/>
              </a:rPr>
              <a:t>g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an pun</a:t>
            </a:r>
            <a:r>
              <a:rPr sz="2400" spc="-19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ak lain</a:t>
            </a:r>
            <a:r>
              <a:rPr sz="2400" spc="-44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2400" spc="-29" dirty="0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se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39" dirty="0">
                <a:solidFill>
                  <a:schemeClr val="bg1"/>
                </a:solidFill>
                <a:latin typeface="Calibri"/>
                <a:cs typeface="Calibri"/>
              </a:rPr>
              <a:t>r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hori</a:t>
            </a:r>
            <a:r>
              <a:rPr sz="2400" spc="-50" dirty="0">
                <a:solidFill>
                  <a:schemeClr val="bg1"/>
                </a:solidFill>
                <a:latin typeface="Calibri"/>
                <a:cs typeface="Calibri"/>
              </a:rPr>
              <a:t>z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2400" spc="-29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2400" spc="-25" dirty="0">
                <a:solidFill>
                  <a:schemeClr val="bg1"/>
                </a:solidFill>
                <a:latin typeface="Calibri"/>
                <a:cs typeface="Calibri"/>
              </a:rPr>
              <a:t>t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al.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Gelombang adalah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si</a:t>
            </a:r>
            <a:r>
              <a:rPr sz="2400" spc="-50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2400" spc="-29" dirty="0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al sinus.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Si</a:t>
            </a:r>
            <a:r>
              <a:rPr sz="2400" spc="-50" dirty="0" err="1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2400" spc="-29" dirty="0" err="1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al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ini 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chemeClr val="bg1"/>
                </a:solidFill>
                <a:latin typeface="Calibri"/>
                <a:cs typeface="Calibri"/>
              </a:rPr>
              <a:t>w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al</a:t>
            </a:r>
            <a:r>
              <a:rPr sz="2400" spc="-44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2400" spc="-29" dirty="0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2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dimulai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seba</a:t>
            </a:r>
            <a:r>
              <a:rPr sz="2400" spc="-44" dirty="0">
                <a:solidFill>
                  <a:schemeClr val="bg1"/>
                </a:solidFill>
                <a:latin typeface="Calibri"/>
                <a:cs typeface="Calibri"/>
              </a:rPr>
              <a:t>g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ai si</a:t>
            </a:r>
            <a:r>
              <a:rPr sz="2400" spc="-50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2400" spc="-29" dirty="0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al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A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29" dirty="0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ang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di </a:t>
            </a:r>
            <a:r>
              <a:rPr sz="2400" spc="-29" dirty="0">
                <a:solidFill>
                  <a:schemeClr val="bg1"/>
                </a:solidFill>
                <a:latin typeface="Calibri"/>
                <a:cs typeface="Calibri"/>
              </a:rPr>
              <a:t>g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en</a:t>
            </a:r>
            <a:r>
              <a:rPr sz="2400" spc="9" dirty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sz="2400" spc="-44" dirty="0">
                <a:solidFill>
                  <a:schemeClr val="bg1"/>
                </a:solidFill>
                <a:latin typeface="Calibri"/>
                <a:cs typeface="Calibri"/>
              </a:rPr>
              <a:t>r</a:t>
            </a:r>
            <a:r>
              <a:rPr sz="2400" spc="-19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chemeClr val="bg1"/>
                </a:solidFill>
                <a:latin typeface="Calibri"/>
                <a:cs typeface="Calibri"/>
              </a:rPr>
              <a:t>t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oleh t</a:t>
            </a:r>
            <a:r>
              <a:rPr sz="2400" spc="-44" dirty="0">
                <a:solidFill>
                  <a:schemeClr val="bg1"/>
                </a:solidFill>
                <a:latin typeface="Calibri"/>
                <a:cs typeface="Calibri"/>
              </a:rPr>
              <a:t>r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ansmi</a:t>
            </a:r>
            <a:r>
              <a:rPr sz="2400" spc="-19" dirty="0">
                <a:solidFill>
                  <a:schemeClr val="bg1"/>
                </a:solidFill>
                <a:latin typeface="Calibri"/>
                <a:cs typeface="Calibri"/>
              </a:rPr>
              <a:t>t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er/p</a:t>
            </a:r>
            <a:r>
              <a:rPr sz="2400" spc="9" dirty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man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ar</a:t>
            </a:r>
            <a:r>
              <a:rPr sz="2400" spc="-3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dikirim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9" dirty="0">
                <a:solidFill>
                  <a:schemeClr val="bg1"/>
                </a:solidFill>
                <a:latin typeface="Calibri"/>
                <a:cs typeface="Calibri"/>
              </a:rPr>
              <a:t>k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chemeClr val="bg1"/>
                </a:solidFill>
                <a:latin typeface="Calibri"/>
                <a:cs typeface="Calibri"/>
              </a:rPr>
              <a:t>nt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en</a:t>
            </a:r>
            <a:r>
              <a:rPr sz="2400" spc="4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, lalu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dimana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di</a:t>
            </a:r>
            <a:r>
              <a:rPr sz="2400" spc="-44" dirty="0">
                <a:solidFill>
                  <a:schemeClr val="bg1"/>
                </a:solidFill>
                <a:latin typeface="Calibri"/>
                <a:cs typeface="Calibri"/>
              </a:rPr>
              <a:t>r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adiasi</a:t>
            </a:r>
            <a:r>
              <a:rPr sz="2400" spc="-29" dirty="0">
                <a:solidFill>
                  <a:schemeClr val="bg1"/>
                </a:solidFill>
                <a:latin typeface="Calibri"/>
                <a:cs typeface="Calibri"/>
              </a:rPr>
              <a:t>k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an seba</a:t>
            </a:r>
            <a:r>
              <a:rPr sz="2400" spc="-44" dirty="0">
                <a:solidFill>
                  <a:schemeClr val="bg1"/>
                </a:solidFill>
                <a:latin typeface="Calibri"/>
                <a:cs typeface="Calibri"/>
              </a:rPr>
              <a:t>g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ai </a:t>
            </a:r>
            <a:r>
              <a:rPr sz="2400" spc="-25" dirty="0">
                <a:solidFill>
                  <a:schemeClr val="bg1"/>
                </a:solidFill>
                <a:latin typeface="Calibri"/>
                <a:cs typeface="Calibri"/>
              </a:rPr>
              <a:t>g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elombang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sinus.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Sel</a:t>
            </a:r>
            <a:r>
              <a:rPr sz="2400" spc="4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ma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p</a:t>
            </a:r>
            <a:r>
              <a:rPr sz="2400" spc="-34" dirty="0">
                <a:solidFill>
                  <a:schemeClr val="bg1"/>
                </a:solidFill>
                <a:latin typeface="Calibri"/>
                <a:cs typeface="Calibri"/>
              </a:rPr>
              <a:t>r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oses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ini,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14" dirty="0" err="1">
                <a:solidFill>
                  <a:schemeClr val="bg1"/>
                </a:solidFill>
                <a:latin typeface="Calibri"/>
                <a:cs typeface="Calibri"/>
              </a:rPr>
              <a:t>r</a:t>
            </a:r>
            <a:r>
              <a:rPr lang="en-US" sz="2400" spc="-19" dirty="0" err="1">
                <a:solidFill>
                  <a:schemeClr val="bg1"/>
                </a:solidFill>
                <a:latin typeface="Calibri"/>
                <a:cs typeface="Calibri"/>
              </a:rPr>
              <a:t>u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s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 mengubah med</a:t>
            </a:r>
            <a:r>
              <a:rPr sz="2400" spc="9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el</a:t>
            </a:r>
            <a:r>
              <a:rPr sz="2400" spc="9" dirty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k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t</a:t>
            </a:r>
            <a:r>
              <a:rPr sz="2400" spc="-34" dirty="0">
                <a:solidFill>
                  <a:schemeClr val="bg1"/>
                </a:solidFill>
                <a:latin typeface="Calibri"/>
                <a:cs typeface="Calibri"/>
              </a:rPr>
              <a:t>r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omagn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tik</a:t>
            </a:r>
            <a:r>
              <a:rPr sz="2400" spc="-3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diseki</a:t>
            </a:r>
            <a:r>
              <a:rPr sz="2400" spc="-19" dirty="0">
                <a:solidFill>
                  <a:schemeClr val="bg1"/>
                </a:solidFill>
                <a:latin typeface="Calibri"/>
                <a:cs typeface="Calibri"/>
              </a:rPr>
              <a:t>t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ar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chemeClr val="bg1"/>
                </a:solidFill>
                <a:latin typeface="Calibri"/>
                <a:cs typeface="Calibri"/>
              </a:rPr>
              <a:t>nt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en</a:t>
            </a:r>
            <a:r>
              <a:rPr sz="2400" spc="4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,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sehin</a:t>
            </a:r>
            <a:r>
              <a:rPr sz="2400" spc="19" dirty="0" err="1">
                <a:solidFill>
                  <a:schemeClr val="bg1"/>
                </a:solidFill>
                <a:latin typeface="Calibri"/>
                <a:cs typeface="Calibri"/>
              </a:rPr>
              <a:t>g</a:t>
            </a:r>
            <a:r>
              <a:rPr sz="2400" spc="-50" dirty="0" err="1">
                <a:solidFill>
                  <a:schemeClr val="bg1"/>
                </a:solidFill>
                <a:latin typeface="Calibri"/>
                <a:cs typeface="Calibri"/>
              </a:rPr>
              <a:t>g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alibri"/>
                <a:cs typeface="Calibri"/>
              </a:rPr>
              <a:t>an</a:t>
            </a:r>
            <a:r>
              <a:rPr sz="2400" spc="-25" dirty="0" err="1">
                <a:solidFill>
                  <a:schemeClr val="bg1"/>
                </a:solidFill>
                <a:latin typeface="Calibri"/>
                <a:cs typeface="Calibri"/>
              </a:rPr>
              <a:t>t</a:t>
            </a:r>
            <a:r>
              <a:rPr sz="2400" spc="0" dirty="0" err="1">
                <a:solidFill>
                  <a:schemeClr val="bg1"/>
                </a:solidFill>
                <a:latin typeface="Calibri"/>
                <a:cs typeface="Calibri"/>
              </a:rPr>
              <a:t>ena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 mengirim</a:t>
            </a:r>
            <a:r>
              <a:rPr sz="2400" spc="-1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si</a:t>
            </a:r>
            <a:r>
              <a:rPr sz="2400" spc="-54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2400" spc="-29" dirty="0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al</a:t>
            </a:r>
            <a:r>
              <a:rPr sz="2400" spc="-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elek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t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rik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dan mag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ne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tik.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BC74910E-A69A-4A17-BD83-6722D6E5C4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72000"/>
            <a:ext cx="2844800" cy="213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ED009B-BF77-456D-3CB5-EF9F09FD61B8}"/>
              </a:ext>
            </a:extLst>
          </p:cNvPr>
          <p:cNvSpPr txBox="1"/>
          <p:nvPr/>
        </p:nvSpPr>
        <p:spPr>
          <a:xfrm>
            <a:off x="307340" y="381000"/>
            <a:ext cx="6398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Beberapa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Istilah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dalam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Jaringan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Nirkabel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07340" y="1232662"/>
            <a:ext cx="302547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2.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348" y="1232662"/>
            <a:ext cx="8004252" cy="1501013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6042838" algn="just">
              <a:lnSpc>
                <a:spcPts val="2500"/>
              </a:lnSpc>
            </a:pP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Fre</a:t>
            </a:r>
            <a:r>
              <a:rPr lang="en-ID" sz="2400" spc="-4" dirty="0">
                <a:solidFill>
                  <a:schemeClr val="bg1"/>
                </a:solidFill>
                <a:latin typeface="Calibri"/>
                <a:cs typeface="Calibri"/>
              </a:rPr>
              <a:t>k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uensi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(Hz)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56591" algn="just">
              <a:lnSpc>
                <a:spcPct val="100097"/>
              </a:lnSpc>
              <a:spcBef>
                <a:spcPts val="438"/>
              </a:spcBef>
            </a:pP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Menentukan seberapa sering signal terlihat/muncul. Frekuensi biasa diukur dalam besaran detik, direferensikan sebagai cycle. Beberapa fakta tentang frekuensi :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2842387"/>
            <a:ext cx="164574" cy="2525471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139">
              <a:lnSpc>
                <a:spcPts val="2500"/>
              </a:lnSpc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-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139">
              <a:lnSpc>
                <a:spcPct val="101725"/>
              </a:lnSpc>
              <a:spcBef>
                <a:spcPts val="401"/>
              </a:spcBef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-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528"/>
              </a:spcBef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-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139">
              <a:lnSpc>
                <a:spcPct val="101725"/>
              </a:lnSpc>
              <a:spcBef>
                <a:spcPts val="526"/>
              </a:spcBef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-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139">
              <a:lnSpc>
                <a:spcPct val="101725"/>
              </a:lnSpc>
              <a:spcBef>
                <a:spcPts val="526"/>
              </a:spcBef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-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529"/>
              </a:spcBef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-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11784" y="2842387"/>
            <a:ext cx="6910977" cy="2525471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81584" marR="55810">
              <a:lnSpc>
                <a:spcPts val="2500"/>
              </a:lnSpc>
            </a:pP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1 cycle = 1 Hz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401"/>
              </a:spcBef>
            </a:pP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Frekuensi tinggi memiliki jangkauan jarak lebih pendek.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55810">
              <a:lnSpc>
                <a:spcPct val="101725"/>
              </a:lnSpc>
              <a:spcBef>
                <a:spcPts val="528"/>
              </a:spcBef>
            </a:pP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Frekuensi sinyal muncul 1x dalam 1 detik = 1 Hz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55810">
              <a:lnSpc>
                <a:spcPct val="101725"/>
              </a:lnSpc>
              <a:spcBef>
                <a:spcPts val="526"/>
              </a:spcBef>
            </a:pPr>
            <a:r>
              <a:rPr sz="2400" spc="-2" dirty="0">
                <a:solidFill>
                  <a:schemeClr val="bg1"/>
                </a:solidFill>
                <a:latin typeface="Calibri"/>
                <a:cs typeface="Calibri"/>
              </a:rPr>
              <a:t>10x dalam 1 detik = 10 Hz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55810">
              <a:lnSpc>
                <a:spcPct val="101725"/>
              </a:lnSpc>
              <a:spcBef>
                <a:spcPts val="526"/>
              </a:spcBef>
            </a:pPr>
            <a:r>
              <a:rPr sz="2400" spc="-2" dirty="0">
                <a:solidFill>
                  <a:schemeClr val="bg1"/>
                </a:solidFill>
                <a:latin typeface="Calibri"/>
                <a:cs typeface="Calibri"/>
              </a:rPr>
              <a:t>1 juta x dalam 1 detik = 1 MHz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55810">
              <a:lnSpc>
                <a:spcPct val="101725"/>
              </a:lnSpc>
              <a:spcBef>
                <a:spcPts val="529"/>
              </a:spcBef>
            </a:pPr>
            <a:r>
              <a:rPr sz="2400" spc="-2" dirty="0">
                <a:solidFill>
                  <a:schemeClr val="bg1"/>
                </a:solidFill>
                <a:latin typeface="Calibri"/>
                <a:cs typeface="Calibri"/>
              </a:rPr>
              <a:t>1 miliar x dalam 1 detik = 1 GHz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31140" y="1156462"/>
            <a:ext cx="301328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3.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844" y="1156462"/>
            <a:ext cx="5108956" cy="1967738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3110" algn="just">
              <a:lnSpc>
                <a:spcPts val="2500"/>
              </a:lnSpc>
            </a:pP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Amplitudo</a:t>
            </a:r>
          </a:p>
          <a:p>
            <a:pPr marL="56896" algn="just">
              <a:lnSpc>
                <a:spcPct val="100097"/>
              </a:lnSpc>
              <a:spcBef>
                <a:spcPts val="438"/>
              </a:spcBef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Adalah jarak vertikal antara satu puncak gelombang dengan gelombang lainnya. Amplitudo adalah jumlah energi yang diberikan dalam sebuah signal.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3263900"/>
            <a:ext cx="301328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4.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81615" y="3264532"/>
            <a:ext cx="7980768" cy="948563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55810">
              <a:lnSpc>
                <a:spcPts val="2500"/>
              </a:lnSpc>
            </a:pPr>
            <a:r>
              <a:rPr sz="2400" b="1" spc="-1" dirty="0">
                <a:solidFill>
                  <a:schemeClr val="bg1"/>
                </a:solidFill>
                <a:latin typeface="Calibri"/>
                <a:cs typeface="Calibri"/>
              </a:rPr>
              <a:t>Line of Sight</a:t>
            </a:r>
            <a:endParaRPr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403"/>
              </a:spcBef>
            </a:pPr>
            <a:r>
              <a:rPr sz="2400" spc="-8" dirty="0">
                <a:solidFill>
                  <a:schemeClr val="bg1"/>
                </a:solidFill>
                <a:latin typeface="Calibri"/>
                <a:cs typeface="Calibri"/>
              </a:rPr>
              <a:t>LOS merupakan garis lurus yang dapat dilihat dari transmitter ke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55810">
              <a:lnSpc>
                <a:spcPts val="2880"/>
              </a:lnSpc>
              <a:spcBef>
                <a:spcPts val="144"/>
              </a:spcBef>
            </a:pP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receiver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11" name="Picture 10" descr="Graphical user interface&#10;&#10;Description automatically generated">
            <a:extLst>
              <a:ext uri="{FF2B5EF4-FFF2-40B4-BE49-F238E27FC236}">
                <a16:creationId xmlns:a16="http://schemas.microsoft.com/office/drawing/2014/main" id="{86A21F0D-847A-4227-A1D8-FDC7E4744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674" y="4611836"/>
            <a:ext cx="6252651" cy="21024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914525" y="1905000"/>
            <a:ext cx="5314950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940" y="745363"/>
            <a:ext cx="301328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5.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9144" y="745363"/>
            <a:ext cx="1646720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Fresnel Zone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9144" y="1184275"/>
            <a:ext cx="1497143" cy="69596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8">
              <a:lnSpc>
                <a:spcPts val="2500"/>
              </a:lnSpc>
            </a:pP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Merupakan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ts val="2880"/>
              </a:lnSpc>
              <a:spcBef>
                <a:spcPts val="19"/>
              </a:spcBef>
            </a:pPr>
            <a:r>
              <a:rPr sz="2400" spc="-10" dirty="0">
                <a:solidFill>
                  <a:schemeClr val="bg1"/>
                </a:solidFill>
                <a:latin typeface="Calibri"/>
                <a:cs typeface="Calibri"/>
              </a:rPr>
              <a:t>interferensi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2360" y="1184275"/>
            <a:ext cx="3681634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2" dirty="0">
                <a:solidFill>
                  <a:schemeClr val="bg1"/>
                </a:solidFill>
                <a:latin typeface="Calibri"/>
                <a:cs typeface="Calibri"/>
              </a:rPr>
              <a:t>sebuah area di sekitar Line of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2210" y="1184275"/>
            <a:ext cx="683756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Sight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1914" y="1184275"/>
            <a:ext cx="654841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7" dirty="0">
                <a:solidFill>
                  <a:schemeClr val="bg1"/>
                </a:solidFill>
                <a:latin typeface="Calibri"/>
                <a:cs typeface="Calibri"/>
              </a:rPr>
              <a:t>yang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82662" y="1184275"/>
            <a:ext cx="1016595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12" dirty="0">
                <a:solidFill>
                  <a:schemeClr val="bg1"/>
                </a:solidFill>
                <a:latin typeface="Calibri"/>
                <a:cs typeface="Calibri"/>
              </a:rPr>
              <a:t>terkena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4188" y="1550035"/>
            <a:ext cx="553471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dari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5572" y="1550035"/>
            <a:ext cx="779839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dirty="0">
                <a:solidFill>
                  <a:schemeClr val="bg1"/>
                </a:solidFill>
                <a:latin typeface="Calibri"/>
                <a:cs typeface="Calibri"/>
              </a:rPr>
              <a:t>signal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1592" y="1550035"/>
            <a:ext cx="774057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Radio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0908" y="1550035"/>
            <a:ext cx="1337986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Frekuensi.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4876800"/>
            <a:ext cx="7520113" cy="1740027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 marR="46508">
              <a:lnSpc>
                <a:spcPts val="2105"/>
              </a:lnSpc>
            </a:pPr>
            <a:r>
              <a:rPr sz="2000" spc="-12" dirty="0">
                <a:solidFill>
                  <a:schemeClr val="bg1"/>
                </a:solidFill>
                <a:latin typeface="Calibri"/>
                <a:cs typeface="Calibri"/>
              </a:rPr>
              <a:t>Keterangan :</a:t>
            </a:r>
            <a:endParaRPr sz="20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443"/>
              </a:spcBef>
            </a:pPr>
            <a:r>
              <a:rPr sz="2000" spc="-6" dirty="0">
                <a:solidFill>
                  <a:schemeClr val="bg1"/>
                </a:solidFill>
                <a:latin typeface="Calibri"/>
                <a:cs typeface="Calibri"/>
              </a:rPr>
              <a:t>r = area yang terpengaruh dalam ukuran feet (1 m</a:t>
            </a:r>
            <a:r>
              <a:rPr lang="en-US" sz="2000" spc="-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ID" sz="2000" spc="-7" dirty="0">
                <a:solidFill>
                  <a:schemeClr val="bg1"/>
                </a:solidFill>
                <a:latin typeface="Calibri"/>
                <a:cs typeface="Calibri"/>
              </a:rPr>
              <a:t>= 3.281 feet)</a:t>
            </a:r>
            <a:endParaRPr sz="20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46508">
              <a:lnSpc>
                <a:spcPct val="101725"/>
              </a:lnSpc>
              <a:spcBef>
                <a:spcPts val="434"/>
              </a:spcBef>
            </a:pPr>
            <a:r>
              <a:rPr sz="2000" spc="-3" dirty="0">
                <a:solidFill>
                  <a:schemeClr val="bg1"/>
                </a:solidFill>
                <a:latin typeface="Calibri"/>
                <a:cs typeface="Calibri"/>
              </a:rPr>
              <a:t>f = frekuensi dalam </a:t>
            </a:r>
            <a:r>
              <a:rPr sz="2000" spc="-3" dirty="0" err="1">
                <a:solidFill>
                  <a:schemeClr val="bg1"/>
                </a:solidFill>
                <a:latin typeface="Calibri"/>
                <a:cs typeface="Calibri"/>
              </a:rPr>
              <a:t>ukuran</a:t>
            </a:r>
            <a:r>
              <a:rPr sz="2000" spc="-3" dirty="0">
                <a:solidFill>
                  <a:schemeClr val="bg1"/>
                </a:solidFill>
                <a:latin typeface="Calibri"/>
                <a:cs typeface="Calibri"/>
              </a:rPr>
              <a:t> GHz</a:t>
            </a:r>
            <a:endParaRPr lang="en-US" sz="2000" spc="-3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46508">
              <a:lnSpc>
                <a:spcPct val="101725"/>
              </a:lnSpc>
              <a:spcBef>
                <a:spcPts val="434"/>
              </a:spcBef>
            </a:pPr>
            <a:r>
              <a:rPr lang="en-US" sz="2000" spc="-3" dirty="0">
                <a:solidFill>
                  <a:schemeClr val="bg1"/>
                </a:solidFill>
                <a:latin typeface="Calibri"/>
                <a:cs typeface="Calibri"/>
              </a:rPr>
              <a:t>d = </a:t>
            </a:r>
            <a:r>
              <a:rPr lang="en-US" sz="2000" spc="-3" dirty="0" err="1">
                <a:solidFill>
                  <a:schemeClr val="bg1"/>
                </a:solidFill>
                <a:latin typeface="Calibri"/>
                <a:cs typeface="Calibri"/>
              </a:rPr>
              <a:t>arah</a:t>
            </a:r>
            <a:r>
              <a:rPr lang="en-US" sz="20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3" dirty="0" err="1">
                <a:solidFill>
                  <a:schemeClr val="bg1"/>
                </a:solidFill>
                <a:latin typeface="Calibri"/>
                <a:cs typeface="Calibri"/>
              </a:rPr>
              <a:t>antara</a:t>
            </a:r>
            <a:r>
              <a:rPr lang="en-US" sz="20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000" spc="-3" dirty="0" err="1">
                <a:solidFill>
                  <a:schemeClr val="bg1"/>
                </a:solidFill>
                <a:latin typeface="Calibri"/>
                <a:cs typeface="Calibri"/>
              </a:rPr>
              <a:t>transmiter</a:t>
            </a:r>
            <a:r>
              <a:rPr lang="en-US" sz="2000" spc="-3" dirty="0">
                <a:solidFill>
                  <a:schemeClr val="bg1"/>
                </a:solidFill>
                <a:latin typeface="Calibri"/>
                <a:cs typeface="Calibri"/>
              </a:rPr>
              <a:t> dan receiver </a:t>
            </a:r>
            <a:r>
              <a:rPr lang="en-US" sz="2000" spc="-3" dirty="0" err="1">
                <a:solidFill>
                  <a:schemeClr val="bg1"/>
                </a:solidFill>
                <a:latin typeface="Calibri"/>
                <a:cs typeface="Calibri"/>
              </a:rPr>
              <a:t>dlm</a:t>
            </a:r>
            <a:r>
              <a:rPr lang="en-US" sz="2000" spc="-3" dirty="0">
                <a:solidFill>
                  <a:schemeClr val="bg1"/>
                </a:solidFill>
                <a:latin typeface="Calibri"/>
                <a:cs typeface="Calibri"/>
              </a:rPr>
              <a:t> mile (1 mile = 1609,34 m)</a:t>
            </a:r>
            <a:endParaRPr lang="en-US" sz="20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46508">
              <a:lnSpc>
                <a:spcPct val="101725"/>
              </a:lnSpc>
              <a:spcBef>
                <a:spcPts val="434"/>
              </a:spcBef>
            </a:pPr>
            <a:endParaRPr sz="2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0445" y="5040274"/>
            <a:ext cx="1367800" cy="280212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endParaRPr sz="2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9144" y="5772023"/>
            <a:ext cx="7238678" cy="279908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endParaRPr sz="2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324100" y="5562600"/>
            <a:ext cx="4495800" cy="981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004062"/>
            <a:ext cx="301328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6.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02944" y="1004062"/>
            <a:ext cx="4683456" cy="4482338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 algn="just">
              <a:lnSpc>
                <a:spcPts val="2500"/>
              </a:lnSpc>
            </a:pPr>
            <a:r>
              <a:rPr sz="2400" spc="-8" dirty="0">
                <a:solidFill>
                  <a:schemeClr val="bg1"/>
                </a:solidFill>
                <a:latin typeface="Calibri"/>
                <a:cs typeface="Calibri"/>
              </a:rPr>
              <a:t>Free Path Loss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45720" algn="just">
              <a:lnSpc>
                <a:spcPts val="2880"/>
              </a:lnSpc>
              <a:spcBef>
                <a:spcPts val="19"/>
              </a:spcBef>
            </a:pP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Model dimana sebuah sinyal yang menjauhi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sumbernya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makin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lama akan menghilang. Ilustrasinya seperti saat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anda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menjatuhkan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2" dirty="0" err="1">
                <a:solidFill>
                  <a:schemeClr val="bg1"/>
                </a:solidFill>
                <a:latin typeface="Calibri"/>
                <a:cs typeface="Calibri"/>
              </a:rPr>
              <a:t>batu</a:t>
            </a:r>
            <a:r>
              <a:rPr sz="2400" spc="-12" dirty="0">
                <a:solidFill>
                  <a:schemeClr val="bg1"/>
                </a:solidFill>
                <a:latin typeface="Calibri"/>
                <a:cs typeface="Calibri"/>
              </a:rPr>
              <a:t> secara vertikal ke sebuah kolam air, </a:t>
            </a:r>
            <a:r>
              <a:rPr sz="2400" spc="-12" dirty="0" err="1">
                <a:solidFill>
                  <a:schemeClr val="bg1"/>
                </a:solidFill>
                <a:latin typeface="Calibri"/>
                <a:cs typeface="Calibri"/>
              </a:rPr>
              <a:t>akan</a:t>
            </a:r>
            <a:r>
              <a:rPr sz="2400" spc="-1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2" dirty="0" err="1">
                <a:solidFill>
                  <a:schemeClr val="bg1"/>
                </a:solidFill>
                <a:latin typeface="Calibri"/>
                <a:cs typeface="Calibri"/>
              </a:rPr>
              <a:t>terbentuk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gelombang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yang menjauhi titk batu dijatuhkan dan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semakin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jauh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2" dirty="0" err="1">
                <a:solidFill>
                  <a:schemeClr val="bg1"/>
                </a:solidFill>
                <a:latin typeface="Calibri"/>
                <a:cs typeface="Calibri"/>
              </a:rPr>
              <a:t>semakin</a:t>
            </a:r>
            <a:r>
              <a:rPr sz="2400" spc="-2" dirty="0">
                <a:solidFill>
                  <a:schemeClr val="bg1"/>
                </a:solidFill>
                <a:latin typeface="Calibri"/>
                <a:cs typeface="Calibri"/>
              </a:rPr>
              <a:t> menghilang, namun tidak berhenti, </a:t>
            </a:r>
            <a:r>
              <a:rPr sz="2400" spc="-2" dirty="0" err="1">
                <a:solidFill>
                  <a:schemeClr val="bg1"/>
                </a:solidFill>
                <a:latin typeface="Calibri"/>
                <a:cs typeface="Calibri"/>
              </a:rPr>
              <a:t>hanya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menghilang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. Sama halnya seperti sinyal Gelombang Radio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1981200" y="1981200"/>
            <a:ext cx="5105400" cy="1971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8340" y="470433"/>
            <a:ext cx="301905" cy="330504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7.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0245" y="470432"/>
            <a:ext cx="7944327" cy="1510767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 algn="just">
              <a:lnSpc>
                <a:spcPts val="2500"/>
              </a:lnSpc>
            </a:pP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Absorption ( Penyerapan/Peredaman </a:t>
            </a:r>
            <a:r>
              <a:rPr sz="2400" spc="-9" dirty="0" err="1">
                <a:solidFill>
                  <a:schemeClr val="bg1"/>
                </a:solidFill>
                <a:latin typeface="Calibri"/>
                <a:cs typeface="Calibri"/>
              </a:rPr>
              <a:t>Sinyal</a:t>
            </a: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ID" sz="2400" spc="-9" dirty="0">
                <a:solidFill>
                  <a:schemeClr val="bg1"/>
                </a:solidFill>
                <a:latin typeface="Calibri"/>
                <a:cs typeface="Calibri"/>
              </a:rPr>
              <a:t>)</a:t>
            </a:r>
          </a:p>
          <a:p>
            <a:pPr marL="12700" algn="just">
              <a:lnSpc>
                <a:spcPts val="2880"/>
              </a:lnSpc>
              <a:spcBef>
                <a:spcPts val="19"/>
              </a:spcBef>
            </a:pP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Seperti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diketahui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semakin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besar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Amplitudo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gelombang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(Power),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semakin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jauh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sinyal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dapat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memancar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.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Ini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dapat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menghemat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access point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dalam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menjangkau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lebih</a:t>
            </a:r>
            <a:r>
              <a:rPr lang="en-US" sz="2400" spc="-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3" dirty="0" err="1">
                <a:solidFill>
                  <a:schemeClr val="bg1"/>
                </a:solidFill>
                <a:latin typeface="Calibri"/>
                <a:cs typeface="Calibri"/>
              </a:rPr>
              <a:t>luas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90550" y="4190999"/>
            <a:ext cx="8143715" cy="2196567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 algn="just">
              <a:lnSpc>
                <a:spcPts val="2500"/>
              </a:lnSpc>
            </a:pP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Faktor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yang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mempengaruhi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transmisi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wireless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dengan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mengurangi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Amplitudo (Power) disebut Absorption (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Penyerapan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sinyal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).</a:t>
            </a:r>
            <a:r>
              <a:rPr lang="en-US" sz="2400" spc="-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Efek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 dari Penyerapan adalah panas. Masalah yang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dapat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dihadapi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ketika signal di serap seluruhnya adalah, sinyal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berhenti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" dirty="0" err="1">
                <a:solidFill>
                  <a:schemeClr val="bg1"/>
                </a:solidFill>
                <a:latin typeface="Calibri"/>
                <a:cs typeface="Calibri"/>
              </a:rPr>
              <a:t>Namun</a:t>
            </a:r>
            <a:r>
              <a:rPr sz="2400" spc="-1" dirty="0">
                <a:solidFill>
                  <a:schemeClr val="bg1"/>
                </a:solidFill>
                <a:latin typeface="Calibri"/>
                <a:cs typeface="Calibri"/>
              </a:rPr>
              <a:t> efek ini tidak </a:t>
            </a:r>
            <a:r>
              <a:rPr sz="2400" spc="-1" dirty="0" err="1">
                <a:solidFill>
                  <a:schemeClr val="bg1"/>
                </a:solidFill>
                <a:latin typeface="Calibri"/>
                <a:cs typeface="Calibri"/>
              </a:rPr>
              <a:t>mempengaruhi</a:t>
            </a:r>
            <a:r>
              <a:rPr sz="2400" spc="-1" dirty="0">
                <a:solidFill>
                  <a:schemeClr val="bg1"/>
                </a:solidFill>
                <a:latin typeface="Calibri"/>
                <a:cs typeface="Calibri"/>
              </a:rPr>
              <a:t>/</a:t>
            </a:r>
            <a:r>
              <a:rPr sz="2400" spc="-1" dirty="0" err="1">
                <a:solidFill>
                  <a:schemeClr val="bg1"/>
                </a:solidFill>
                <a:latin typeface="Calibri"/>
                <a:cs typeface="Calibri"/>
              </a:rPr>
              <a:t>merubah</a:t>
            </a:r>
            <a:r>
              <a:rPr sz="2400" spc="-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ID" sz="2400" spc="-1" dirty="0">
                <a:solidFill>
                  <a:schemeClr val="bg1"/>
                </a:solidFill>
                <a:latin typeface="Calibri"/>
                <a:cs typeface="Calibri"/>
              </a:rPr>
              <a:t>P</a:t>
            </a:r>
            <a:r>
              <a:rPr sz="2400" spc="-1" dirty="0" err="1">
                <a:solidFill>
                  <a:schemeClr val="bg1"/>
                </a:solidFill>
                <a:latin typeface="Calibri"/>
                <a:cs typeface="Calibri"/>
              </a:rPr>
              <a:t>anjang</a:t>
            </a:r>
            <a:r>
              <a:rPr lang="en-US" sz="2400" spc="-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gelombang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dan frekuensi dari sinyal tersebut.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1456" y="821563"/>
            <a:ext cx="301328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8.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02944" y="821563"/>
            <a:ext cx="8042918" cy="5085969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 algn="just">
              <a:lnSpc>
                <a:spcPts val="2500"/>
              </a:lnSpc>
            </a:pP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Pemantulan Sinyal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45720" algn="just">
              <a:lnSpc>
                <a:spcPts val="2880"/>
              </a:lnSpc>
              <a:spcBef>
                <a:spcPts val="19"/>
              </a:spcBef>
            </a:pP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Sinyal radio bisa memantul bila menemui cermin/kaca.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Biasanya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7" dirty="0" err="1">
                <a:solidFill>
                  <a:schemeClr val="bg1"/>
                </a:solidFill>
                <a:latin typeface="Calibri"/>
                <a:cs typeface="Calibri"/>
              </a:rPr>
              <a:t>banyak</a:t>
            </a:r>
            <a:r>
              <a:rPr sz="2400" spc="-7" dirty="0">
                <a:solidFill>
                  <a:schemeClr val="bg1"/>
                </a:solidFill>
                <a:latin typeface="Calibri"/>
                <a:cs typeface="Calibri"/>
              </a:rPr>
              <a:t> terjadi pada ruangan kantor yang di sekat. </a:t>
            </a:r>
            <a:r>
              <a:rPr sz="2400" spc="-7" dirty="0" err="1">
                <a:solidFill>
                  <a:schemeClr val="bg1"/>
                </a:solidFill>
                <a:latin typeface="Calibri"/>
                <a:cs typeface="Calibri"/>
              </a:rPr>
              <a:t>Pemantulan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pun tergantung dari frekuensi signalnya. Ada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beberapa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frekuensi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yang tidak terpengaruh sebanyak frekuensi yang lainnya. Dan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salah satu efek dari pemantulan sinyal ini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adalah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terjadinya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" dirty="0">
                <a:solidFill>
                  <a:schemeClr val="bg1"/>
                </a:solidFill>
                <a:latin typeface="Calibri"/>
                <a:cs typeface="Calibri"/>
              </a:rPr>
              <a:t>Multipath.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45720" algn="just">
              <a:lnSpc>
                <a:spcPts val="2885"/>
              </a:lnSpc>
              <a:spcBef>
                <a:spcPts val="0"/>
              </a:spcBef>
            </a:pP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Multipath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artinya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sin</a:t>
            </a:r>
            <a:r>
              <a:rPr lang="en-US" sz="2400" spc="-5" dirty="0" err="1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al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 datang dari 2 arah yang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berbeda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Karakteristiknya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 adalah penerima kemungkinan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menerima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 signal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yang sama beberapa kali dari arah yang berbeda.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Ini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tergantung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dari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panjang gelombang dan posisi penerima.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Karakteristik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lainnya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adal</a:t>
            </a:r>
            <a:r>
              <a:rPr lang="en-US" sz="2400" spc="-6" dirty="0" err="1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h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 Multipath dapat menyebabkan sinyal yang =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nol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,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artinya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 saling membatalkan, atau dikenal dengan istilah Out Of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0" dirty="0">
                <a:solidFill>
                  <a:schemeClr val="bg1"/>
                </a:solidFill>
                <a:latin typeface="Calibri"/>
                <a:cs typeface="Calibri"/>
              </a:rPr>
              <a:t>Phase signal.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D00C61C-96C5-DDEF-2423-70651FF03BA7}"/>
              </a:ext>
            </a:extLst>
          </p:cNvPr>
          <p:cNvSpPr txBox="1"/>
          <p:nvPr/>
        </p:nvSpPr>
        <p:spPr>
          <a:xfrm>
            <a:off x="501616" y="3034347"/>
            <a:ext cx="301328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9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2392629" y="2550312"/>
            <a:ext cx="4457700" cy="19973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7200" y="622833"/>
            <a:ext cx="456235" cy="330504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10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0441" y="622832"/>
            <a:ext cx="8007836" cy="1891767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>
              <a:lnSpc>
                <a:spcPts val="2500"/>
              </a:lnSpc>
            </a:pPr>
            <a:r>
              <a:rPr sz="2400" spc="-9" dirty="0">
                <a:solidFill>
                  <a:schemeClr val="bg1"/>
                </a:solidFill>
                <a:latin typeface="Calibri"/>
                <a:cs typeface="Calibri"/>
              </a:rPr>
              <a:t>Pemecahan Sinyal / Scattering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45720" algn="just">
              <a:lnSpc>
                <a:spcPts val="2880"/>
              </a:lnSpc>
              <a:spcBef>
                <a:spcPts val="19"/>
              </a:spcBef>
            </a:pP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Isu dari pemecahan sinyal terjadi saat sinyal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dikirim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dalam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banyak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arah. Hal ini dapat disebabkan oleh beberapa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objek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yang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dapat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memantulkan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signal dan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ujung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yang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lancip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seperti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partikel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debu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 di air dan </a:t>
            </a:r>
            <a:r>
              <a:rPr lang="en-US" sz="2400" spc="-4" dirty="0" err="1">
                <a:solidFill>
                  <a:schemeClr val="bg1"/>
                </a:solidFill>
                <a:latin typeface="Calibri"/>
                <a:cs typeface="Calibri"/>
              </a:rPr>
              <a:t>udara</a:t>
            </a:r>
            <a:r>
              <a:rPr lang="en-US" sz="2400" spc="-4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80440" y="4648200"/>
            <a:ext cx="7882559" cy="1997335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 algn="just">
              <a:lnSpc>
                <a:spcPts val="2500"/>
              </a:lnSpc>
            </a:pPr>
            <a:r>
              <a:rPr lang="en-US" sz="2400" spc="-12" dirty="0" err="1">
                <a:solidFill>
                  <a:schemeClr val="bg1"/>
                </a:solidFill>
                <a:latin typeface="Calibri"/>
                <a:cs typeface="Calibri"/>
              </a:rPr>
              <a:t>Ilustrasinya</a:t>
            </a:r>
            <a:r>
              <a:rPr lang="en-US" sz="2400" spc="-1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12" dirty="0" err="1">
                <a:solidFill>
                  <a:schemeClr val="bg1"/>
                </a:solidFill>
                <a:latin typeface="Calibri"/>
                <a:cs typeface="Calibri"/>
              </a:rPr>
              <a:t>adalah</a:t>
            </a:r>
            <a:r>
              <a:rPr lang="en-US" sz="2400" spc="-1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12" dirty="0" err="1">
                <a:solidFill>
                  <a:schemeClr val="bg1"/>
                </a:solidFill>
                <a:latin typeface="Calibri"/>
                <a:cs typeface="Calibri"/>
              </a:rPr>
              <a:t>menyinari</a:t>
            </a:r>
            <a:r>
              <a:rPr lang="en-US" sz="2400" spc="-1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12" dirty="0" err="1">
                <a:solidFill>
                  <a:schemeClr val="bg1"/>
                </a:solidFill>
                <a:latin typeface="Calibri"/>
                <a:cs typeface="Calibri"/>
              </a:rPr>
              <a:t>lampu</a:t>
            </a:r>
            <a:r>
              <a:rPr lang="en-US" sz="2400" spc="-1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12" dirty="0" err="1">
                <a:solidFill>
                  <a:schemeClr val="bg1"/>
                </a:solidFill>
                <a:latin typeface="Calibri"/>
                <a:cs typeface="Calibri"/>
              </a:rPr>
              <a:t>ke</a:t>
            </a:r>
            <a:r>
              <a:rPr lang="en-US" sz="2400" spc="-1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12" dirty="0" err="1">
                <a:solidFill>
                  <a:schemeClr val="bg1"/>
                </a:solidFill>
                <a:latin typeface="Calibri"/>
                <a:cs typeface="Calibri"/>
              </a:rPr>
              <a:t>pecahan</a:t>
            </a:r>
            <a:r>
              <a:rPr lang="en-US" sz="2400" spc="-1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400" spc="-12" dirty="0" err="1">
                <a:solidFill>
                  <a:schemeClr val="bg1"/>
                </a:solidFill>
                <a:latin typeface="Calibri"/>
                <a:cs typeface="Calibri"/>
              </a:rPr>
              <a:t>kaca</a:t>
            </a:r>
            <a:r>
              <a:rPr lang="en-US" sz="2400" spc="-12" dirty="0">
                <a:solidFill>
                  <a:schemeClr val="bg1"/>
                </a:solidFill>
                <a:latin typeface="Calibri"/>
                <a:cs typeface="Calibri"/>
              </a:rPr>
              <a:t>. </a:t>
            </a:r>
            <a:r>
              <a:rPr lang="en-US" sz="2400" spc="-12" dirty="0" err="1">
                <a:solidFill>
                  <a:schemeClr val="bg1"/>
                </a:solidFill>
                <a:latin typeface="Calibri"/>
                <a:cs typeface="Calibri"/>
              </a:rPr>
              <a:t>Cahaya</a:t>
            </a:r>
            <a:r>
              <a:rPr lang="en-US" sz="2400" spc="-1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2" dirty="0" err="1">
                <a:solidFill>
                  <a:schemeClr val="bg1"/>
                </a:solidFill>
                <a:latin typeface="Calibri"/>
                <a:cs typeface="Calibri"/>
              </a:rPr>
              <a:t>akan</a:t>
            </a:r>
            <a:r>
              <a:rPr sz="2400" spc="-12" dirty="0">
                <a:solidFill>
                  <a:schemeClr val="bg1"/>
                </a:solidFill>
                <a:latin typeface="Calibri"/>
                <a:cs typeface="Calibri"/>
              </a:rPr>
              <a:t> dipantulkan ke banyak arah dan menyebar. </a:t>
            </a:r>
            <a:r>
              <a:rPr sz="2400" spc="-12" dirty="0" err="1">
                <a:solidFill>
                  <a:schemeClr val="bg1"/>
                </a:solidFill>
                <a:latin typeface="Calibri"/>
                <a:cs typeface="Calibri"/>
              </a:rPr>
              <a:t>Dalam</a:t>
            </a:r>
            <a:r>
              <a:rPr sz="2400" spc="-1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2" dirty="0" err="1">
                <a:solidFill>
                  <a:schemeClr val="bg1"/>
                </a:solidFill>
                <a:latin typeface="Calibri"/>
                <a:cs typeface="Calibri"/>
              </a:rPr>
              <a:t>skala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besar</a:t>
            </a:r>
            <a:r>
              <a:rPr sz="2400" spc="-3" dirty="0">
                <a:solidFill>
                  <a:schemeClr val="bg1"/>
                </a:solidFill>
                <a:latin typeface="Calibri"/>
                <a:cs typeface="Calibri"/>
              </a:rPr>
              <a:t> adalah bayangkan saat cuaca hujan. Hujan yang </a:t>
            </a:r>
            <a:r>
              <a:rPr sz="2400" spc="-3" dirty="0" err="1">
                <a:solidFill>
                  <a:schemeClr val="bg1"/>
                </a:solidFill>
                <a:latin typeface="Calibri"/>
                <a:cs typeface="Calibri"/>
              </a:rPr>
              <a:t>besar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7" dirty="0" err="1">
                <a:solidFill>
                  <a:schemeClr val="bg1"/>
                </a:solidFill>
                <a:latin typeface="Calibri"/>
                <a:cs typeface="Calibri"/>
              </a:rPr>
              <a:t>mempunyai</a:t>
            </a:r>
            <a:r>
              <a:rPr sz="2400" spc="-7" dirty="0">
                <a:solidFill>
                  <a:schemeClr val="bg1"/>
                </a:solidFill>
                <a:latin typeface="Calibri"/>
                <a:cs typeface="Calibri"/>
              </a:rPr>
              <a:t> kemampuan memantulkan sinyal. </a:t>
            </a:r>
            <a:r>
              <a:rPr lang="en-US" sz="2400" spc="-7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2400" spc="-7" dirty="0">
                <a:solidFill>
                  <a:schemeClr val="bg1"/>
                </a:solidFill>
                <a:latin typeface="Calibri"/>
                <a:cs typeface="Calibri"/>
              </a:rPr>
              <a:t>leh </a:t>
            </a:r>
            <a:r>
              <a:rPr sz="2400" spc="-7" dirty="0" err="1">
                <a:solidFill>
                  <a:schemeClr val="bg1"/>
                </a:solidFill>
                <a:latin typeface="Calibri"/>
                <a:cs typeface="Calibri"/>
              </a:rPr>
              <a:t>karena</a:t>
            </a:r>
            <a:r>
              <a:rPr sz="2400" spc="-7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7" dirty="0" err="1">
                <a:solidFill>
                  <a:schemeClr val="bg1"/>
                </a:solidFill>
                <a:latin typeface="Calibri"/>
                <a:cs typeface="Calibri"/>
              </a:rPr>
              <a:t>itu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disaat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Hujan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, sinyal wireless dapat terganggu.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600200" y="3962400"/>
            <a:ext cx="6172200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algn="just"/>
            <a:endParaRPr>
              <a:solidFill>
                <a:schemeClr val="bg1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2140" y="927862"/>
            <a:ext cx="4950460" cy="2958338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 algn="just">
              <a:lnSpc>
                <a:spcPts val="2500"/>
              </a:lnSpc>
            </a:pPr>
            <a:r>
              <a:rPr sz="2400" spc="-8" dirty="0">
                <a:solidFill>
                  <a:schemeClr val="bg1"/>
                </a:solidFill>
                <a:latin typeface="Calibri"/>
                <a:cs typeface="Calibri"/>
              </a:rPr>
              <a:t>10.Pembelokan Sinyal / Refraction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55904" algn="just">
              <a:lnSpc>
                <a:spcPts val="2880"/>
              </a:lnSpc>
              <a:spcBef>
                <a:spcPts val="19"/>
              </a:spcBef>
            </a:pP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Refraction adalah perubahan arah, atau pembelokan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dari</a:t>
            </a:r>
            <a:r>
              <a:rPr sz="24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chemeClr val="bg1"/>
                </a:solidFill>
                <a:latin typeface="Calibri"/>
                <a:cs typeface="Calibri"/>
              </a:rPr>
              <a:t>sinyal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disaat</a:t>
            </a: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 sinyal melewati sesuatu yang beda massanya. </a:t>
            </a:r>
            <a:r>
              <a:rPr sz="2400" spc="-6" dirty="0" err="1">
                <a:solidFill>
                  <a:schemeClr val="bg1"/>
                </a:solidFill>
                <a:latin typeface="Calibri"/>
                <a:cs typeface="Calibri"/>
              </a:rPr>
              <a:t>Sebagai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2" dirty="0" err="1">
                <a:solidFill>
                  <a:schemeClr val="bg1"/>
                </a:solidFill>
                <a:latin typeface="Calibri"/>
                <a:cs typeface="Calibri"/>
              </a:rPr>
              <a:t>contoh</a:t>
            </a:r>
            <a:r>
              <a:rPr sz="2400" spc="-12" dirty="0">
                <a:solidFill>
                  <a:schemeClr val="bg1"/>
                </a:solidFill>
                <a:latin typeface="Calibri"/>
                <a:cs typeface="Calibri"/>
              </a:rPr>
              <a:t> sinyal yang melewati segelas air. Sinyal ada yang di</a:t>
            </a:r>
            <a:r>
              <a:rPr lang="en-US" sz="2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4" dirty="0" err="1">
                <a:solidFill>
                  <a:schemeClr val="bg1"/>
                </a:solidFill>
                <a:latin typeface="Calibri"/>
                <a:cs typeface="Calibri"/>
              </a:rPr>
              <a:t>pantulkan</a:t>
            </a:r>
            <a:r>
              <a:rPr sz="2400" spc="-4" dirty="0">
                <a:solidFill>
                  <a:schemeClr val="bg1"/>
                </a:solidFill>
                <a:latin typeface="Calibri"/>
                <a:cs typeface="Calibri"/>
              </a:rPr>
              <a:t> dan ada yang dibelokkan.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7341" y="1232662"/>
            <a:ext cx="5941060" cy="5015738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55810" algn="just">
              <a:lnSpc>
                <a:spcPts val="2500"/>
              </a:lnSpc>
            </a:pPr>
            <a:r>
              <a:rPr sz="2400" spc="-6" dirty="0">
                <a:solidFill>
                  <a:schemeClr val="bg1"/>
                </a:solidFill>
                <a:latin typeface="Calibri"/>
                <a:cs typeface="Calibri"/>
              </a:rPr>
              <a:t>11. Receiver Signal Strength Indicator (RSSI)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47675" algn="just">
              <a:lnSpc>
                <a:spcPct val="101725"/>
              </a:lnSpc>
              <a:spcBef>
                <a:spcPts val="401"/>
              </a:spcBef>
            </a:pPr>
            <a:r>
              <a:rPr lang="en-ID" sz="2400" b="1" dirty="0">
                <a:solidFill>
                  <a:schemeClr val="bg1"/>
                </a:solidFill>
              </a:rPr>
              <a:t>RSSI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adalah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istilah</a:t>
            </a:r>
            <a:r>
              <a:rPr lang="en-ID" sz="2400" dirty="0">
                <a:solidFill>
                  <a:schemeClr val="bg1"/>
                </a:solidFill>
              </a:rPr>
              <a:t> yang </a:t>
            </a:r>
            <a:r>
              <a:rPr lang="en-ID" sz="2400" dirty="0" err="1">
                <a:solidFill>
                  <a:schemeClr val="bg1"/>
                </a:solidFill>
              </a:rPr>
              <a:t>digunakan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untuk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mengukur</a:t>
            </a:r>
            <a:r>
              <a:rPr lang="en-ID" sz="2400" dirty="0">
                <a:solidFill>
                  <a:schemeClr val="bg1"/>
                </a:solidFill>
              </a:rPr>
              <a:t> </a:t>
            </a:r>
            <a:r>
              <a:rPr lang="en-ID" sz="2400" b="1" dirty="0" err="1">
                <a:solidFill>
                  <a:schemeClr val="bg1"/>
                </a:solidFill>
              </a:rPr>
              <a:t>kualitas</a:t>
            </a:r>
            <a:r>
              <a:rPr lang="en-ID" sz="2400" dirty="0">
                <a:solidFill>
                  <a:schemeClr val="bg1"/>
                </a:solidFill>
              </a:rPr>
              <a:t> </a:t>
            </a:r>
            <a:r>
              <a:rPr lang="en-ID" sz="2400" dirty="0" err="1">
                <a:solidFill>
                  <a:schemeClr val="bg1"/>
                </a:solidFill>
              </a:rPr>
              <a:t>relatif</a:t>
            </a:r>
            <a:r>
              <a:rPr lang="en-ID" sz="2400" dirty="0">
                <a:solidFill>
                  <a:schemeClr val="bg1"/>
                </a:solidFill>
              </a:rPr>
              <a:t> </a:t>
            </a:r>
            <a:r>
              <a:rPr lang="en-ID" sz="2400" dirty="0" err="1">
                <a:solidFill>
                  <a:schemeClr val="bg1"/>
                </a:solidFill>
              </a:rPr>
              <a:t>dari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sinyal</a:t>
            </a:r>
            <a:r>
              <a:rPr lang="en-ID" sz="2400" dirty="0">
                <a:solidFill>
                  <a:schemeClr val="bg1"/>
                </a:solidFill>
              </a:rPr>
              <a:t> yang </a:t>
            </a:r>
            <a:r>
              <a:rPr lang="en-ID" sz="2400" dirty="0" err="1">
                <a:solidFill>
                  <a:schemeClr val="bg1"/>
                </a:solidFill>
              </a:rPr>
              <a:t>diterima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ke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perangkat</a:t>
            </a:r>
            <a:r>
              <a:rPr lang="en-ID" sz="2400" dirty="0">
                <a:solidFill>
                  <a:schemeClr val="bg1"/>
                </a:solidFill>
              </a:rPr>
              <a:t>, </a:t>
            </a:r>
            <a:r>
              <a:rPr lang="en-ID" sz="2400" dirty="0" err="1">
                <a:solidFill>
                  <a:schemeClr val="bg1"/>
                </a:solidFill>
              </a:rPr>
              <a:t>tetapi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tidak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memiliki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nilai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absolut</a:t>
            </a:r>
            <a:r>
              <a:rPr lang="en-ID" sz="2400" dirty="0">
                <a:solidFill>
                  <a:schemeClr val="bg1"/>
                </a:solidFill>
              </a:rPr>
              <a:t>. </a:t>
            </a:r>
          </a:p>
          <a:p>
            <a:pPr marL="447675" algn="just">
              <a:lnSpc>
                <a:spcPct val="101725"/>
              </a:lnSpc>
              <a:spcBef>
                <a:spcPts val="401"/>
              </a:spcBef>
            </a:pPr>
            <a:r>
              <a:rPr lang="en-ID" sz="2400" dirty="0" err="1">
                <a:solidFill>
                  <a:schemeClr val="bg1"/>
                </a:solidFill>
              </a:rPr>
              <a:t>Standar</a:t>
            </a:r>
            <a:r>
              <a:rPr lang="en-ID" sz="2400" dirty="0">
                <a:solidFill>
                  <a:schemeClr val="bg1"/>
                </a:solidFill>
              </a:rPr>
              <a:t> IEEE 802.11 </a:t>
            </a:r>
            <a:r>
              <a:rPr lang="en-ID" sz="2400" dirty="0" err="1">
                <a:solidFill>
                  <a:schemeClr val="bg1"/>
                </a:solidFill>
              </a:rPr>
              <a:t>menetapkan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bahwa</a:t>
            </a:r>
            <a:r>
              <a:rPr lang="en-ID" sz="2400" dirty="0">
                <a:solidFill>
                  <a:schemeClr val="bg1"/>
                </a:solidFill>
              </a:rPr>
              <a:t> RSSI </a:t>
            </a:r>
            <a:r>
              <a:rPr lang="en-ID" sz="2400" dirty="0" err="1">
                <a:solidFill>
                  <a:schemeClr val="bg1"/>
                </a:solidFill>
              </a:rPr>
              <a:t>dapat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dalam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skala</a:t>
            </a:r>
            <a:r>
              <a:rPr lang="en-ID" sz="2400" dirty="0">
                <a:solidFill>
                  <a:schemeClr val="bg1"/>
                </a:solidFill>
              </a:rPr>
              <a:t> 0 </a:t>
            </a:r>
            <a:r>
              <a:rPr lang="en-ID" sz="2400" dirty="0" err="1">
                <a:solidFill>
                  <a:schemeClr val="bg1"/>
                </a:solidFill>
              </a:rPr>
              <a:t>sampai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dengan</a:t>
            </a:r>
            <a:r>
              <a:rPr lang="en-ID" sz="2400" dirty="0">
                <a:solidFill>
                  <a:schemeClr val="bg1"/>
                </a:solidFill>
              </a:rPr>
              <a:t> 255 dan </a:t>
            </a:r>
            <a:r>
              <a:rPr lang="en-ID" sz="2400" dirty="0" err="1">
                <a:solidFill>
                  <a:schemeClr val="bg1"/>
                </a:solidFill>
              </a:rPr>
              <a:t>bahwa</a:t>
            </a:r>
            <a:r>
              <a:rPr lang="en-ID" sz="2400" dirty="0">
                <a:solidFill>
                  <a:schemeClr val="bg1"/>
                </a:solidFill>
              </a:rPr>
              <a:t> masing-masing </a:t>
            </a:r>
            <a:r>
              <a:rPr lang="en-ID" sz="2400" dirty="0" err="1">
                <a:solidFill>
                  <a:schemeClr val="bg1"/>
                </a:solidFill>
              </a:rPr>
              <a:t>produsen</a:t>
            </a:r>
            <a:r>
              <a:rPr lang="en-ID" sz="2400" dirty="0">
                <a:solidFill>
                  <a:schemeClr val="bg1"/>
                </a:solidFill>
              </a:rPr>
              <a:t> chipset </a:t>
            </a:r>
            <a:r>
              <a:rPr lang="en-ID" sz="2400" dirty="0" err="1">
                <a:solidFill>
                  <a:schemeClr val="bg1"/>
                </a:solidFill>
              </a:rPr>
              <a:t>dapat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menentukan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nilai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maksimumnya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dia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sendiri</a:t>
            </a:r>
            <a:r>
              <a:rPr lang="en-ID" sz="2400" dirty="0">
                <a:solidFill>
                  <a:schemeClr val="bg1"/>
                </a:solidFill>
              </a:rPr>
              <a:t>. </a:t>
            </a:r>
            <a:r>
              <a:rPr lang="en-ID" sz="2400" dirty="0" err="1">
                <a:solidFill>
                  <a:schemeClr val="bg1"/>
                </a:solidFill>
              </a:rPr>
              <a:t>Misalnya</a:t>
            </a:r>
            <a:r>
              <a:rPr lang="en-ID" sz="2400" dirty="0">
                <a:solidFill>
                  <a:schemeClr val="bg1"/>
                </a:solidFill>
              </a:rPr>
              <a:t> salah </a:t>
            </a:r>
            <a:r>
              <a:rPr lang="en-ID" sz="2400" dirty="0" err="1">
                <a:solidFill>
                  <a:schemeClr val="bg1"/>
                </a:solidFill>
              </a:rPr>
              <a:t>satu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perusahaan</a:t>
            </a:r>
            <a:r>
              <a:rPr lang="en-ID" sz="2400" dirty="0">
                <a:solidFill>
                  <a:schemeClr val="bg1"/>
                </a:solidFill>
              </a:rPr>
              <a:t> network card </a:t>
            </a:r>
            <a:r>
              <a:rPr lang="en-ID" sz="2400" dirty="0" err="1">
                <a:solidFill>
                  <a:schemeClr val="bg1"/>
                </a:solidFill>
              </a:rPr>
              <a:t>menggunakan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skala</a:t>
            </a:r>
            <a:r>
              <a:rPr lang="en-ID" sz="2400" dirty="0">
                <a:solidFill>
                  <a:schemeClr val="bg1"/>
                </a:solidFill>
              </a:rPr>
              <a:t> 0-100, </a:t>
            </a:r>
            <a:r>
              <a:rPr lang="en-ID" sz="2400" dirty="0" err="1">
                <a:solidFill>
                  <a:schemeClr val="bg1"/>
                </a:solidFill>
              </a:rPr>
              <a:t>sedangkan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perusahaan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lainnya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</a:rPr>
              <a:t>menggunakan</a:t>
            </a:r>
            <a:r>
              <a:rPr lang="en-ID" sz="2400" dirty="0">
                <a:solidFill>
                  <a:schemeClr val="bg1"/>
                </a:solidFill>
              </a:rPr>
              <a:t> 0-60.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7341" y="1232662"/>
            <a:ext cx="5941060" cy="5015738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55810" algn="just">
              <a:lnSpc>
                <a:spcPts val="2500"/>
              </a:lnSpc>
            </a:pP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70BE7-CC08-D720-C6AD-43388E5BA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5573"/>
            <a:ext cx="5791200" cy="3749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8A09D5-8DE7-FC0F-E522-73A7BC3EBBEA}"/>
              </a:ext>
            </a:extLst>
          </p:cNvPr>
          <p:cNvSpPr txBox="1"/>
          <p:nvPr/>
        </p:nvSpPr>
        <p:spPr>
          <a:xfrm>
            <a:off x="685800" y="533400"/>
            <a:ext cx="4800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Silahkan</a:t>
            </a:r>
            <a:r>
              <a:rPr lang="en-US" dirty="0">
                <a:solidFill>
                  <a:schemeClr val="bg1"/>
                </a:solidFill>
              </a:rPr>
              <a:t> install app Android : </a:t>
            </a:r>
            <a:r>
              <a:rPr lang="en-US" dirty="0" err="1">
                <a:solidFill>
                  <a:schemeClr val="bg1"/>
                </a:solidFill>
              </a:rPr>
              <a:t>wifi</a:t>
            </a:r>
            <a:r>
              <a:rPr lang="en-US" dirty="0">
                <a:solidFill>
                  <a:schemeClr val="bg1"/>
                </a:solidFill>
              </a:rPr>
              <a:t> analyzer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ios</a:t>
            </a:r>
            <a:r>
              <a:rPr lang="en-US" dirty="0">
                <a:solidFill>
                  <a:schemeClr val="bg1"/>
                </a:solidFill>
              </a:rPr>
              <a:t> : Net Analyzer </a:t>
            </a:r>
            <a:r>
              <a:rPr lang="en-US" dirty="0" err="1">
                <a:solidFill>
                  <a:schemeClr val="bg1"/>
                </a:solidFill>
              </a:rPr>
              <a:t>atau</a:t>
            </a:r>
            <a:r>
              <a:rPr lang="en-US" dirty="0">
                <a:solidFill>
                  <a:schemeClr val="bg1"/>
                </a:solidFill>
              </a:rPr>
              <a:t> airport utility</a:t>
            </a:r>
          </a:p>
        </p:txBody>
      </p:sp>
    </p:spTree>
    <p:extLst>
      <p:ext uri="{BB962C8B-B14F-4D97-AF65-F5344CB8AC3E}">
        <p14:creationId xmlns:p14="http://schemas.microsoft.com/office/powerpoint/2010/main" val="532548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457200"/>
            <a:ext cx="8220774" cy="60198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3110" algn="just">
              <a:lnSpc>
                <a:spcPts val="2500"/>
              </a:lnSpc>
            </a:pPr>
            <a:r>
              <a:rPr sz="2200" spc="-3" dirty="0">
                <a:solidFill>
                  <a:schemeClr val="bg1"/>
                </a:solidFill>
                <a:latin typeface="Calibri"/>
                <a:cs typeface="Calibri"/>
              </a:rPr>
              <a:t>12. </a:t>
            </a:r>
            <a:r>
              <a:rPr sz="2200" dirty="0">
                <a:solidFill>
                  <a:schemeClr val="bg1"/>
                </a:solidFill>
              </a:rPr>
              <a:t>Signal to noise Ratio (SNR)</a:t>
            </a:r>
          </a:p>
          <a:p>
            <a:pPr marL="447675" algn="just">
              <a:lnSpc>
                <a:spcPct val="99995"/>
              </a:lnSpc>
              <a:spcBef>
                <a:spcPts val="440"/>
              </a:spcBef>
            </a:pPr>
            <a:r>
              <a:rPr lang="en-ID" sz="2200" dirty="0">
                <a:solidFill>
                  <a:schemeClr val="bg1"/>
                </a:solidFill>
              </a:rPr>
              <a:t>Signal to Noise Ratio </a:t>
            </a:r>
            <a:r>
              <a:rPr lang="en-ID" sz="2200" dirty="0" err="1">
                <a:solidFill>
                  <a:schemeClr val="bg1"/>
                </a:solidFill>
              </a:rPr>
              <a:t>atau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biasanya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disingkat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dengan</a:t>
            </a:r>
            <a:r>
              <a:rPr lang="en-ID" sz="2200" dirty="0">
                <a:solidFill>
                  <a:schemeClr val="bg1"/>
                </a:solidFill>
              </a:rPr>
              <a:t> SNR </a:t>
            </a:r>
            <a:r>
              <a:rPr lang="en-ID" sz="2200" dirty="0" err="1">
                <a:solidFill>
                  <a:schemeClr val="bg1"/>
                </a:solidFill>
              </a:rPr>
              <a:t>atau</a:t>
            </a:r>
            <a:r>
              <a:rPr lang="en-ID" sz="2200" dirty="0">
                <a:solidFill>
                  <a:schemeClr val="bg1"/>
                </a:solidFill>
              </a:rPr>
              <a:t> S/N Ratio </a:t>
            </a:r>
            <a:r>
              <a:rPr lang="en-ID" sz="2200" dirty="0" err="1">
                <a:solidFill>
                  <a:schemeClr val="bg1"/>
                </a:solidFill>
              </a:rPr>
              <a:t>adalah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ukuran</a:t>
            </a:r>
            <a:r>
              <a:rPr lang="en-ID" sz="2200" dirty="0">
                <a:solidFill>
                  <a:schemeClr val="bg1"/>
                </a:solidFill>
              </a:rPr>
              <a:t> yang </a:t>
            </a:r>
            <a:r>
              <a:rPr lang="en-ID" sz="2200" dirty="0" err="1">
                <a:solidFill>
                  <a:schemeClr val="bg1"/>
                </a:solidFill>
              </a:rPr>
              <a:t>digunakan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untuk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membandingkan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tingkat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Sinyal</a:t>
            </a:r>
            <a:r>
              <a:rPr lang="en-ID" sz="2200" dirty="0">
                <a:solidFill>
                  <a:schemeClr val="bg1"/>
                </a:solidFill>
              </a:rPr>
              <a:t> yang </a:t>
            </a:r>
            <a:r>
              <a:rPr lang="en-ID" sz="2200" dirty="0" err="1">
                <a:solidFill>
                  <a:schemeClr val="bg1"/>
                </a:solidFill>
              </a:rPr>
              <a:t>diinginkan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dengan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tingkat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Kebisingan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atau</a:t>
            </a:r>
            <a:r>
              <a:rPr lang="en-ID" sz="2200" dirty="0">
                <a:solidFill>
                  <a:schemeClr val="bg1"/>
                </a:solidFill>
              </a:rPr>
              <a:t> Noise yang </a:t>
            </a:r>
            <a:r>
              <a:rPr lang="en-ID" sz="2200" dirty="0" err="1">
                <a:solidFill>
                  <a:schemeClr val="bg1"/>
                </a:solidFill>
              </a:rPr>
              <a:t>tidak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diinginkan</a:t>
            </a:r>
            <a:r>
              <a:rPr lang="en-ID" sz="2200" dirty="0">
                <a:solidFill>
                  <a:schemeClr val="bg1"/>
                </a:solidFill>
              </a:rPr>
              <a:t> yang </a:t>
            </a:r>
            <a:r>
              <a:rPr lang="en-ID" sz="2200" dirty="0" err="1">
                <a:solidFill>
                  <a:schemeClr val="bg1"/>
                </a:solidFill>
              </a:rPr>
              <a:t>diambil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dari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latar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belakang</a:t>
            </a:r>
            <a:r>
              <a:rPr lang="en-ID" sz="2200" dirty="0">
                <a:solidFill>
                  <a:schemeClr val="bg1"/>
                </a:solidFill>
              </a:rPr>
              <a:t>. </a:t>
            </a:r>
            <a:r>
              <a:rPr lang="en-ID" sz="2200" dirty="0" err="1">
                <a:solidFill>
                  <a:schemeClr val="bg1"/>
                </a:solidFill>
              </a:rPr>
              <a:t>Dengan</a:t>
            </a:r>
            <a:r>
              <a:rPr lang="en-ID" sz="2200" dirty="0">
                <a:solidFill>
                  <a:schemeClr val="bg1"/>
                </a:solidFill>
              </a:rPr>
              <a:t> kata lain, Signal to Noise Ratio </a:t>
            </a:r>
            <a:r>
              <a:rPr lang="en-ID" sz="2200" dirty="0" err="1">
                <a:solidFill>
                  <a:schemeClr val="bg1"/>
                </a:solidFill>
              </a:rPr>
              <a:t>ini</a:t>
            </a:r>
            <a:r>
              <a:rPr lang="en-ID" sz="2200" dirty="0">
                <a:solidFill>
                  <a:schemeClr val="bg1"/>
                </a:solidFill>
              </a:rPr>
              <a:t> juga </a:t>
            </a:r>
            <a:r>
              <a:rPr lang="en-ID" sz="2200" dirty="0" err="1">
                <a:solidFill>
                  <a:schemeClr val="bg1"/>
                </a:solidFill>
              </a:rPr>
              <a:t>dapat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didefinisikan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sebagai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rasio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daya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sinyal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terhadap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daya</a:t>
            </a:r>
            <a:r>
              <a:rPr lang="en-ID" sz="2200" dirty="0">
                <a:solidFill>
                  <a:schemeClr val="bg1"/>
                </a:solidFill>
              </a:rPr>
              <a:t> noise yang </a:t>
            </a:r>
            <a:r>
              <a:rPr lang="en-ID" sz="2200" dirty="0" err="1">
                <a:solidFill>
                  <a:schemeClr val="bg1"/>
                </a:solidFill>
              </a:rPr>
              <a:t>dinyatakan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dalam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satuan</a:t>
            </a:r>
            <a:r>
              <a:rPr lang="en-ID" sz="2200" dirty="0">
                <a:solidFill>
                  <a:schemeClr val="bg1"/>
                </a:solidFill>
              </a:rPr>
              <a:t> decibel (dB). </a:t>
            </a:r>
            <a:r>
              <a:rPr lang="en-ID" sz="2200" dirty="0" err="1">
                <a:solidFill>
                  <a:schemeClr val="bg1"/>
                </a:solidFill>
              </a:rPr>
              <a:t>Dalam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bahasa</a:t>
            </a:r>
            <a:r>
              <a:rPr lang="en-ID" sz="2200" dirty="0">
                <a:solidFill>
                  <a:schemeClr val="bg1"/>
                </a:solidFill>
              </a:rPr>
              <a:t> Indonesia,</a:t>
            </a:r>
            <a:r>
              <a:rPr lang="en-ID" sz="2200" i="1" dirty="0">
                <a:solidFill>
                  <a:schemeClr val="bg1"/>
                </a:solidFill>
              </a:rPr>
              <a:t> Signal to Noise Ratio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ini</a:t>
            </a:r>
            <a:r>
              <a:rPr lang="en-ID" sz="2200" dirty="0">
                <a:solidFill>
                  <a:schemeClr val="bg1"/>
                </a:solidFill>
              </a:rPr>
              <a:t> juga </a:t>
            </a:r>
            <a:r>
              <a:rPr lang="en-ID" sz="2200" dirty="0" err="1">
                <a:solidFill>
                  <a:schemeClr val="bg1"/>
                </a:solidFill>
              </a:rPr>
              <a:t>sering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diterjemahkan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menjadi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Rasio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Sinyal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terhadap</a:t>
            </a:r>
            <a:r>
              <a:rPr lang="en-ID" sz="2200" dirty="0">
                <a:solidFill>
                  <a:schemeClr val="bg1"/>
                </a:solidFill>
              </a:rPr>
              <a:t> Noise.</a:t>
            </a:r>
          </a:p>
          <a:p>
            <a:pPr marL="447675" algn="just">
              <a:lnSpc>
                <a:spcPct val="99995"/>
              </a:lnSpc>
              <a:spcBef>
                <a:spcPts val="440"/>
              </a:spcBef>
            </a:pPr>
            <a:endParaRPr lang="en-ID" sz="2200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just"/>
            <a:r>
              <a:rPr lang="en-ID" sz="2200" dirty="0" err="1">
                <a:solidFill>
                  <a:schemeClr val="bg1"/>
                </a:solidFill>
              </a:rPr>
              <a:t>Sederhananya</a:t>
            </a:r>
            <a:r>
              <a:rPr lang="en-ID" sz="2200" dirty="0">
                <a:solidFill>
                  <a:schemeClr val="bg1"/>
                </a:solidFill>
              </a:rPr>
              <a:t>, </a:t>
            </a:r>
            <a:r>
              <a:rPr lang="en-ID" sz="2200" dirty="0" err="1">
                <a:solidFill>
                  <a:schemeClr val="bg1"/>
                </a:solidFill>
              </a:rPr>
              <a:t>Rumus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untuk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menghitung</a:t>
            </a:r>
            <a:r>
              <a:rPr lang="en-ID" sz="2200" dirty="0">
                <a:solidFill>
                  <a:schemeClr val="bg1"/>
                </a:solidFill>
              </a:rPr>
              <a:t> Signal to Noise Ratio </a:t>
            </a:r>
            <a:r>
              <a:rPr lang="en-ID" sz="2200" dirty="0" err="1">
                <a:solidFill>
                  <a:schemeClr val="bg1"/>
                </a:solidFill>
              </a:rPr>
              <a:t>atau</a:t>
            </a:r>
            <a:r>
              <a:rPr lang="en-ID" sz="2200" dirty="0">
                <a:solidFill>
                  <a:schemeClr val="bg1"/>
                </a:solidFill>
              </a:rPr>
              <a:t> S/N Ratio </a:t>
            </a:r>
            <a:r>
              <a:rPr lang="en-ID" sz="2200" dirty="0" err="1">
                <a:solidFill>
                  <a:schemeClr val="bg1"/>
                </a:solidFill>
              </a:rPr>
              <a:t>adalah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seperti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persamaan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berikut</a:t>
            </a:r>
            <a:r>
              <a:rPr lang="en-ID" sz="2200" dirty="0">
                <a:solidFill>
                  <a:schemeClr val="bg1"/>
                </a:solidFill>
              </a:rPr>
              <a:t> </a:t>
            </a:r>
            <a:r>
              <a:rPr lang="en-ID" sz="2200" dirty="0" err="1">
                <a:solidFill>
                  <a:schemeClr val="bg1"/>
                </a:solidFill>
              </a:rPr>
              <a:t>ini</a:t>
            </a:r>
            <a:r>
              <a:rPr lang="en-ID" sz="2200" dirty="0">
                <a:solidFill>
                  <a:schemeClr val="bg1"/>
                </a:solidFill>
              </a:rPr>
              <a:t> :</a:t>
            </a:r>
          </a:p>
          <a:p>
            <a:pPr algn="just"/>
            <a:endParaRPr lang="en-ID" sz="2200" dirty="0">
              <a:solidFill>
                <a:schemeClr val="bg1"/>
              </a:solidFill>
            </a:endParaRPr>
          </a:p>
          <a:p>
            <a:pPr algn="ctr"/>
            <a:r>
              <a:rPr lang="en-ID" sz="2200" b="1" dirty="0">
                <a:solidFill>
                  <a:schemeClr val="bg1"/>
                </a:solidFill>
              </a:rPr>
              <a:t>SNR = </a:t>
            </a:r>
            <a:r>
              <a:rPr lang="en-ID" sz="2200" b="1" dirty="0" err="1">
                <a:solidFill>
                  <a:schemeClr val="bg1"/>
                </a:solidFill>
              </a:rPr>
              <a:t>Sinyal</a:t>
            </a:r>
            <a:r>
              <a:rPr lang="en-ID" sz="2200" b="1" dirty="0">
                <a:solidFill>
                  <a:schemeClr val="bg1"/>
                </a:solidFill>
              </a:rPr>
              <a:t> – Noise</a:t>
            </a:r>
          </a:p>
          <a:p>
            <a:pPr algn="just"/>
            <a:endParaRPr lang="en-ID" sz="2200" dirty="0">
              <a:solidFill>
                <a:schemeClr val="bg1"/>
              </a:solidFill>
            </a:endParaRPr>
          </a:p>
          <a:p>
            <a:pPr algn="just"/>
            <a:r>
              <a:rPr lang="en-ID" sz="2000" dirty="0" err="1">
                <a:solidFill>
                  <a:schemeClr val="bg1"/>
                </a:solidFill>
              </a:rPr>
              <a:t>Catatan</a:t>
            </a:r>
            <a:r>
              <a:rPr lang="en-ID" sz="2000" dirty="0">
                <a:solidFill>
                  <a:schemeClr val="bg1"/>
                </a:solidFill>
              </a:rPr>
              <a:t> : </a:t>
            </a:r>
            <a:r>
              <a:rPr lang="en-ID" sz="2000" dirty="0" err="1">
                <a:solidFill>
                  <a:schemeClr val="bg1"/>
                </a:solidFill>
              </a:rPr>
              <a:t>Rumus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ini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hanya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dapat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digunakan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apabila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nilai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Sinyal</a:t>
            </a:r>
            <a:r>
              <a:rPr lang="en-ID" sz="2000" dirty="0">
                <a:solidFill>
                  <a:schemeClr val="bg1"/>
                </a:solidFill>
              </a:rPr>
              <a:t> dan </a:t>
            </a:r>
            <a:r>
              <a:rPr lang="en-ID" sz="2000" dirty="0" err="1">
                <a:solidFill>
                  <a:schemeClr val="bg1"/>
                </a:solidFill>
              </a:rPr>
              <a:t>nilai</a:t>
            </a:r>
            <a:r>
              <a:rPr lang="en-ID" sz="2000" dirty="0">
                <a:solidFill>
                  <a:schemeClr val="bg1"/>
                </a:solidFill>
              </a:rPr>
              <a:t> Noise </a:t>
            </a:r>
            <a:r>
              <a:rPr lang="en-ID" sz="2000" dirty="0" err="1">
                <a:solidFill>
                  <a:schemeClr val="bg1"/>
                </a:solidFill>
              </a:rPr>
              <a:t>sama-sama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adalah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dalam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satuan</a:t>
            </a:r>
            <a:r>
              <a:rPr lang="en-ID" sz="2000" dirty="0">
                <a:solidFill>
                  <a:schemeClr val="bg1"/>
                </a:solidFill>
              </a:rPr>
              <a:t> decibel (dB).</a:t>
            </a:r>
          </a:p>
          <a:p>
            <a:pPr marL="447675" algn="just">
              <a:lnSpc>
                <a:spcPct val="99995"/>
              </a:lnSpc>
              <a:spcBef>
                <a:spcPts val="440"/>
              </a:spcBef>
            </a:pPr>
            <a:endParaRPr sz="2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4936785"/>
      </p:ext>
    </p:extLst>
  </p:cSld>
  <p:clrMapOvr>
    <a:masterClrMapping/>
  </p:clrMapOvr>
</p:sld>
</file>

<file path=ppt/theme/theme1.xml><?xml version="1.0" encoding="utf-8"?>
<a:theme xmlns:a="http://schemas.openxmlformats.org/drawingml/2006/main" name="SDI - Templat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SDI - Template</Template>
  <TotalTime>8437</TotalTime>
  <Words>1097</Words>
  <Application>Microsoft Macintosh PowerPoint</Application>
  <PresentationFormat>On-screen Show (4:3)</PresentationFormat>
  <Paragraphs>90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Bahnschrift Condensed</vt:lpstr>
      <vt:lpstr>Bernard MT Condensed</vt:lpstr>
      <vt:lpstr>Calibri</vt:lpstr>
      <vt:lpstr>Trade Gothic LT Pro</vt:lpstr>
      <vt:lpstr>Trebuchet MS</vt:lpstr>
      <vt:lpstr>SDI - Template</vt:lpstr>
      <vt:lpstr>PowerPoint Presentation</vt:lpstr>
      <vt:lpstr>Media Transmisi Wireless</vt:lpstr>
      <vt:lpstr>Media Transmisi Wireless</vt:lpstr>
      <vt:lpstr>PowerPoint Presentation</vt:lpstr>
      <vt:lpstr>Media Transmisi Wireless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Dayat Chua</dc:creator>
  <cp:lastModifiedBy>AndiDayat</cp:lastModifiedBy>
  <cp:revision>10</cp:revision>
  <dcterms:modified xsi:type="dcterms:W3CDTF">2025-09-24T07:22:19Z</dcterms:modified>
</cp:coreProperties>
</file>
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4630400" cy="8229600"/>
  <p:notesSz cx="8229600" cy="14630400"/>
  <p:embeddedFontLst>
    <p:embeddedFont>
      <p:font typeface="Lato" panose="020F0502020204030203" pitchFamily="34" charset="0"/>
      <p:regular r:id="rId18"/>
      <p:bold r:id="rId19"/>
      <p:italic r:id="rId20"/>
      <p:boldItalic r:id="rId21"/>
    </p:embeddedFont>
    <p:embeddedFont>
      <p:font typeface="Lato Bold" panose="020F0502020204030203" pitchFamily="34" charset="0"/>
      <p:regular r:id="rId22"/>
      <p:bold r:id="rId23"/>
      <p:italic r:id="rId24"/>
      <p:boldItalic r:id="rId25"/>
    </p:embeddedFont>
    <p:embeddedFont>
      <p:font typeface="Lato Medium" panose="020F0502020204030203" pitchFamily="34" charset="0"/>
      <p:regular r:id="rId26"/>
      <p: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3" d="100"/>
          <a:sy n="103" d="100"/>
        </p:scale>
        <p:origin x="55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01770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4" name="Text 0"/>
          <p:cNvSpPr/>
          <p:nvPr/>
        </p:nvSpPr>
        <p:spPr>
          <a:xfrm>
            <a:off x="793790" y="2277547"/>
            <a:ext cx="7556421" cy="1956435"/>
          </a:xfrm>
          <a:prstGeom prst="rect">
            <a:avLst/>
          </a:prstGeom>
          <a:noFill/>
          <a:ln/>
        </p:spPr>
        <p:txBody>
          <a:bodyPr wrap="square" lIns="0" tIns="0" rIns="0" bIns="0" rtlCol="0" anchor="t"/>
          <a:lstStyle/>
          <a:p>
            <a:pPr marL="0" indent="0">
              <a:lnSpc>
                <a:spcPts val="7700"/>
              </a:lnSpc>
              <a:buNone/>
            </a:pPr>
            <a:r>
              <a:rPr lang="en-US" sz="6150" b="1" dirty="0">
                <a:solidFill>
                  <a:srgbClr val="282824"/>
                </a:solidFill>
                <a:latin typeface="Lato Bold" pitchFamily="34" charset="0"/>
                <a:ea typeface="Lato Bold" pitchFamily="34" charset="-122"/>
                <a:cs typeface="Lato Bold" pitchFamily="34" charset="-120"/>
              </a:rPr>
              <a:t>Desain Antena untuk Komunikasi Nirkabel</a:t>
            </a:r>
            <a:endParaRPr lang="en-US" sz="6150" dirty="0"/>
          </a:p>
        </p:txBody>
      </p:sp>
      <p:sp>
        <p:nvSpPr>
          <p:cNvPr id="7" name="Text 3"/>
          <p:cNvSpPr/>
          <p:nvPr/>
        </p:nvSpPr>
        <p:spPr>
          <a:xfrm>
            <a:off x="913686" y="5704642"/>
            <a:ext cx="122992" cy="97512"/>
          </a:xfrm>
          <a:prstGeom prst="rect">
            <a:avLst/>
          </a:prstGeom>
          <a:noFill/>
          <a:ln/>
        </p:spPr>
        <p:txBody>
          <a:bodyPr wrap="none" lIns="0" tIns="0" rIns="0" bIns="0" rtlCol="0" anchor="t"/>
          <a:lstStyle/>
          <a:p>
            <a:pPr marL="0" indent="0" algn="ctr">
              <a:lnSpc>
                <a:spcPts val="750"/>
              </a:lnSpc>
              <a:buNone/>
            </a:pPr>
            <a:r>
              <a:rPr lang="en-US" sz="750" dirty="0">
                <a:solidFill>
                  <a:srgbClr val="FFFFFF"/>
                </a:solidFill>
                <a:latin typeface="Lato Medium" pitchFamily="34" charset="0"/>
                <a:ea typeface="Lato Medium" pitchFamily="34" charset="-122"/>
                <a:cs typeface="Lato Medium" pitchFamily="34" charset="-120"/>
              </a:rPr>
              <a:t>K4</a:t>
            </a:r>
            <a:endParaRPr lang="en-US" sz="750" dirty="0"/>
          </a:p>
        </p:txBody>
      </p:sp>
      <p:sp>
        <p:nvSpPr>
          <p:cNvPr id="8" name="Text 4"/>
          <p:cNvSpPr/>
          <p:nvPr/>
        </p:nvSpPr>
        <p:spPr>
          <a:xfrm>
            <a:off x="793790" y="4374059"/>
            <a:ext cx="2168485" cy="396835"/>
          </a:xfrm>
          <a:prstGeom prst="rect">
            <a:avLst/>
          </a:prstGeom>
          <a:noFill/>
          <a:ln/>
        </p:spPr>
        <p:txBody>
          <a:bodyPr wrap="none" lIns="0" tIns="0" rIns="0" bIns="0" rtlCol="0" anchor="t"/>
          <a:lstStyle/>
          <a:p>
            <a:pPr marL="0" indent="0" algn="l">
              <a:lnSpc>
                <a:spcPts val="3100"/>
              </a:lnSpc>
              <a:buNone/>
            </a:pPr>
            <a:r>
              <a:rPr lang="en-US" sz="2200" b="1" dirty="0">
                <a:solidFill>
                  <a:srgbClr val="4A4A45"/>
                </a:solidFill>
                <a:latin typeface="Lato Bold" pitchFamily="34" charset="0"/>
                <a:ea typeface="Lato Bold" pitchFamily="34" charset="-122"/>
                <a:cs typeface="Lato Bold" pitchFamily="34" charset="-120"/>
              </a:rPr>
              <a:t>Andi Muhammad Nur </a:t>
            </a:r>
            <a:r>
              <a:rPr lang="en-US" sz="2200" b="1" dirty="0" err="1">
                <a:solidFill>
                  <a:srgbClr val="4A4A45"/>
                </a:solidFill>
                <a:latin typeface="Lato Bold" pitchFamily="34" charset="0"/>
                <a:ea typeface="Lato Bold" pitchFamily="34" charset="-122"/>
                <a:cs typeface="Lato Bold" pitchFamily="34" charset="-120"/>
              </a:rPr>
              <a:t>Hidayat</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972800" y="0"/>
            <a:ext cx="3657600" cy="8232577"/>
          </a:xfrm>
          <a:prstGeom prst="rect">
            <a:avLst/>
          </a:prstGeom>
        </p:spPr>
      </p:pic>
      <p:sp>
        <p:nvSpPr>
          <p:cNvPr id="3" name="Text 0"/>
          <p:cNvSpPr/>
          <p:nvPr/>
        </p:nvSpPr>
        <p:spPr>
          <a:xfrm>
            <a:off x="702112" y="551736"/>
            <a:ext cx="9568577" cy="1253966"/>
          </a:xfrm>
          <a:prstGeom prst="rect">
            <a:avLst/>
          </a:prstGeom>
          <a:noFill/>
          <a:ln/>
        </p:spPr>
        <p:txBody>
          <a:bodyPr wrap="square" lIns="0" tIns="0" rIns="0" bIns="0" rtlCol="0" anchor="t"/>
          <a:lstStyle/>
          <a:p>
            <a:pPr marL="0" indent="0">
              <a:lnSpc>
                <a:spcPts val="4900"/>
              </a:lnSpc>
              <a:buNone/>
            </a:pPr>
            <a:r>
              <a:rPr lang="en-US" sz="3900" b="1" dirty="0">
                <a:solidFill>
                  <a:srgbClr val="282824"/>
                </a:solidFill>
                <a:latin typeface="Lato Bold" pitchFamily="34" charset="0"/>
                <a:ea typeface="Lato Bold" pitchFamily="34" charset="-122"/>
                <a:cs typeface="Lato Bold" pitchFamily="34" charset="-120"/>
              </a:rPr>
              <a:t>Pengantar: Pentingnya Antena dalam Sistem Komunikasi Nirkabel</a:t>
            </a:r>
            <a:endParaRPr lang="en-US" sz="3900" dirty="0"/>
          </a:p>
        </p:txBody>
      </p:sp>
      <p:pic>
        <p:nvPicPr>
          <p:cNvPr id="4" name="Image 1" descr="preencoded.png"/>
          <p:cNvPicPr>
            <a:picLocks noChangeAspect="1"/>
          </p:cNvPicPr>
          <p:nvPr/>
        </p:nvPicPr>
        <p:blipFill>
          <a:blip r:embed="rId4"/>
          <a:stretch>
            <a:fillRect/>
          </a:stretch>
        </p:blipFill>
        <p:spPr>
          <a:xfrm>
            <a:off x="702112" y="2106573"/>
            <a:ext cx="501491" cy="501491"/>
          </a:xfrm>
          <a:prstGeom prst="rect">
            <a:avLst/>
          </a:prstGeom>
        </p:spPr>
      </p:pic>
      <p:sp>
        <p:nvSpPr>
          <p:cNvPr id="5" name="Text 1"/>
          <p:cNvSpPr/>
          <p:nvPr/>
        </p:nvSpPr>
        <p:spPr>
          <a:xfrm>
            <a:off x="702112" y="2808684"/>
            <a:ext cx="2507813" cy="313373"/>
          </a:xfrm>
          <a:prstGeom prst="rect">
            <a:avLst/>
          </a:prstGeom>
          <a:noFill/>
          <a:ln/>
        </p:spPr>
        <p:txBody>
          <a:bodyPr wrap="none" lIns="0" tIns="0" rIns="0" bIns="0" rtlCol="0" anchor="t"/>
          <a:lstStyle/>
          <a:p>
            <a:pPr marL="0" indent="0" algn="l">
              <a:lnSpc>
                <a:spcPts val="2450"/>
              </a:lnSpc>
              <a:buNone/>
            </a:pPr>
            <a:r>
              <a:rPr lang="en-US" sz="1950" b="1" dirty="0">
                <a:solidFill>
                  <a:srgbClr val="4A4A45"/>
                </a:solidFill>
                <a:latin typeface="Lato Bold" pitchFamily="34" charset="0"/>
                <a:ea typeface="Lato Bold" pitchFamily="34" charset="-122"/>
                <a:cs typeface="Lato Bold" pitchFamily="34" charset="-120"/>
              </a:rPr>
              <a:t>Transmisi Sinyal</a:t>
            </a:r>
            <a:endParaRPr lang="en-US" sz="1950" dirty="0"/>
          </a:p>
        </p:txBody>
      </p:sp>
      <p:sp>
        <p:nvSpPr>
          <p:cNvPr id="6" name="Text 2"/>
          <p:cNvSpPr/>
          <p:nvPr/>
        </p:nvSpPr>
        <p:spPr>
          <a:xfrm>
            <a:off x="702112" y="3242429"/>
            <a:ext cx="9568577" cy="320992"/>
          </a:xfrm>
          <a:prstGeom prst="rect">
            <a:avLst/>
          </a:prstGeom>
          <a:noFill/>
          <a:ln/>
        </p:spPr>
        <p:txBody>
          <a:bodyPr wrap="none" lIns="0" tIns="0" rIns="0" bIns="0" rtlCol="0" anchor="t"/>
          <a:lstStyle/>
          <a:p>
            <a:pPr marL="0" indent="0" algn="l">
              <a:lnSpc>
                <a:spcPts val="2500"/>
              </a:lnSpc>
              <a:buNone/>
            </a:pPr>
            <a:r>
              <a:rPr lang="en-US" sz="1550" dirty="0">
                <a:solidFill>
                  <a:srgbClr val="4A4A45"/>
                </a:solidFill>
                <a:latin typeface="Lato" pitchFamily="34" charset="0"/>
                <a:ea typeface="Lato" pitchFamily="34" charset="-122"/>
                <a:cs typeface="Lato" pitchFamily="34" charset="-120"/>
              </a:rPr>
              <a:t>Antena memungkinkan pengiriman dan penerimaan sinyal radio.</a:t>
            </a:r>
            <a:endParaRPr lang="en-US" sz="1550" dirty="0"/>
          </a:p>
        </p:txBody>
      </p:sp>
      <p:pic>
        <p:nvPicPr>
          <p:cNvPr id="7" name="Image 2" descr="preencoded.png"/>
          <p:cNvPicPr>
            <a:picLocks noChangeAspect="1"/>
          </p:cNvPicPr>
          <p:nvPr/>
        </p:nvPicPr>
        <p:blipFill>
          <a:blip r:embed="rId5"/>
          <a:stretch>
            <a:fillRect/>
          </a:stretch>
        </p:blipFill>
        <p:spPr>
          <a:xfrm>
            <a:off x="702112" y="4165283"/>
            <a:ext cx="501491" cy="501491"/>
          </a:xfrm>
          <a:prstGeom prst="rect">
            <a:avLst/>
          </a:prstGeom>
        </p:spPr>
      </p:pic>
      <p:sp>
        <p:nvSpPr>
          <p:cNvPr id="8" name="Text 3"/>
          <p:cNvSpPr/>
          <p:nvPr/>
        </p:nvSpPr>
        <p:spPr>
          <a:xfrm>
            <a:off x="702112" y="4867394"/>
            <a:ext cx="2507813" cy="313373"/>
          </a:xfrm>
          <a:prstGeom prst="rect">
            <a:avLst/>
          </a:prstGeom>
          <a:noFill/>
          <a:ln/>
        </p:spPr>
        <p:txBody>
          <a:bodyPr wrap="none" lIns="0" tIns="0" rIns="0" bIns="0" rtlCol="0" anchor="t"/>
          <a:lstStyle/>
          <a:p>
            <a:pPr marL="0" indent="0" algn="l">
              <a:lnSpc>
                <a:spcPts val="2450"/>
              </a:lnSpc>
              <a:buNone/>
            </a:pPr>
            <a:r>
              <a:rPr lang="en-US" sz="1950" b="1" dirty="0">
                <a:solidFill>
                  <a:srgbClr val="4A4A45"/>
                </a:solidFill>
                <a:latin typeface="Lato Bold" pitchFamily="34" charset="0"/>
                <a:ea typeface="Lato Bold" pitchFamily="34" charset="-122"/>
                <a:cs typeface="Lato Bold" pitchFamily="34" charset="-120"/>
              </a:rPr>
              <a:t>Perangkat Nirkabel</a:t>
            </a:r>
            <a:endParaRPr lang="en-US" sz="1950" dirty="0"/>
          </a:p>
        </p:txBody>
      </p:sp>
      <p:sp>
        <p:nvSpPr>
          <p:cNvPr id="9" name="Text 4"/>
          <p:cNvSpPr/>
          <p:nvPr/>
        </p:nvSpPr>
        <p:spPr>
          <a:xfrm>
            <a:off x="702112" y="5301139"/>
            <a:ext cx="9568577" cy="320992"/>
          </a:xfrm>
          <a:prstGeom prst="rect">
            <a:avLst/>
          </a:prstGeom>
          <a:noFill/>
          <a:ln/>
        </p:spPr>
        <p:txBody>
          <a:bodyPr wrap="none" lIns="0" tIns="0" rIns="0" bIns="0" rtlCol="0" anchor="t"/>
          <a:lstStyle/>
          <a:p>
            <a:pPr marL="0" indent="0" algn="l">
              <a:lnSpc>
                <a:spcPts val="2500"/>
              </a:lnSpc>
              <a:buNone/>
            </a:pPr>
            <a:r>
              <a:rPr lang="en-US" sz="1550" dirty="0">
                <a:solidFill>
                  <a:srgbClr val="4A4A45"/>
                </a:solidFill>
                <a:latin typeface="Lato" pitchFamily="34" charset="0"/>
                <a:ea typeface="Lato" pitchFamily="34" charset="-122"/>
                <a:cs typeface="Lato" pitchFamily="34" charset="-120"/>
              </a:rPr>
              <a:t>Antena memungkinkan perangkat nirkabel untuk saling berkomunikasi.</a:t>
            </a:r>
            <a:endParaRPr lang="en-US" sz="1550" dirty="0"/>
          </a:p>
        </p:txBody>
      </p:sp>
      <p:pic>
        <p:nvPicPr>
          <p:cNvPr id="10" name="Image 3" descr="preencoded.png"/>
          <p:cNvPicPr>
            <a:picLocks noChangeAspect="1"/>
          </p:cNvPicPr>
          <p:nvPr/>
        </p:nvPicPr>
        <p:blipFill>
          <a:blip r:embed="rId6"/>
          <a:stretch>
            <a:fillRect/>
          </a:stretch>
        </p:blipFill>
        <p:spPr>
          <a:xfrm>
            <a:off x="702112" y="6223992"/>
            <a:ext cx="501491" cy="501491"/>
          </a:xfrm>
          <a:prstGeom prst="rect">
            <a:avLst/>
          </a:prstGeom>
        </p:spPr>
      </p:pic>
      <p:sp>
        <p:nvSpPr>
          <p:cNvPr id="11" name="Text 5"/>
          <p:cNvSpPr/>
          <p:nvPr/>
        </p:nvSpPr>
        <p:spPr>
          <a:xfrm>
            <a:off x="702112" y="6926104"/>
            <a:ext cx="2507813" cy="313373"/>
          </a:xfrm>
          <a:prstGeom prst="rect">
            <a:avLst/>
          </a:prstGeom>
          <a:noFill/>
          <a:ln/>
        </p:spPr>
        <p:txBody>
          <a:bodyPr wrap="none" lIns="0" tIns="0" rIns="0" bIns="0" rtlCol="0" anchor="t"/>
          <a:lstStyle/>
          <a:p>
            <a:pPr marL="0" indent="0" algn="l">
              <a:lnSpc>
                <a:spcPts val="2450"/>
              </a:lnSpc>
              <a:buNone/>
            </a:pPr>
            <a:r>
              <a:rPr lang="en-US" sz="1950" b="1" dirty="0">
                <a:solidFill>
                  <a:srgbClr val="4A4A45"/>
                </a:solidFill>
                <a:latin typeface="Lato Bold" pitchFamily="34" charset="0"/>
                <a:ea typeface="Lato Bold" pitchFamily="34" charset="-122"/>
                <a:cs typeface="Lato Bold" pitchFamily="34" charset="-120"/>
              </a:rPr>
              <a:t>Jaringan Nirkabel</a:t>
            </a:r>
            <a:endParaRPr lang="en-US" sz="1950" dirty="0"/>
          </a:p>
        </p:txBody>
      </p:sp>
      <p:sp>
        <p:nvSpPr>
          <p:cNvPr id="12" name="Text 6"/>
          <p:cNvSpPr/>
          <p:nvPr/>
        </p:nvSpPr>
        <p:spPr>
          <a:xfrm>
            <a:off x="702112" y="7359848"/>
            <a:ext cx="9568577" cy="320992"/>
          </a:xfrm>
          <a:prstGeom prst="rect">
            <a:avLst/>
          </a:prstGeom>
          <a:noFill/>
          <a:ln/>
        </p:spPr>
        <p:txBody>
          <a:bodyPr wrap="none" lIns="0" tIns="0" rIns="0" bIns="0" rtlCol="0" anchor="t"/>
          <a:lstStyle/>
          <a:p>
            <a:pPr marL="0" indent="0" algn="l">
              <a:lnSpc>
                <a:spcPts val="2500"/>
              </a:lnSpc>
              <a:buNone/>
            </a:pPr>
            <a:r>
              <a:rPr lang="en-US" sz="1550" dirty="0">
                <a:solidFill>
                  <a:srgbClr val="4A4A45"/>
                </a:solidFill>
                <a:latin typeface="Lato" pitchFamily="34" charset="0"/>
                <a:ea typeface="Lato" pitchFamily="34" charset="-122"/>
                <a:cs typeface="Lato" pitchFamily="34" charset="-120"/>
              </a:rPr>
              <a:t>Antena memungkinkan koneksi internet dan jaringan nirkabel.</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784503"/>
            <a:ext cx="11824573" cy="708779"/>
          </a:xfrm>
          <a:prstGeom prst="rect">
            <a:avLst/>
          </a:prstGeom>
          <a:noFill/>
          <a:ln/>
        </p:spPr>
        <p:txBody>
          <a:bodyPr wrap="none" lIns="0" tIns="0" rIns="0" bIns="0" rtlCol="0" anchor="t"/>
          <a:lstStyle/>
          <a:p>
            <a:pPr marL="0" indent="0">
              <a:lnSpc>
                <a:spcPts val="5550"/>
              </a:lnSpc>
              <a:buNone/>
            </a:pPr>
            <a:r>
              <a:rPr lang="en-US" sz="4450" b="1" dirty="0">
                <a:solidFill>
                  <a:srgbClr val="282824"/>
                </a:solidFill>
                <a:latin typeface="Lato Bold" pitchFamily="34" charset="0"/>
                <a:ea typeface="Lato Bold" pitchFamily="34" charset="-122"/>
                <a:cs typeface="Lato Bold" pitchFamily="34" charset="-120"/>
              </a:rPr>
              <a:t>Prinsip Dasar Antena: Radiasi Elektromagnetik</a:t>
            </a:r>
            <a:endParaRPr lang="en-US" sz="4450" dirty="0"/>
          </a:p>
        </p:txBody>
      </p:sp>
      <p:pic>
        <p:nvPicPr>
          <p:cNvPr id="3" name="Image 0" descr="preencoded.png"/>
          <p:cNvPicPr>
            <a:picLocks noChangeAspect="1"/>
          </p:cNvPicPr>
          <p:nvPr/>
        </p:nvPicPr>
        <p:blipFill>
          <a:blip r:embed="rId3"/>
          <a:stretch>
            <a:fillRect/>
          </a:stretch>
        </p:blipFill>
        <p:spPr>
          <a:xfrm>
            <a:off x="793790" y="1946910"/>
            <a:ext cx="4120753" cy="2546747"/>
          </a:xfrm>
          <a:prstGeom prst="rect">
            <a:avLst/>
          </a:prstGeom>
        </p:spPr>
      </p:pic>
      <p:sp>
        <p:nvSpPr>
          <p:cNvPr id="4" name="Text 1"/>
          <p:cNvSpPr/>
          <p:nvPr/>
        </p:nvSpPr>
        <p:spPr>
          <a:xfrm>
            <a:off x="793790" y="4777145"/>
            <a:ext cx="3627358"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Gelombang Elektromagnetik</a:t>
            </a:r>
            <a:endParaRPr lang="en-US" sz="2200" dirty="0"/>
          </a:p>
        </p:txBody>
      </p:sp>
      <p:sp>
        <p:nvSpPr>
          <p:cNvPr id="5" name="Text 2"/>
          <p:cNvSpPr/>
          <p:nvPr/>
        </p:nvSpPr>
        <p:spPr>
          <a:xfrm>
            <a:off x="793790" y="5267563"/>
            <a:ext cx="4120753" cy="217741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Antena adalah komponen penting yang memungkinkan transmisi dan penerimaan sinyal radio. Gelombang elektromagnetik, yang merupakan kombinasi medan listrik dan magnetik yang berosilasi, dipancarkan dan ditangkap oleh antena.</a:t>
            </a:r>
            <a:endParaRPr lang="en-US" sz="1750" dirty="0"/>
          </a:p>
        </p:txBody>
      </p:sp>
      <p:pic>
        <p:nvPicPr>
          <p:cNvPr id="6" name="Image 1" descr="preencoded.png"/>
          <p:cNvPicPr>
            <a:picLocks noChangeAspect="1"/>
          </p:cNvPicPr>
          <p:nvPr/>
        </p:nvPicPr>
        <p:blipFill>
          <a:blip r:embed="rId4"/>
          <a:stretch>
            <a:fillRect/>
          </a:stretch>
        </p:blipFill>
        <p:spPr>
          <a:xfrm>
            <a:off x="5254704" y="1946910"/>
            <a:ext cx="4120872" cy="2546866"/>
          </a:xfrm>
          <a:prstGeom prst="rect">
            <a:avLst/>
          </a:prstGeom>
        </p:spPr>
      </p:pic>
      <p:sp>
        <p:nvSpPr>
          <p:cNvPr id="7" name="Text 3"/>
          <p:cNvSpPr/>
          <p:nvPr/>
        </p:nvSpPr>
        <p:spPr>
          <a:xfrm>
            <a:off x="5254704" y="4777264"/>
            <a:ext cx="3062883"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Medan Elektromagnetik</a:t>
            </a:r>
            <a:endParaRPr lang="en-US" sz="2200" dirty="0"/>
          </a:p>
        </p:txBody>
      </p:sp>
      <p:sp>
        <p:nvSpPr>
          <p:cNvPr id="8" name="Text 4"/>
          <p:cNvSpPr/>
          <p:nvPr/>
        </p:nvSpPr>
        <p:spPr>
          <a:xfrm>
            <a:off x="5254704" y="5267682"/>
            <a:ext cx="4120872" cy="1814513"/>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Medan elektromagnetik yang dipancarkan oleh antena menyebar melalui ruang dan dapat ditangkap oleh antena lain, sehingga memungkinkan komunikasi nirkabel.</a:t>
            </a:r>
            <a:endParaRPr lang="en-US" sz="1750" dirty="0"/>
          </a:p>
        </p:txBody>
      </p:sp>
      <p:pic>
        <p:nvPicPr>
          <p:cNvPr id="9" name="Image 2" descr="preencoded.png"/>
          <p:cNvPicPr>
            <a:picLocks noChangeAspect="1"/>
          </p:cNvPicPr>
          <p:nvPr/>
        </p:nvPicPr>
        <p:blipFill>
          <a:blip r:embed="rId5"/>
          <a:stretch>
            <a:fillRect/>
          </a:stretch>
        </p:blipFill>
        <p:spPr>
          <a:xfrm>
            <a:off x="9715738" y="1946910"/>
            <a:ext cx="4120753" cy="2546747"/>
          </a:xfrm>
          <a:prstGeom prst="rect">
            <a:avLst/>
          </a:prstGeom>
        </p:spPr>
      </p:pic>
      <p:sp>
        <p:nvSpPr>
          <p:cNvPr id="10" name="Text 5"/>
          <p:cNvSpPr/>
          <p:nvPr/>
        </p:nvSpPr>
        <p:spPr>
          <a:xfrm>
            <a:off x="9715738" y="4777145"/>
            <a:ext cx="4055864"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Antena Pemancar dan Penerima</a:t>
            </a:r>
            <a:endParaRPr lang="en-US" sz="2200" dirty="0"/>
          </a:p>
        </p:txBody>
      </p:sp>
      <p:sp>
        <p:nvSpPr>
          <p:cNvPr id="11" name="Text 6"/>
          <p:cNvSpPr/>
          <p:nvPr/>
        </p:nvSpPr>
        <p:spPr>
          <a:xfrm>
            <a:off x="9715738" y="5267563"/>
            <a:ext cx="4120753" cy="1814513"/>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Antena pemancar mengubah sinyal listrik menjadi gelombang elektromagnetik, sedangkan antena penerima melakukan kebalikannya, mengubah gelombang elektromagnetik menjadi sinyal listrik.</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9402961" y="1604367"/>
            <a:ext cx="4968359" cy="5020866"/>
          </a:xfrm>
          <a:prstGeom prst="rect">
            <a:avLst/>
          </a:prstGeom>
        </p:spPr>
      </p:pic>
      <p:sp>
        <p:nvSpPr>
          <p:cNvPr id="4" name="Text 0"/>
          <p:cNvSpPr/>
          <p:nvPr/>
        </p:nvSpPr>
        <p:spPr>
          <a:xfrm>
            <a:off x="725210" y="862370"/>
            <a:ext cx="5180171" cy="647462"/>
          </a:xfrm>
          <a:prstGeom prst="rect">
            <a:avLst/>
          </a:prstGeom>
          <a:noFill/>
          <a:ln/>
        </p:spPr>
        <p:txBody>
          <a:bodyPr wrap="none" lIns="0" tIns="0" rIns="0" bIns="0" rtlCol="0" anchor="t"/>
          <a:lstStyle/>
          <a:p>
            <a:pPr marL="0" indent="0">
              <a:lnSpc>
                <a:spcPts val="5050"/>
              </a:lnSpc>
              <a:buNone/>
            </a:pPr>
            <a:r>
              <a:rPr lang="en-US" sz="4050" b="1" dirty="0">
                <a:solidFill>
                  <a:srgbClr val="282824"/>
                </a:solidFill>
                <a:latin typeface="Lato Bold" pitchFamily="34" charset="0"/>
                <a:ea typeface="Lato Bold" pitchFamily="34" charset="-122"/>
                <a:cs typeface="Lato Bold" pitchFamily="34" charset="-120"/>
              </a:rPr>
              <a:t>Karakteristik Antena</a:t>
            </a:r>
            <a:endParaRPr lang="en-US" sz="4050" dirty="0"/>
          </a:p>
        </p:txBody>
      </p:sp>
      <p:sp>
        <p:nvSpPr>
          <p:cNvPr id="5" name="Shape 1"/>
          <p:cNvSpPr/>
          <p:nvPr/>
        </p:nvSpPr>
        <p:spPr>
          <a:xfrm>
            <a:off x="725210" y="2053590"/>
            <a:ext cx="466130" cy="466130"/>
          </a:xfrm>
          <a:prstGeom prst="roundRect">
            <a:avLst>
              <a:gd name="adj" fmla="val 6668"/>
            </a:avLst>
          </a:prstGeom>
          <a:solidFill>
            <a:srgbClr val="E5DFD2"/>
          </a:solidFill>
          <a:ln/>
        </p:spPr>
        <p:txBody>
          <a:bodyPr/>
          <a:lstStyle/>
          <a:p>
            <a:endParaRPr lang="en-US"/>
          </a:p>
        </p:txBody>
      </p:sp>
      <p:sp>
        <p:nvSpPr>
          <p:cNvPr id="6" name="Text 2"/>
          <p:cNvSpPr/>
          <p:nvPr/>
        </p:nvSpPr>
        <p:spPr>
          <a:xfrm>
            <a:off x="868085" y="2131219"/>
            <a:ext cx="180261" cy="310872"/>
          </a:xfrm>
          <a:prstGeom prst="rect">
            <a:avLst/>
          </a:prstGeom>
          <a:noFill/>
          <a:ln/>
        </p:spPr>
        <p:txBody>
          <a:bodyPr wrap="none" lIns="0" tIns="0" rIns="0" bIns="0" rtlCol="0" anchor="t"/>
          <a:lstStyle/>
          <a:p>
            <a:pPr marL="0" indent="0" algn="ctr">
              <a:lnSpc>
                <a:spcPts val="2400"/>
              </a:lnSpc>
              <a:buNone/>
            </a:pPr>
            <a:r>
              <a:rPr lang="en-US" sz="2400" b="1" dirty="0">
                <a:solidFill>
                  <a:srgbClr val="4A4A45"/>
                </a:solidFill>
                <a:latin typeface="Lato Bold" pitchFamily="34" charset="0"/>
                <a:ea typeface="Lato Bold" pitchFamily="34" charset="-122"/>
                <a:cs typeface="Lato Bold" pitchFamily="34" charset="-120"/>
              </a:rPr>
              <a:t>1</a:t>
            </a:r>
            <a:endParaRPr lang="en-US" sz="2400" dirty="0"/>
          </a:p>
        </p:txBody>
      </p:sp>
      <p:sp>
        <p:nvSpPr>
          <p:cNvPr id="7" name="Text 3"/>
          <p:cNvSpPr/>
          <p:nvPr/>
        </p:nvSpPr>
        <p:spPr>
          <a:xfrm>
            <a:off x="1398508" y="2053590"/>
            <a:ext cx="2590086" cy="323612"/>
          </a:xfrm>
          <a:prstGeom prst="rect">
            <a:avLst/>
          </a:prstGeom>
          <a:noFill/>
          <a:ln/>
        </p:spPr>
        <p:txBody>
          <a:bodyPr wrap="none" lIns="0" tIns="0" rIns="0" bIns="0" rtlCol="0" anchor="t"/>
          <a:lstStyle/>
          <a:p>
            <a:pPr marL="0" indent="0">
              <a:lnSpc>
                <a:spcPts val="2500"/>
              </a:lnSpc>
              <a:buNone/>
            </a:pPr>
            <a:r>
              <a:rPr lang="en-US" sz="2000" b="1" dirty="0">
                <a:solidFill>
                  <a:srgbClr val="4A4A45"/>
                </a:solidFill>
                <a:latin typeface="Lato Bold" pitchFamily="34" charset="0"/>
                <a:ea typeface="Lato Bold" pitchFamily="34" charset="-122"/>
                <a:cs typeface="Lato Bold" pitchFamily="34" charset="-120"/>
              </a:rPr>
              <a:t>1. Pola Radiasi</a:t>
            </a:r>
            <a:endParaRPr lang="en-US" sz="2000" dirty="0"/>
          </a:p>
        </p:txBody>
      </p:sp>
      <p:sp>
        <p:nvSpPr>
          <p:cNvPr id="8" name="Text 4"/>
          <p:cNvSpPr/>
          <p:nvPr/>
        </p:nvSpPr>
        <p:spPr>
          <a:xfrm>
            <a:off x="1398508" y="2501503"/>
            <a:ext cx="3069908" cy="1657350"/>
          </a:xfrm>
          <a:prstGeom prst="rect">
            <a:avLst/>
          </a:prstGeom>
          <a:noFill/>
          <a:ln/>
        </p:spPr>
        <p:txBody>
          <a:bodyPr wrap="square" lIns="0" tIns="0" rIns="0" bIns="0" rtlCol="0" anchor="t"/>
          <a:lstStyle/>
          <a:p>
            <a:pPr marL="0" indent="0">
              <a:lnSpc>
                <a:spcPts val="2600"/>
              </a:lnSpc>
              <a:buNone/>
            </a:pPr>
            <a:r>
              <a:rPr lang="en-US" sz="1600" dirty="0">
                <a:solidFill>
                  <a:srgbClr val="4A4A45"/>
                </a:solidFill>
                <a:latin typeface="Lato" pitchFamily="34" charset="0"/>
                <a:ea typeface="Lato" pitchFamily="34" charset="-122"/>
                <a:cs typeface="Lato" pitchFamily="34" charset="-120"/>
              </a:rPr>
              <a:t>Pola radiasi menggambarkan bagaimana antena memancarkan sinyal. Ini menunjukkan arah mana sinyal dipancarkan dan diterima dengan kuat.</a:t>
            </a:r>
            <a:endParaRPr lang="en-US" sz="1600" dirty="0"/>
          </a:p>
        </p:txBody>
      </p:sp>
      <p:sp>
        <p:nvSpPr>
          <p:cNvPr id="9" name="Shape 5"/>
          <p:cNvSpPr/>
          <p:nvPr/>
        </p:nvSpPr>
        <p:spPr>
          <a:xfrm>
            <a:off x="4675584" y="2053590"/>
            <a:ext cx="466130" cy="466130"/>
          </a:xfrm>
          <a:prstGeom prst="roundRect">
            <a:avLst>
              <a:gd name="adj" fmla="val 6668"/>
            </a:avLst>
          </a:prstGeom>
          <a:solidFill>
            <a:srgbClr val="E5DFD2"/>
          </a:solidFill>
          <a:ln/>
        </p:spPr>
        <p:txBody>
          <a:bodyPr/>
          <a:lstStyle/>
          <a:p>
            <a:endParaRPr lang="en-US"/>
          </a:p>
        </p:txBody>
      </p:sp>
      <p:sp>
        <p:nvSpPr>
          <p:cNvPr id="10" name="Text 6"/>
          <p:cNvSpPr/>
          <p:nvPr/>
        </p:nvSpPr>
        <p:spPr>
          <a:xfrm>
            <a:off x="4818459" y="2131219"/>
            <a:ext cx="180261" cy="310872"/>
          </a:xfrm>
          <a:prstGeom prst="rect">
            <a:avLst/>
          </a:prstGeom>
          <a:noFill/>
          <a:ln/>
        </p:spPr>
        <p:txBody>
          <a:bodyPr wrap="none" lIns="0" tIns="0" rIns="0" bIns="0" rtlCol="0" anchor="t"/>
          <a:lstStyle/>
          <a:p>
            <a:pPr marL="0" indent="0" algn="ctr">
              <a:lnSpc>
                <a:spcPts val="2400"/>
              </a:lnSpc>
              <a:buNone/>
            </a:pPr>
            <a:r>
              <a:rPr lang="en-US" sz="2400" b="1" dirty="0">
                <a:solidFill>
                  <a:srgbClr val="4A4A45"/>
                </a:solidFill>
                <a:latin typeface="Lato Bold" pitchFamily="34" charset="0"/>
                <a:ea typeface="Lato Bold" pitchFamily="34" charset="-122"/>
                <a:cs typeface="Lato Bold" pitchFamily="34" charset="-120"/>
              </a:rPr>
              <a:t>2</a:t>
            </a:r>
            <a:endParaRPr lang="en-US" sz="2400" dirty="0"/>
          </a:p>
        </p:txBody>
      </p:sp>
      <p:sp>
        <p:nvSpPr>
          <p:cNvPr id="11" name="Text 7"/>
          <p:cNvSpPr/>
          <p:nvPr/>
        </p:nvSpPr>
        <p:spPr>
          <a:xfrm>
            <a:off x="5348883" y="2053590"/>
            <a:ext cx="2590086" cy="323612"/>
          </a:xfrm>
          <a:prstGeom prst="rect">
            <a:avLst/>
          </a:prstGeom>
          <a:noFill/>
          <a:ln/>
        </p:spPr>
        <p:txBody>
          <a:bodyPr wrap="none" lIns="0" tIns="0" rIns="0" bIns="0" rtlCol="0" anchor="t"/>
          <a:lstStyle/>
          <a:p>
            <a:pPr marL="0" indent="0">
              <a:lnSpc>
                <a:spcPts val="2500"/>
              </a:lnSpc>
              <a:buNone/>
            </a:pPr>
            <a:r>
              <a:rPr lang="en-US" sz="2000" b="1" dirty="0">
                <a:solidFill>
                  <a:srgbClr val="4A4A45"/>
                </a:solidFill>
                <a:latin typeface="Lato Bold" pitchFamily="34" charset="0"/>
                <a:ea typeface="Lato Bold" pitchFamily="34" charset="-122"/>
                <a:cs typeface="Lato Bold" pitchFamily="34" charset="-120"/>
              </a:rPr>
              <a:t>2. Polarisasi</a:t>
            </a:r>
            <a:endParaRPr lang="en-US" sz="2000" dirty="0"/>
          </a:p>
        </p:txBody>
      </p:sp>
      <p:sp>
        <p:nvSpPr>
          <p:cNvPr id="12" name="Text 8"/>
          <p:cNvSpPr/>
          <p:nvPr/>
        </p:nvSpPr>
        <p:spPr>
          <a:xfrm>
            <a:off x="5348883" y="2501503"/>
            <a:ext cx="3069908" cy="1988820"/>
          </a:xfrm>
          <a:prstGeom prst="rect">
            <a:avLst/>
          </a:prstGeom>
          <a:noFill/>
          <a:ln/>
        </p:spPr>
        <p:txBody>
          <a:bodyPr wrap="square" lIns="0" tIns="0" rIns="0" bIns="0" rtlCol="0" anchor="t"/>
          <a:lstStyle/>
          <a:p>
            <a:pPr marL="0" indent="0">
              <a:lnSpc>
                <a:spcPts val="2600"/>
              </a:lnSpc>
              <a:buNone/>
            </a:pPr>
            <a:r>
              <a:rPr lang="en-US" sz="1600" dirty="0">
                <a:solidFill>
                  <a:srgbClr val="4A4A45"/>
                </a:solidFill>
                <a:latin typeface="Lato" pitchFamily="34" charset="0"/>
                <a:ea typeface="Lato" pitchFamily="34" charset="-122"/>
                <a:cs typeface="Lato" pitchFamily="34" charset="-120"/>
              </a:rPr>
              <a:t>Polarisasi antena menentukan arah medan listrik gelombang elektromagnetik yang dipancarkan. Ada dua jenis polarisasi utama: vertikal dan horizontal.</a:t>
            </a:r>
            <a:endParaRPr lang="en-US" sz="1600" dirty="0"/>
          </a:p>
        </p:txBody>
      </p:sp>
      <p:sp>
        <p:nvSpPr>
          <p:cNvPr id="13" name="Shape 9"/>
          <p:cNvSpPr/>
          <p:nvPr/>
        </p:nvSpPr>
        <p:spPr>
          <a:xfrm>
            <a:off x="725210" y="4930497"/>
            <a:ext cx="466130" cy="466130"/>
          </a:xfrm>
          <a:prstGeom prst="roundRect">
            <a:avLst>
              <a:gd name="adj" fmla="val 6668"/>
            </a:avLst>
          </a:prstGeom>
          <a:solidFill>
            <a:srgbClr val="E5DFD2"/>
          </a:solidFill>
          <a:ln/>
        </p:spPr>
        <p:txBody>
          <a:bodyPr/>
          <a:lstStyle/>
          <a:p>
            <a:endParaRPr lang="en-US"/>
          </a:p>
        </p:txBody>
      </p:sp>
      <p:sp>
        <p:nvSpPr>
          <p:cNvPr id="14" name="Text 10"/>
          <p:cNvSpPr/>
          <p:nvPr/>
        </p:nvSpPr>
        <p:spPr>
          <a:xfrm>
            <a:off x="868085" y="5008126"/>
            <a:ext cx="180261" cy="310872"/>
          </a:xfrm>
          <a:prstGeom prst="rect">
            <a:avLst/>
          </a:prstGeom>
          <a:noFill/>
          <a:ln/>
        </p:spPr>
        <p:txBody>
          <a:bodyPr wrap="none" lIns="0" tIns="0" rIns="0" bIns="0" rtlCol="0" anchor="t"/>
          <a:lstStyle/>
          <a:p>
            <a:pPr marL="0" indent="0" algn="ctr">
              <a:lnSpc>
                <a:spcPts val="2400"/>
              </a:lnSpc>
              <a:buNone/>
            </a:pPr>
            <a:r>
              <a:rPr lang="en-US" sz="2400" b="1" dirty="0">
                <a:solidFill>
                  <a:srgbClr val="4A4A45"/>
                </a:solidFill>
                <a:latin typeface="Lato Bold" pitchFamily="34" charset="0"/>
                <a:ea typeface="Lato Bold" pitchFamily="34" charset="-122"/>
                <a:cs typeface="Lato Bold" pitchFamily="34" charset="-120"/>
              </a:rPr>
              <a:t>3</a:t>
            </a:r>
            <a:endParaRPr lang="en-US" sz="2400" dirty="0"/>
          </a:p>
        </p:txBody>
      </p:sp>
      <p:sp>
        <p:nvSpPr>
          <p:cNvPr id="15" name="Text 11"/>
          <p:cNvSpPr/>
          <p:nvPr/>
        </p:nvSpPr>
        <p:spPr>
          <a:xfrm>
            <a:off x="1398508" y="4930497"/>
            <a:ext cx="2590086" cy="323612"/>
          </a:xfrm>
          <a:prstGeom prst="rect">
            <a:avLst/>
          </a:prstGeom>
          <a:noFill/>
          <a:ln/>
        </p:spPr>
        <p:txBody>
          <a:bodyPr wrap="none" lIns="0" tIns="0" rIns="0" bIns="0" rtlCol="0" anchor="t"/>
          <a:lstStyle/>
          <a:p>
            <a:pPr marL="0" indent="0">
              <a:lnSpc>
                <a:spcPts val="2500"/>
              </a:lnSpc>
              <a:buNone/>
            </a:pPr>
            <a:r>
              <a:rPr lang="en-US" sz="2000" b="1" dirty="0">
                <a:solidFill>
                  <a:srgbClr val="4A4A45"/>
                </a:solidFill>
                <a:latin typeface="Lato Bold" pitchFamily="34" charset="0"/>
                <a:ea typeface="Lato Bold" pitchFamily="34" charset="-122"/>
                <a:cs typeface="Lato Bold" pitchFamily="34" charset="-120"/>
              </a:rPr>
              <a:t>3. Impedansi</a:t>
            </a:r>
            <a:endParaRPr lang="en-US" sz="2000" dirty="0"/>
          </a:p>
        </p:txBody>
      </p:sp>
      <p:sp>
        <p:nvSpPr>
          <p:cNvPr id="16" name="Text 12"/>
          <p:cNvSpPr/>
          <p:nvPr/>
        </p:nvSpPr>
        <p:spPr>
          <a:xfrm>
            <a:off x="1398508" y="5378410"/>
            <a:ext cx="3069908" cy="1988820"/>
          </a:xfrm>
          <a:prstGeom prst="rect">
            <a:avLst/>
          </a:prstGeom>
          <a:noFill/>
          <a:ln/>
        </p:spPr>
        <p:txBody>
          <a:bodyPr wrap="square" lIns="0" tIns="0" rIns="0" bIns="0" rtlCol="0" anchor="t"/>
          <a:lstStyle/>
          <a:p>
            <a:pPr marL="0" indent="0">
              <a:lnSpc>
                <a:spcPts val="2600"/>
              </a:lnSpc>
              <a:buNone/>
            </a:pPr>
            <a:r>
              <a:rPr lang="en-US" sz="1600" dirty="0">
                <a:solidFill>
                  <a:srgbClr val="4A4A45"/>
                </a:solidFill>
                <a:latin typeface="Lato" pitchFamily="34" charset="0"/>
                <a:ea typeface="Lato" pitchFamily="34" charset="-122"/>
                <a:cs typeface="Lato" pitchFamily="34" charset="-120"/>
              </a:rPr>
              <a:t>Impedansi antena adalah hambatan yang dialami sinyal saat melewati antena. Mencocokkan impedansi antara antena dan saluran transmisi sangat penting untuk transfer daya yang efisien.</a:t>
            </a:r>
            <a:endParaRPr lang="en-US" sz="1600" dirty="0"/>
          </a:p>
        </p:txBody>
      </p:sp>
      <p:sp>
        <p:nvSpPr>
          <p:cNvPr id="17" name="Shape 13"/>
          <p:cNvSpPr/>
          <p:nvPr/>
        </p:nvSpPr>
        <p:spPr>
          <a:xfrm>
            <a:off x="4675584" y="4930497"/>
            <a:ext cx="466130" cy="466130"/>
          </a:xfrm>
          <a:prstGeom prst="roundRect">
            <a:avLst>
              <a:gd name="adj" fmla="val 6668"/>
            </a:avLst>
          </a:prstGeom>
          <a:solidFill>
            <a:srgbClr val="E5DFD2"/>
          </a:solidFill>
          <a:ln/>
        </p:spPr>
        <p:txBody>
          <a:bodyPr/>
          <a:lstStyle/>
          <a:p>
            <a:endParaRPr lang="en-US"/>
          </a:p>
        </p:txBody>
      </p:sp>
      <p:sp>
        <p:nvSpPr>
          <p:cNvPr id="18" name="Text 14"/>
          <p:cNvSpPr/>
          <p:nvPr/>
        </p:nvSpPr>
        <p:spPr>
          <a:xfrm>
            <a:off x="4818459" y="5008126"/>
            <a:ext cx="180261" cy="310872"/>
          </a:xfrm>
          <a:prstGeom prst="rect">
            <a:avLst/>
          </a:prstGeom>
          <a:noFill/>
          <a:ln/>
        </p:spPr>
        <p:txBody>
          <a:bodyPr wrap="none" lIns="0" tIns="0" rIns="0" bIns="0" rtlCol="0" anchor="t"/>
          <a:lstStyle/>
          <a:p>
            <a:pPr marL="0" indent="0" algn="ctr">
              <a:lnSpc>
                <a:spcPts val="2400"/>
              </a:lnSpc>
              <a:buNone/>
            </a:pPr>
            <a:r>
              <a:rPr lang="en-US" sz="2400" b="1" dirty="0">
                <a:solidFill>
                  <a:srgbClr val="4A4A45"/>
                </a:solidFill>
                <a:latin typeface="Lato Bold" pitchFamily="34" charset="0"/>
                <a:ea typeface="Lato Bold" pitchFamily="34" charset="-122"/>
                <a:cs typeface="Lato Bold" pitchFamily="34" charset="-120"/>
              </a:rPr>
              <a:t>4</a:t>
            </a:r>
            <a:endParaRPr lang="en-US" sz="2400" dirty="0"/>
          </a:p>
        </p:txBody>
      </p:sp>
      <p:sp>
        <p:nvSpPr>
          <p:cNvPr id="19" name="Text 15"/>
          <p:cNvSpPr/>
          <p:nvPr/>
        </p:nvSpPr>
        <p:spPr>
          <a:xfrm>
            <a:off x="5348883" y="4930497"/>
            <a:ext cx="2590086" cy="323612"/>
          </a:xfrm>
          <a:prstGeom prst="rect">
            <a:avLst/>
          </a:prstGeom>
          <a:noFill/>
          <a:ln/>
        </p:spPr>
        <p:txBody>
          <a:bodyPr wrap="none" lIns="0" tIns="0" rIns="0" bIns="0" rtlCol="0" anchor="t"/>
          <a:lstStyle/>
          <a:p>
            <a:pPr marL="0" indent="0">
              <a:lnSpc>
                <a:spcPts val="2500"/>
              </a:lnSpc>
              <a:buNone/>
            </a:pPr>
            <a:r>
              <a:rPr lang="en-US" sz="2000" b="1" dirty="0">
                <a:solidFill>
                  <a:srgbClr val="4A4A45"/>
                </a:solidFill>
                <a:latin typeface="Lato Bold" pitchFamily="34" charset="0"/>
                <a:ea typeface="Lato Bold" pitchFamily="34" charset="-122"/>
                <a:cs typeface="Lato Bold" pitchFamily="34" charset="-120"/>
              </a:rPr>
              <a:t>4. Gain</a:t>
            </a:r>
            <a:endParaRPr lang="en-US" sz="2000" dirty="0"/>
          </a:p>
        </p:txBody>
      </p:sp>
      <p:sp>
        <p:nvSpPr>
          <p:cNvPr id="20" name="Text 16"/>
          <p:cNvSpPr/>
          <p:nvPr/>
        </p:nvSpPr>
        <p:spPr>
          <a:xfrm>
            <a:off x="5348883" y="5378410"/>
            <a:ext cx="3069908" cy="1988820"/>
          </a:xfrm>
          <a:prstGeom prst="rect">
            <a:avLst/>
          </a:prstGeom>
          <a:noFill/>
          <a:ln/>
        </p:spPr>
        <p:txBody>
          <a:bodyPr wrap="square" lIns="0" tIns="0" rIns="0" bIns="0" rtlCol="0" anchor="t"/>
          <a:lstStyle/>
          <a:p>
            <a:pPr marL="0" indent="0">
              <a:lnSpc>
                <a:spcPts val="2600"/>
              </a:lnSpc>
              <a:buNone/>
            </a:pPr>
            <a:r>
              <a:rPr lang="en-US" sz="1600" dirty="0">
                <a:solidFill>
                  <a:srgbClr val="4A4A45"/>
                </a:solidFill>
                <a:latin typeface="Lato" pitchFamily="34" charset="0"/>
                <a:ea typeface="Lato" pitchFamily="34" charset="-122"/>
                <a:cs typeface="Lato" pitchFamily="34" charset="-120"/>
              </a:rPr>
              <a:t>Gain antena menunjukkan kemampuan antena untuk mengarahkan daya ke arah tertentu. Antena dengan gain tinggi dapat mengarahkan sinyal dengan lebih kuat.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304800" y="2476500"/>
            <a:ext cx="4876800" cy="3276600"/>
          </a:xfrm>
          <a:prstGeom prst="rect">
            <a:avLst/>
          </a:prstGeom>
        </p:spPr>
      </p:pic>
      <p:sp>
        <p:nvSpPr>
          <p:cNvPr id="4" name="Text 0"/>
          <p:cNvSpPr/>
          <p:nvPr/>
        </p:nvSpPr>
        <p:spPr>
          <a:xfrm>
            <a:off x="6234470" y="1093232"/>
            <a:ext cx="7647861" cy="1335881"/>
          </a:xfrm>
          <a:prstGeom prst="rect">
            <a:avLst/>
          </a:prstGeom>
          <a:noFill/>
          <a:ln/>
        </p:spPr>
        <p:txBody>
          <a:bodyPr wrap="square" lIns="0" tIns="0" rIns="0" bIns="0" rtlCol="0" anchor="t"/>
          <a:lstStyle/>
          <a:p>
            <a:pPr marL="0" indent="0">
              <a:lnSpc>
                <a:spcPts val="5250"/>
              </a:lnSpc>
              <a:buNone/>
            </a:pPr>
            <a:r>
              <a:rPr lang="en-US" sz="4200" b="1" dirty="0">
                <a:solidFill>
                  <a:srgbClr val="282824"/>
                </a:solidFill>
                <a:latin typeface="Lato Bold" pitchFamily="34" charset="0"/>
                <a:ea typeface="Lato Bold" pitchFamily="34" charset="-122"/>
                <a:cs typeface="Lato Bold" pitchFamily="34" charset="-120"/>
              </a:rPr>
              <a:t>Faktor-faktor yang Mempengaruhi Kinerja Antena</a:t>
            </a:r>
            <a:endParaRPr lang="en-US" sz="4200" dirty="0"/>
          </a:p>
        </p:txBody>
      </p:sp>
      <p:sp>
        <p:nvSpPr>
          <p:cNvPr id="5" name="Shape 1"/>
          <p:cNvSpPr/>
          <p:nvPr/>
        </p:nvSpPr>
        <p:spPr>
          <a:xfrm>
            <a:off x="6234470" y="2749748"/>
            <a:ext cx="3717131" cy="1915478"/>
          </a:xfrm>
          <a:prstGeom prst="roundRect">
            <a:avLst>
              <a:gd name="adj" fmla="val 1674"/>
            </a:avLst>
          </a:prstGeom>
          <a:solidFill>
            <a:srgbClr val="E5DFD2"/>
          </a:solidFill>
          <a:ln/>
        </p:spPr>
        <p:txBody>
          <a:bodyPr/>
          <a:lstStyle/>
          <a:p>
            <a:endParaRPr lang="en-US"/>
          </a:p>
        </p:txBody>
      </p:sp>
      <p:sp>
        <p:nvSpPr>
          <p:cNvPr id="6" name="Text 2"/>
          <p:cNvSpPr/>
          <p:nvPr/>
        </p:nvSpPr>
        <p:spPr>
          <a:xfrm>
            <a:off x="6448187" y="2963466"/>
            <a:ext cx="2672001" cy="333970"/>
          </a:xfrm>
          <a:prstGeom prst="rect">
            <a:avLst/>
          </a:prstGeom>
          <a:noFill/>
          <a:ln/>
        </p:spPr>
        <p:txBody>
          <a:bodyPr wrap="none" lIns="0" tIns="0" rIns="0" bIns="0" rtlCol="0" anchor="t"/>
          <a:lstStyle/>
          <a:p>
            <a:pPr marL="0" indent="0">
              <a:lnSpc>
                <a:spcPts val="2600"/>
              </a:lnSpc>
              <a:buNone/>
            </a:pPr>
            <a:r>
              <a:rPr lang="en-US" sz="2100" b="1" dirty="0">
                <a:solidFill>
                  <a:srgbClr val="4A4A45"/>
                </a:solidFill>
                <a:latin typeface="Lato Bold" pitchFamily="34" charset="0"/>
                <a:ea typeface="Lato Bold" pitchFamily="34" charset="-122"/>
                <a:cs typeface="Lato Bold" pitchFamily="34" charset="-120"/>
              </a:rPr>
              <a:t>Frekuensi Operasi</a:t>
            </a:r>
            <a:endParaRPr lang="en-US" sz="2100" dirty="0"/>
          </a:p>
        </p:txBody>
      </p:sp>
      <p:sp>
        <p:nvSpPr>
          <p:cNvPr id="7" name="Text 3"/>
          <p:cNvSpPr/>
          <p:nvPr/>
        </p:nvSpPr>
        <p:spPr>
          <a:xfrm>
            <a:off x="6448187" y="3425666"/>
            <a:ext cx="3289697" cy="1025843"/>
          </a:xfrm>
          <a:prstGeom prst="rect">
            <a:avLst/>
          </a:prstGeom>
          <a:noFill/>
          <a:ln/>
        </p:spPr>
        <p:txBody>
          <a:bodyPr wrap="square" lIns="0" tIns="0" rIns="0" bIns="0" rtlCol="0" anchor="t"/>
          <a:lstStyle/>
          <a:p>
            <a:pPr marL="0" indent="0">
              <a:lnSpc>
                <a:spcPts val="2650"/>
              </a:lnSpc>
              <a:buNone/>
            </a:pPr>
            <a:r>
              <a:rPr lang="en-US" sz="1650" dirty="0">
                <a:solidFill>
                  <a:srgbClr val="4A4A45"/>
                </a:solidFill>
                <a:latin typeface="Lato" pitchFamily="34" charset="0"/>
                <a:ea typeface="Lato" pitchFamily="34" charset="-122"/>
                <a:cs typeface="Lato" pitchFamily="34" charset="-120"/>
              </a:rPr>
              <a:t>Frekuensi operasi antena menentukan ukuran fisik dan karakteristik radiasi antena.</a:t>
            </a:r>
            <a:endParaRPr lang="en-US" sz="1650" dirty="0"/>
          </a:p>
        </p:txBody>
      </p:sp>
      <p:sp>
        <p:nvSpPr>
          <p:cNvPr id="8" name="Shape 4"/>
          <p:cNvSpPr/>
          <p:nvPr/>
        </p:nvSpPr>
        <p:spPr>
          <a:xfrm>
            <a:off x="10165318" y="2749748"/>
            <a:ext cx="3717131" cy="1915478"/>
          </a:xfrm>
          <a:prstGeom prst="roundRect">
            <a:avLst>
              <a:gd name="adj" fmla="val 1674"/>
            </a:avLst>
          </a:prstGeom>
          <a:solidFill>
            <a:srgbClr val="E5DFD2"/>
          </a:solidFill>
          <a:ln/>
        </p:spPr>
        <p:txBody>
          <a:bodyPr/>
          <a:lstStyle/>
          <a:p>
            <a:endParaRPr lang="en-US"/>
          </a:p>
        </p:txBody>
      </p:sp>
      <p:sp>
        <p:nvSpPr>
          <p:cNvPr id="9" name="Text 5"/>
          <p:cNvSpPr/>
          <p:nvPr/>
        </p:nvSpPr>
        <p:spPr>
          <a:xfrm>
            <a:off x="10379035" y="2963466"/>
            <a:ext cx="2672001" cy="333970"/>
          </a:xfrm>
          <a:prstGeom prst="rect">
            <a:avLst/>
          </a:prstGeom>
          <a:noFill/>
          <a:ln/>
        </p:spPr>
        <p:txBody>
          <a:bodyPr wrap="none" lIns="0" tIns="0" rIns="0" bIns="0" rtlCol="0" anchor="t"/>
          <a:lstStyle/>
          <a:p>
            <a:pPr marL="0" indent="0">
              <a:lnSpc>
                <a:spcPts val="2600"/>
              </a:lnSpc>
              <a:buNone/>
            </a:pPr>
            <a:r>
              <a:rPr lang="en-US" sz="2100" b="1" dirty="0">
                <a:solidFill>
                  <a:srgbClr val="4A4A45"/>
                </a:solidFill>
                <a:latin typeface="Lato Bold" pitchFamily="34" charset="0"/>
                <a:ea typeface="Lato Bold" pitchFamily="34" charset="-122"/>
                <a:cs typeface="Lato Bold" pitchFamily="34" charset="-120"/>
              </a:rPr>
              <a:t>Ukuran dan Bentuk</a:t>
            </a:r>
            <a:endParaRPr lang="en-US" sz="2100" dirty="0"/>
          </a:p>
        </p:txBody>
      </p:sp>
      <p:sp>
        <p:nvSpPr>
          <p:cNvPr id="10" name="Text 6"/>
          <p:cNvSpPr/>
          <p:nvPr/>
        </p:nvSpPr>
        <p:spPr>
          <a:xfrm>
            <a:off x="10379035" y="3425666"/>
            <a:ext cx="3289697" cy="1025843"/>
          </a:xfrm>
          <a:prstGeom prst="rect">
            <a:avLst/>
          </a:prstGeom>
          <a:noFill/>
          <a:ln/>
        </p:spPr>
        <p:txBody>
          <a:bodyPr wrap="square" lIns="0" tIns="0" rIns="0" bIns="0" rtlCol="0" anchor="t"/>
          <a:lstStyle/>
          <a:p>
            <a:pPr marL="0" indent="0">
              <a:lnSpc>
                <a:spcPts val="2650"/>
              </a:lnSpc>
              <a:buNone/>
            </a:pPr>
            <a:r>
              <a:rPr lang="en-US" sz="1650" dirty="0">
                <a:solidFill>
                  <a:srgbClr val="4A4A45"/>
                </a:solidFill>
                <a:latin typeface="Lato" pitchFamily="34" charset="0"/>
                <a:ea typeface="Lato" pitchFamily="34" charset="-122"/>
                <a:cs typeface="Lato" pitchFamily="34" charset="-120"/>
              </a:rPr>
              <a:t>Ukuran dan bentuk antena mempengaruhi pola radiasi, gain, dan impedansi antena.</a:t>
            </a:r>
            <a:endParaRPr lang="en-US" sz="1650" dirty="0"/>
          </a:p>
        </p:txBody>
      </p:sp>
      <p:sp>
        <p:nvSpPr>
          <p:cNvPr id="11" name="Shape 7"/>
          <p:cNvSpPr/>
          <p:nvPr/>
        </p:nvSpPr>
        <p:spPr>
          <a:xfrm>
            <a:off x="6234470" y="4878943"/>
            <a:ext cx="3717131" cy="2257425"/>
          </a:xfrm>
          <a:prstGeom prst="roundRect">
            <a:avLst>
              <a:gd name="adj" fmla="val 1420"/>
            </a:avLst>
          </a:prstGeom>
          <a:solidFill>
            <a:srgbClr val="E5DFD2"/>
          </a:solidFill>
          <a:ln/>
        </p:spPr>
        <p:txBody>
          <a:bodyPr/>
          <a:lstStyle/>
          <a:p>
            <a:endParaRPr lang="en-US"/>
          </a:p>
        </p:txBody>
      </p:sp>
      <p:sp>
        <p:nvSpPr>
          <p:cNvPr id="12" name="Text 8"/>
          <p:cNvSpPr/>
          <p:nvPr/>
        </p:nvSpPr>
        <p:spPr>
          <a:xfrm>
            <a:off x="6448187" y="5092660"/>
            <a:ext cx="2672001" cy="333970"/>
          </a:xfrm>
          <a:prstGeom prst="rect">
            <a:avLst/>
          </a:prstGeom>
          <a:noFill/>
          <a:ln/>
        </p:spPr>
        <p:txBody>
          <a:bodyPr wrap="none" lIns="0" tIns="0" rIns="0" bIns="0" rtlCol="0" anchor="t"/>
          <a:lstStyle/>
          <a:p>
            <a:pPr marL="0" indent="0">
              <a:lnSpc>
                <a:spcPts val="2600"/>
              </a:lnSpc>
              <a:buNone/>
            </a:pPr>
            <a:r>
              <a:rPr lang="en-US" sz="2100" b="1" dirty="0">
                <a:solidFill>
                  <a:srgbClr val="4A4A45"/>
                </a:solidFill>
                <a:latin typeface="Lato Bold" pitchFamily="34" charset="0"/>
                <a:ea typeface="Lato Bold" pitchFamily="34" charset="-122"/>
                <a:cs typeface="Lato Bold" pitchFamily="34" charset="-120"/>
              </a:rPr>
              <a:t>Bahan Konstruksi</a:t>
            </a:r>
            <a:endParaRPr lang="en-US" sz="2100" dirty="0"/>
          </a:p>
        </p:txBody>
      </p:sp>
      <p:sp>
        <p:nvSpPr>
          <p:cNvPr id="13" name="Text 9"/>
          <p:cNvSpPr/>
          <p:nvPr/>
        </p:nvSpPr>
        <p:spPr>
          <a:xfrm>
            <a:off x="6448187" y="5554861"/>
            <a:ext cx="3289697" cy="1367790"/>
          </a:xfrm>
          <a:prstGeom prst="rect">
            <a:avLst/>
          </a:prstGeom>
          <a:noFill/>
          <a:ln/>
        </p:spPr>
        <p:txBody>
          <a:bodyPr wrap="square" lIns="0" tIns="0" rIns="0" bIns="0" rtlCol="0" anchor="t"/>
          <a:lstStyle/>
          <a:p>
            <a:pPr marL="0" indent="0">
              <a:lnSpc>
                <a:spcPts val="2650"/>
              </a:lnSpc>
              <a:buNone/>
            </a:pPr>
            <a:r>
              <a:rPr lang="en-US" sz="1650" dirty="0">
                <a:solidFill>
                  <a:srgbClr val="4A4A45"/>
                </a:solidFill>
                <a:latin typeface="Lato" pitchFamily="34" charset="0"/>
                <a:ea typeface="Lato" pitchFamily="34" charset="-122"/>
                <a:cs typeface="Lato" pitchFamily="34" charset="-120"/>
              </a:rPr>
              <a:t>Bahan konstruksi antena mempengaruhi efisiensi, daya tahan, dan karakteristik listrik antena.</a:t>
            </a:r>
            <a:endParaRPr lang="en-US" sz="1650" dirty="0"/>
          </a:p>
        </p:txBody>
      </p:sp>
      <p:sp>
        <p:nvSpPr>
          <p:cNvPr id="14" name="Shape 10"/>
          <p:cNvSpPr/>
          <p:nvPr/>
        </p:nvSpPr>
        <p:spPr>
          <a:xfrm>
            <a:off x="10165318" y="4878943"/>
            <a:ext cx="3717131" cy="2257425"/>
          </a:xfrm>
          <a:prstGeom prst="roundRect">
            <a:avLst>
              <a:gd name="adj" fmla="val 1420"/>
            </a:avLst>
          </a:prstGeom>
          <a:solidFill>
            <a:srgbClr val="E5DFD2"/>
          </a:solidFill>
          <a:ln/>
        </p:spPr>
        <p:txBody>
          <a:bodyPr/>
          <a:lstStyle/>
          <a:p>
            <a:endParaRPr lang="en-US"/>
          </a:p>
        </p:txBody>
      </p:sp>
      <p:sp>
        <p:nvSpPr>
          <p:cNvPr id="15" name="Text 11"/>
          <p:cNvSpPr/>
          <p:nvPr/>
        </p:nvSpPr>
        <p:spPr>
          <a:xfrm>
            <a:off x="10379035" y="5092660"/>
            <a:ext cx="2672001" cy="333970"/>
          </a:xfrm>
          <a:prstGeom prst="rect">
            <a:avLst/>
          </a:prstGeom>
          <a:noFill/>
          <a:ln/>
        </p:spPr>
        <p:txBody>
          <a:bodyPr wrap="none" lIns="0" tIns="0" rIns="0" bIns="0" rtlCol="0" anchor="t"/>
          <a:lstStyle/>
          <a:p>
            <a:pPr marL="0" indent="0">
              <a:lnSpc>
                <a:spcPts val="2600"/>
              </a:lnSpc>
              <a:buNone/>
            </a:pPr>
            <a:r>
              <a:rPr lang="en-US" sz="2100" b="1" dirty="0">
                <a:solidFill>
                  <a:srgbClr val="4A4A45"/>
                </a:solidFill>
                <a:latin typeface="Lato Bold" pitchFamily="34" charset="0"/>
                <a:ea typeface="Lato Bold" pitchFamily="34" charset="-122"/>
                <a:cs typeface="Lato Bold" pitchFamily="34" charset="-120"/>
              </a:rPr>
              <a:t>Lingkungan</a:t>
            </a:r>
            <a:endParaRPr lang="en-US" sz="2100" dirty="0"/>
          </a:p>
        </p:txBody>
      </p:sp>
      <p:sp>
        <p:nvSpPr>
          <p:cNvPr id="16" name="Text 12"/>
          <p:cNvSpPr/>
          <p:nvPr/>
        </p:nvSpPr>
        <p:spPr>
          <a:xfrm>
            <a:off x="10379035" y="5554861"/>
            <a:ext cx="3289697" cy="1367790"/>
          </a:xfrm>
          <a:prstGeom prst="rect">
            <a:avLst/>
          </a:prstGeom>
          <a:noFill/>
          <a:ln/>
        </p:spPr>
        <p:txBody>
          <a:bodyPr wrap="square" lIns="0" tIns="0" rIns="0" bIns="0" rtlCol="0" anchor="t"/>
          <a:lstStyle/>
          <a:p>
            <a:pPr marL="0" indent="0">
              <a:lnSpc>
                <a:spcPts val="2650"/>
              </a:lnSpc>
              <a:buNone/>
            </a:pPr>
            <a:r>
              <a:rPr lang="en-US" sz="1650" dirty="0">
                <a:solidFill>
                  <a:srgbClr val="4A4A45"/>
                </a:solidFill>
                <a:latin typeface="Lato" pitchFamily="34" charset="0"/>
                <a:ea typeface="Lato" pitchFamily="34" charset="-122"/>
                <a:cs typeface="Lato" pitchFamily="34" charset="-120"/>
              </a:rPr>
              <a:t>Faktor lingkungan seperti kelembapan, suhu, dan keberadaan benda-benda di sekitar antena dapat memengaruhi kinerja antena.</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31862"/>
          </a:xfrm>
          <a:prstGeom prst="rect">
            <a:avLst/>
          </a:prstGeom>
        </p:spPr>
      </p:pic>
      <p:pic>
        <p:nvPicPr>
          <p:cNvPr id="3" name="Image 1" descr="preencoded.png"/>
          <p:cNvPicPr>
            <a:picLocks noChangeAspect="1"/>
          </p:cNvPicPr>
          <p:nvPr/>
        </p:nvPicPr>
        <p:blipFill>
          <a:blip r:embed="rId4"/>
          <a:stretch>
            <a:fillRect/>
          </a:stretch>
        </p:blipFill>
        <p:spPr>
          <a:xfrm>
            <a:off x="214313" y="1950125"/>
            <a:ext cx="5057656" cy="4331613"/>
          </a:xfrm>
          <a:prstGeom prst="rect">
            <a:avLst/>
          </a:prstGeom>
        </p:spPr>
      </p:pic>
      <p:sp>
        <p:nvSpPr>
          <p:cNvPr id="4" name="Text 0"/>
          <p:cNvSpPr/>
          <p:nvPr/>
        </p:nvSpPr>
        <p:spPr>
          <a:xfrm>
            <a:off x="6086475" y="471488"/>
            <a:ext cx="4975741" cy="535900"/>
          </a:xfrm>
          <a:prstGeom prst="rect">
            <a:avLst/>
          </a:prstGeom>
          <a:noFill/>
          <a:ln/>
        </p:spPr>
        <p:txBody>
          <a:bodyPr wrap="none" lIns="0" tIns="0" rIns="0" bIns="0" rtlCol="0" anchor="t"/>
          <a:lstStyle/>
          <a:p>
            <a:pPr marL="0" indent="0">
              <a:lnSpc>
                <a:spcPts val="4200"/>
              </a:lnSpc>
              <a:buNone/>
            </a:pPr>
            <a:r>
              <a:rPr lang="en-US" sz="3350" b="1" dirty="0">
                <a:solidFill>
                  <a:srgbClr val="282824"/>
                </a:solidFill>
                <a:latin typeface="Lato Bold" pitchFamily="34" charset="0"/>
                <a:ea typeface="Lato Bold" pitchFamily="34" charset="-122"/>
                <a:cs typeface="Lato Bold" pitchFamily="34" charset="-120"/>
              </a:rPr>
              <a:t>Frekuensi Operasi Antena</a:t>
            </a:r>
            <a:endParaRPr lang="en-US" sz="3350" dirty="0"/>
          </a:p>
        </p:txBody>
      </p:sp>
      <p:sp>
        <p:nvSpPr>
          <p:cNvPr id="5" name="Text 1"/>
          <p:cNvSpPr/>
          <p:nvPr/>
        </p:nvSpPr>
        <p:spPr>
          <a:xfrm>
            <a:off x="6086475" y="1264563"/>
            <a:ext cx="7943850" cy="274320"/>
          </a:xfrm>
          <a:prstGeom prst="rect">
            <a:avLst/>
          </a:prstGeom>
          <a:noFill/>
          <a:ln/>
        </p:spPr>
        <p:txBody>
          <a:bodyPr wrap="none" lIns="0" tIns="0" rIns="0" bIns="0" rtlCol="0" anchor="t"/>
          <a:lstStyle/>
          <a:p>
            <a:pPr marL="0" indent="0">
              <a:lnSpc>
                <a:spcPts val="2150"/>
              </a:lnSpc>
              <a:buNone/>
            </a:pPr>
            <a:r>
              <a:rPr lang="en-US" sz="1350" dirty="0">
                <a:solidFill>
                  <a:srgbClr val="4A4A45"/>
                </a:solidFill>
                <a:latin typeface="Lato" pitchFamily="34" charset="0"/>
                <a:ea typeface="Lato" pitchFamily="34" charset="-122"/>
                <a:cs typeface="Lato" pitchFamily="34" charset="-120"/>
              </a:rPr>
              <a:t>Frekuensi operasi merupakan faktor utama yang menentukan kinerja antena.</a:t>
            </a:r>
            <a:endParaRPr lang="en-US" sz="1350" dirty="0"/>
          </a:p>
        </p:txBody>
      </p:sp>
      <p:sp>
        <p:nvSpPr>
          <p:cNvPr id="6" name="Text 2"/>
          <p:cNvSpPr/>
          <p:nvPr/>
        </p:nvSpPr>
        <p:spPr>
          <a:xfrm>
            <a:off x="6086475" y="1731764"/>
            <a:ext cx="7943850" cy="274320"/>
          </a:xfrm>
          <a:prstGeom prst="rect">
            <a:avLst/>
          </a:prstGeom>
          <a:noFill/>
          <a:ln/>
        </p:spPr>
        <p:txBody>
          <a:bodyPr wrap="none" lIns="0" tIns="0" rIns="0" bIns="0" rtlCol="0" anchor="t"/>
          <a:lstStyle/>
          <a:p>
            <a:pPr marL="0" indent="0">
              <a:lnSpc>
                <a:spcPts val="2150"/>
              </a:lnSpc>
              <a:buNone/>
            </a:pPr>
            <a:r>
              <a:rPr lang="en-US" sz="1350" dirty="0">
                <a:solidFill>
                  <a:srgbClr val="4A4A45"/>
                </a:solidFill>
                <a:latin typeface="Lato" pitchFamily="34" charset="0"/>
                <a:ea typeface="Lato" pitchFamily="34" charset="-122"/>
                <a:cs typeface="Lato" pitchFamily="34" charset="-120"/>
              </a:rPr>
              <a:t>Antena dirancang untuk beroperasi pada rentang frekuensi tertentu.</a:t>
            </a:r>
            <a:endParaRPr lang="en-US" sz="1350" dirty="0"/>
          </a:p>
        </p:txBody>
      </p:sp>
      <p:sp>
        <p:nvSpPr>
          <p:cNvPr id="7" name="Text 3"/>
          <p:cNvSpPr/>
          <p:nvPr/>
        </p:nvSpPr>
        <p:spPr>
          <a:xfrm>
            <a:off x="6086475" y="2284690"/>
            <a:ext cx="7943850" cy="565785"/>
          </a:xfrm>
          <a:prstGeom prst="rect">
            <a:avLst/>
          </a:prstGeom>
          <a:noFill/>
          <a:ln/>
        </p:spPr>
        <p:txBody>
          <a:bodyPr wrap="none" lIns="0" tIns="0" rIns="0" bIns="0" rtlCol="0" anchor="t"/>
          <a:lstStyle/>
          <a:p>
            <a:pPr marL="0" indent="0" algn="ctr">
              <a:lnSpc>
                <a:spcPts val="4450"/>
              </a:lnSpc>
              <a:buNone/>
            </a:pPr>
            <a:r>
              <a:rPr lang="en-US" sz="4450" b="1" dirty="0">
                <a:solidFill>
                  <a:srgbClr val="4A4A45"/>
                </a:solidFill>
                <a:latin typeface="Lato Bold" pitchFamily="34" charset="0"/>
                <a:ea typeface="Lato Bold" pitchFamily="34" charset="-122"/>
                <a:cs typeface="Lato Bold" pitchFamily="34" charset="-120"/>
              </a:rPr>
              <a:t>1GHz</a:t>
            </a:r>
            <a:endParaRPr lang="en-US" sz="4450" dirty="0"/>
          </a:p>
        </p:txBody>
      </p:sp>
      <p:sp>
        <p:nvSpPr>
          <p:cNvPr id="8" name="Text 4"/>
          <p:cNvSpPr/>
          <p:nvPr/>
        </p:nvSpPr>
        <p:spPr>
          <a:xfrm>
            <a:off x="8986718" y="3064788"/>
            <a:ext cx="2143363" cy="267891"/>
          </a:xfrm>
          <a:prstGeom prst="rect">
            <a:avLst/>
          </a:prstGeom>
          <a:noFill/>
          <a:ln/>
        </p:spPr>
        <p:txBody>
          <a:bodyPr wrap="none" lIns="0" tIns="0" rIns="0" bIns="0" rtlCol="0" anchor="t"/>
          <a:lstStyle/>
          <a:p>
            <a:pPr marL="0" indent="0" algn="ctr">
              <a:lnSpc>
                <a:spcPts val="2100"/>
              </a:lnSpc>
              <a:buNone/>
            </a:pPr>
            <a:r>
              <a:rPr lang="en-US" sz="1650" b="1" dirty="0">
                <a:solidFill>
                  <a:srgbClr val="4A4A45"/>
                </a:solidFill>
                <a:latin typeface="Lato Bold" pitchFamily="34" charset="0"/>
                <a:ea typeface="Lato Bold" pitchFamily="34" charset="-122"/>
                <a:cs typeface="Lato Bold" pitchFamily="34" charset="-120"/>
              </a:rPr>
              <a:t>1 GHz</a:t>
            </a:r>
            <a:endParaRPr lang="en-US" sz="1650" dirty="0"/>
          </a:p>
        </p:txBody>
      </p:sp>
      <p:sp>
        <p:nvSpPr>
          <p:cNvPr id="9" name="Text 5"/>
          <p:cNvSpPr/>
          <p:nvPr/>
        </p:nvSpPr>
        <p:spPr>
          <a:xfrm>
            <a:off x="6086475" y="3435548"/>
            <a:ext cx="7943850" cy="274320"/>
          </a:xfrm>
          <a:prstGeom prst="rect">
            <a:avLst/>
          </a:prstGeom>
          <a:noFill/>
          <a:ln/>
        </p:spPr>
        <p:txBody>
          <a:bodyPr wrap="none" lIns="0" tIns="0" rIns="0" bIns="0" rtlCol="0" anchor="t"/>
          <a:lstStyle/>
          <a:p>
            <a:pPr marL="0" indent="0" algn="ctr">
              <a:lnSpc>
                <a:spcPts val="2150"/>
              </a:lnSpc>
              <a:buNone/>
            </a:pPr>
            <a:r>
              <a:rPr lang="en-US" sz="1350" dirty="0">
                <a:solidFill>
                  <a:srgbClr val="4A4A45"/>
                </a:solidFill>
                <a:latin typeface="Lato" pitchFamily="34" charset="0"/>
                <a:ea typeface="Lato" pitchFamily="34" charset="-122"/>
                <a:cs typeface="Lato" pitchFamily="34" charset="-120"/>
              </a:rPr>
              <a:t>Digunakan untuk perangkat nirkabel seperti WiFi dan Bluetooth.</a:t>
            </a:r>
            <a:endParaRPr lang="en-US" sz="1350" dirty="0"/>
          </a:p>
        </p:txBody>
      </p:sp>
      <p:sp>
        <p:nvSpPr>
          <p:cNvPr id="10" name="Text 6"/>
          <p:cNvSpPr/>
          <p:nvPr/>
        </p:nvSpPr>
        <p:spPr>
          <a:xfrm>
            <a:off x="6086475" y="4309943"/>
            <a:ext cx="7943850" cy="565785"/>
          </a:xfrm>
          <a:prstGeom prst="rect">
            <a:avLst/>
          </a:prstGeom>
          <a:noFill/>
          <a:ln/>
        </p:spPr>
        <p:txBody>
          <a:bodyPr wrap="none" lIns="0" tIns="0" rIns="0" bIns="0" rtlCol="0" anchor="t"/>
          <a:lstStyle/>
          <a:p>
            <a:pPr marL="0" indent="0" algn="ctr">
              <a:lnSpc>
                <a:spcPts val="4450"/>
              </a:lnSpc>
              <a:buNone/>
            </a:pPr>
            <a:r>
              <a:rPr lang="en-US" sz="4450" b="1" dirty="0">
                <a:solidFill>
                  <a:srgbClr val="4A4A45"/>
                </a:solidFill>
                <a:latin typeface="Lato Bold" pitchFamily="34" charset="0"/>
                <a:ea typeface="Lato Bold" pitchFamily="34" charset="-122"/>
                <a:cs typeface="Lato Bold" pitchFamily="34" charset="-120"/>
              </a:rPr>
              <a:t>2.4GHz</a:t>
            </a:r>
            <a:endParaRPr lang="en-US" sz="4450" dirty="0"/>
          </a:p>
        </p:txBody>
      </p:sp>
      <p:sp>
        <p:nvSpPr>
          <p:cNvPr id="11" name="Text 7"/>
          <p:cNvSpPr/>
          <p:nvPr/>
        </p:nvSpPr>
        <p:spPr>
          <a:xfrm>
            <a:off x="8986718" y="5090041"/>
            <a:ext cx="2143363" cy="267891"/>
          </a:xfrm>
          <a:prstGeom prst="rect">
            <a:avLst/>
          </a:prstGeom>
          <a:noFill/>
          <a:ln/>
        </p:spPr>
        <p:txBody>
          <a:bodyPr wrap="none" lIns="0" tIns="0" rIns="0" bIns="0" rtlCol="0" anchor="t"/>
          <a:lstStyle/>
          <a:p>
            <a:pPr marL="0" indent="0" algn="ctr">
              <a:lnSpc>
                <a:spcPts val="2100"/>
              </a:lnSpc>
              <a:buNone/>
            </a:pPr>
            <a:r>
              <a:rPr lang="en-US" sz="1650" b="1" dirty="0">
                <a:solidFill>
                  <a:srgbClr val="4A4A45"/>
                </a:solidFill>
                <a:latin typeface="Lato Bold" pitchFamily="34" charset="0"/>
                <a:ea typeface="Lato Bold" pitchFamily="34" charset="-122"/>
                <a:cs typeface="Lato Bold" pitchFamily="34" charset="-120"/>
              </a:rPr>
              <a:t>2.4 GHz</a:t>
            </a:r>
            <a:endParaRPr lang="en-US" sz="1650" dirty="0"/>
          </a:p>
        </p:txBody>
      </p:sp>
      <p:sp>
        <p:nvSpPr>
          <p:cNvPr id="12" name="Text 8"/>
          <p:cNvSpPr/>
          <p:nvPr/>
        </p:nvSpPr>
        <p:spPr>
          <a:xfrm>
            <a:off x="6086475" y="5460802"/>
            <a:ext cx="7943850" cy="274320"/>
          </a:xfrm>
          <a:prstGeom prst="rect">
            <a:avLst/>
          </a:prstGeom>
          <a:noFill/>
          <a:ln/>
        </p:spPr>
        <p:txBody>
          <a:bodyPr wrap="none" lIns="0" tIns="0" rIns="0" bIns="0" rtlCol="0" anchor="t"/>
          <a:lstStyle/>
          <a:p>
            <a:pPr marL="0" indent="0" algn="ctr">
              <a:lnSpc>
                <a:spcPts val="2150"/>
              </a:lnSpc>
              <a:buNone/>
            </a:pPr>
            <a:r>
              <a:rPr lang="en-US" sz="1350" dirty="0">
                <a:solidFill>
                  <a:srgbClr val="4A4A45"/>
                </a:solidFill>
                <a:latin typeface="Lato" pitchFamily="34" charset="0"/>
                <a:ea typeface="Lato" pitchFamily="34" charset="-122"/>
                <a:cs typeface="Lato" pitchFamily="34" charset="-120"/>
              </a:rPr>
              <a:t>Digunakan untuk perangkat nirkabel seperti WiFi dan Bluetooth.</a:t>
            </a:r>
            <a:endParaRPr lang="en-US" sz="1350" dirty="0"/>
          </a:p>
        </p:txBody>
      </p:sp>
      <p:sp>
        <p:nvSpPr>
          <p:cNvPr id="13" name="Text 9"/>
          <p:cNvSpPr/>
          <p:nvPr/>
        </p:nvSpPr>
        <p:spPr>
          <a:xfrm>
            <a:off x="6086475" y="6335197"/>
            <a:ext cx="7943850" cy="565785"/>
          </a:xfrm>
          <a:prstGeom prst="rect">
            <a:avLst/>
          </a:prstGeom>
          <a:noFill/>
          <a:ln/>
        </p:spPr>
        <p:txBody>
          <a:bodyPr wrap="none" lIns="0" tIns="0" rIns="0" bIns="0" rtlCol="0" anchor="t"/>
          <a:lstStyle/>
          <a:p>
            <a:pPr marL="0" indent="0" algn="ctr">
              <a:lnSpc>
                <a:spcPts val="4450"/>
              </a:lnSpc>
              <a:buNone/>
            </a:pPr>
            <a:r>
              <a:rPr lang="en-US" sz="4450" b="1" dirty="0">
                <a:solidFill>
                  <a:srgbClr val="4A4A45"/>
                </a:solidFill>
                <a:latin typeface="Lato Bold" pitchFamily="34" charset="0"/>
                <a:ea typeface="Lato Bold" pitchFamily="34" charset="-122"/>
                <a:cs typeface="Lato Bold" pitchFamily="34" charset="-120"/>
              </a:rPr>
              <a:t>5GHz</a:t>
            </a:r>
            <a:endParaRPr lang="en-US" sz="4450" dirty="0"/>
          </a:p>
        </p:txBody>
      </p:sp>
      <p:sp>
        <p:nvSpPr>
          <p:cNvPr id="14" name="Text 10"/>
          <p:cNvSpPr/>
          <p:nvPr/>
        </p:nvSpPr>
        <p:spPr>
          <a:xfrm>
            <a:off x="8986718" y="7115294"/>
            <a:ext cx="2143363" cy="267891"/>
          </a:xfrm>
          <a:prstGeom prst="rect">
            <a:avLst/>
          </a:prstGeom>
          <a:noFill/>
          <a:ln/>
        </p:spPr>
        <p:txBody>
          <a:bodyPr wrap="none" lIns="0" tIns="0" rIns="0" bIns="0" rtlCol="0" anchor="t"/>
          <a:lstStyle/>
          <a:p>
            <a:pPr marL="0" indent="0" algn="ctr">
              <a:lnSpc>
                <a:spcPts val="2100"/>
              </a:lnSpc>
              <a:buNone/>
            </a:pPr>
            <a:r>
              <a:rPr lang="en-US" sz="1650" b="1" dirty="0">
                <a:solidFill>
                  <a:srgbClr val="4A4A45"/>
                </a:solidFill>
                <a:latin typeface="Lato Bold" pitchFamily="34" charset="0"/>
                <a:ea typeface="Lato Bold" pitchFamily="34" charset="-122"/>
                <a:cs typeface="Lato Bold" pitchFamily="34" charset="-120"/>
              </a:rPr>
              <a:t>5 GHz</a:t>
            </a:r>
            <a:endParaRPr lang="en-US" sz="1650" dirty="0"/>
          </a:p>
        </p:txBody>
      </p:sp>
      <p:sp>
        <p:nvSpPr>
          <p:cNvPr id="15" name="Text 11"/>
          <p:cNvSpPr/>
          <p:nvPr/>
        </p:nvSpPr>
        <p:spPr>
          <a:xfrm>
            <a:off x="6086475" y="7486055"/>
            <a:ext cx="7943850" cy="274320"/>
          </a:xfrm>
          <a:prstGeom prst="rect">
            <a:avLst/>
          </a:prstGeom>
          <a:noFill/>
          <a:ln/>
        </p:spPr>
        <p:txBody>
          <a:bodyPr wrap="none" lIns="0" tIns="0" rIns="0" bIns="0" rtlCol="0" anchor="t"/>
          <a:lstStyle/>
          <a:p>
            <a:pPr marL="0" indent="0" algn="ctr">
              <a:lnSpc>
                <a:spcPts val="2150"/>
              </a:lnSpc>
              <a:buNone/>
            </a:pPr>
            <a:r>
              <a:rPr lang="en-US" sz="1350" dirty="0">
                <a:solidFill>
                  <a:srgbClr val="4A4A45"/>
                </a:solidFill>
                <a:latin typeface="Lato" pitchFamily="34" charset="0"/>
                <a:ea typeface="Lato" pitchFamily="34" charset="-122"/>
                <a:cs typeface="Lato" pitchFamily="34" charset="-120"/>
              </a:rPr>
              <a:t>Digunakan untuk perangkat nirkabel seperti WiFi dan Bluetooth.</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253246" y="1624846"/>
            <a:ext cx="4979908" cy="4979908"/>
          </a:xfrm>
          <a:prstGeom prst="rect">
            <a:avLst/>
          </a:prstGeom>
        </p:spPr>
      </p:pic>
      <p:sp>
        <p:nvSpPr>
          <p:cNvPr id="4" name="Text 0"/>
          <p:cNvSpPr/>
          <p:nvPr/>
        </p:nvSpPr>
        <p:spPr>
          <a:xfrm>
            <a:off x="6195536" y="558046"/>
            <a:ext cx="6143030" cy="633174"/>
          </a:xfrm>
          <a:prstGeom prst="rect">
            <a:avLst/>
          </a:prstGeom>
          <a:noFill/>
          <a:ln/>
        </p:spPr>
        <p:txBody>
          <a:bodyPr wrap="none" lIns="0" tIns="0" rIns="0" bIns="0" rtlCol="0" anchor="t"/>
          <a:lstStyle/>
          <a:p>
            <a:pPr marL="0" indent="0">
              <a:lnSpc>
                <a:spcPts val="4950"/>
              </a:lnSpc>
              <a:buNone/>
            </a:pPr>
            <a:r>
              <a:rPr lang="en-US" sz="3950" b="1" dirty="0">
                <a:solidFill>
                  <a:srgbClr val="282824"/>
                </a:solidFill>
                <a:latin typeface="Lato Bold" pitchFamily="34" charset="0"/>
                <a:ea typeface="Lato Bold" pitchFamily="34" charset="-122"/>
                <a:cs typeface="Lato Bold" pitchFamily="34" charset="-120"/>
              </a:rPr>
              <a:t>Ukuran dan Bentuk Antena</a:t>
            </a:r>
            <a:endParaRPr lang="en-US" sz="3950" dirty="0"/>
          </a:p>
        </p:txBody>
      </p:sp>
      <p:sp>
        <p:nvSpPr>
          <p:cNvPr id="5" name="Shape 1"/>
          <p:cNvSpPr/>
          <p:nvPr/>
        </p:nvSpPr>
        <p:spPr>
          <a:xfrm>
            <a:off x="6487954" y="1495068"/>
            <a:ext cx="22860" cy="6176367"/>
          </a:xfrm>
          <a:prstGeom prst="roundRect">
            <a:avLst>
              <a:gd name="adj" fmla="val 132963"/>
            </a:avLst>
          </a:prstGeom>
          <a:solidFill>
            <a:srgbClr val="CBC5B8"/>
          </a:solidFill>
          <a:ln/>
        </p:spPr>
        <p:txBody>
          <a:bodyPr/>
          <a:lstStyle/>
          <a:p>
            <a:endParaRPr lang="en-US"/>
          </a:p>
        </p:txBody>
      </p:sp>
      <p:sp>
        <p:nvSpPr>
          <p:cNvPr id="6" name="Shape 2"/>
          <p:cNvSpPr/>
          <p:nvPr/>
        </p:nvSpPr>
        <p:spPr>
          <a:xfrm>
            <a:off x="6704469" y="1939409"/>
            <a:ext cx="709136" cy="22860"/>
          </a:xfrm>
          <a:prstGeom prst="roundRect">
            <a:avLst>
              <a:gd name="adj" fmla="val 132963"/>
            </a:avLst>
          </a:prstGeom>
          <a:solidFill>
            <a:srgbClr val="CBC5B8"/>
          </a:solidFill>
          <a:ln/>
        </p:spPr>
        <p:txBody>
          <a:bodyPr/>
          <a:lstStyle/>
          <a:p>
            <a:endParaRPr lang="en-US"/>
          </a:p>
        </p:txBody>
      </p:sp>
      <p:sp>
        <p:nvSpPr>
          <p:cNvPr id="7" name="Shape 3"/>
          <p:cNvSpPr/>
          <p:nvPr/>
        </p:nvSpPr>
        <p:spPr>
          <a:xfrm>
            <a:off x="6271439" y="1722953"/>
            <a:ext cx="455890" cy="455890"/>
          </a:xfrm>
          <a:prstGeom prst="roundRect">
            <a:avLst>
              <a:gd name="adj" fmla="val 6667"/>
            </a:avLst>
          </a:prstGeom>
          <a:solidFill>
            <a:srgbClr val="E5DFD2"/>
          </a:solidFill>
          <a:ln/>
        </p:spPr>
        <p:txBody>
          <a:bodyPr/>
          <a:lstStyle/>
          <a:p>
            <a:endParaRPr lang="en-US"/>
          </a:p>
        </p:txBody>
      </p:sp>
      <p:sp>
        <p:nvSpPr>
          <p:cNvPr id="8" name="Text 4"/>
          <p:cNvSpPr/>
          <p:nvPr/>
        </p:nvSpPr>
        <p:spPr>
          <a:xfrm>
            <a:off x="6411218" y="1798915"/>
            <a:ext cx="176332" cy="303967"/>
          </a:xfrm>
          <a:prstGeom prst="rect">
            <a:avLst/>
          </a:prstGeom>
          <a:noFill/>
          <a:ln/>
        </p:spPr>
        <p:txBody>
          <a:bodyPr wrap="none" lIns="0" tIns="0" rIns="0" bIns="0" rtlCol="0" anchor="t"/>
          <a:lstStyle/>
          <a:p>
            <a:pPr marL="0" indent="0" algn="ctr">
              <a:lnSpc>
                <a:spcPts val="2350"/>
              </a:lnSpc>
              <a:buNone/>
            </a:pPr>
            <a:r>
              <a:rPr lang="en-US" sz="2350" b="1" dirty="0">
                <a:solidFill>
                  <a:srgbClr val="4A4A45"/>
                </a:solidFill>
                <a:latin typeface="Lato Bold" pitchFamily="34" charset="0"/>
                <a:ea typeface="Lato Bold" pitchFamily="34" charset="-122"/>
                <a:cs typeface="Lato Bold" pitchFamily="34" charset="-120"/>
              </a:rPr>
              <a:t>1</a:t>
            </a:r>
            <a:endParaRPr lang="en-US" sz="2350" dirty="0"/>
          </a:p>
        </p:txBody>
      </p:sp>
      <p:sp>
        <p:nvSpPr>
          <p:cNvPr id="9" name="Text 5"/>
          <p:cNvSpPr/>
          <p:nvPr/>
        </p:nvSpPr>
        <p:spPr>
          <a:xfrm>
            <a:off x="7613809" y="1697593"/>
            <a:ext cx="2532936" cy="316468"/>
          </a:xfrm>
          <a:prstGeom prst="rect">
            <a:avLst/>
          </a:prstGeom>
          <a:noFill/>
          <a:ln/>
        </p:spPr>
        <p:txBody>
          <a:bodyPr wrap="none" lIns="0" tIns="0" rIns="0" bIns="0" rtlCol="0" anchor="t"/>
          <a:lstStyle/>
          <a:p>
            <a:pPr marL="0" indent="0" algn="l">
              <a:lnSpc>
                <a:spcPts val="2450"/>
              </a:lnSpc>
              <a:buNone/>
            </a:pPr>
            <a:r>
              <a:rPr lang="en-US" sz="1950" b="1" dirty="0">
                <a:solidFill>
                  <a:srgbClr val="4A4A45"/>
                </a:solidFill>
                <a:latin typeface="Lato Bold" pitchFamily="34" charset="0"/>
                <a:ea typeface="Lato Bold" pitchFamily="34" charset="-122"/>
                <a:cs typeface="Lato Bold" pitchFamily="34" charset="-120"/>
              </a:rPr>
              <a:t>Panjang Antena</a:t>
            </a:r>
            <a:endParaRPr lang="en-US" sz="1950" dirty="0"/>
          </a:p>
        </p:txBody>
      </p:sp>
      <p:sp>
        <p:nvSpPr>
          <p:cNvPr id="10" name="Text 6"/>
          <p:cNvSpPr/>
          <p:nvPr/>
        </p:nvSpPr>
        <p:spPr>
          <a:xfrm>
            <a:off x="7613809" y="2135624"/>
            <a:ext cx="6307455" cy="1296829"/>
          </a:xfrm>
          <a:prstGeom prst="rect">
            <a:avLst/>
          </a:prstGeom>
          <a:noFill/>
          <a:ln/>
        </p:spPr>
        <p:txBody>
          <a:bodyPr wrap="square" lIns="0" tIns="0" rIns="0" bIns="0" rtlCol="0" anchor="t"/>
          <a:lstStyle/>
          <a:p>
            <a:pPr marL="0" indent="0" algn="l">
              <a:lnSpc>
                <a:spcPts val="2550"/>
              </a:lnSpc>
              <a:buNone/>
            </a:pPr>
            <a:r>
              <a:rPr lang="en-US" sz="1550" dirty="0">
                <a:solidFill>
                  <a:srgbClr val="4A4A45"/>
                </a:solidFill>
                <a:latin typeface="Lato" pitchFamily="34" charset="0"/>
                <a:ea typeface="Lato" pitchFamily="34" charset="-122"/>
                <a:cs typeface="Lato" pitchFamily="34" charset="-120"/>
              </a:rPr>
              <a:t>Panjang antena memiliki hubungan langsung dengan frekuensi operasinya. Antena yang lebih panjang umumnya digunakan untuk frekuensi yang lebih rendah, sementara antena yang lebih pendek digunakan untuk frekuensi yang lebih tinggi.</a:t>
            </a:r>
            <a:endParaRPr lang="en-US" sz="1550" dirty="0"/>
          </a:p>
        </p:txBody>
      </p:sp>
      <p:sp>
        <p:nvSpPr>
          <p:cNvPr id="11" name="Shape 7"/>
          <p:cNvSpPr/>
          <p:nvPr/>
        </p:nvSpPr>
        <p:spPr>
          <a:xfrm>
            <a:off x="6704469" y="4281845"/>
            <a:ext cx="709136" cy="22860"/>
          </a:xfrm>
          <a:prstGeom prst="roundRect">
            <a:avLst>
              <a:gd name="adj" fmla="val 132963"/>
            </a:avLst>
          </a:prstGeom>
          <a:solidFill>
            <a:srgbClr val="CBC5B8"/>
          </a:solidFill>
          <a:ln/>
        </p:spPr>
        <p:txBody>
          <a:bodyPr/>
          <a:lstStyle/>
          <a:p>
            <a:endParaRPr lang="en-US"/>
          </a:p>
        </p:txBody>
      </p:sp>
      <p:sp>
        <p:nvSpPr>
          <p:cNvPr id="12" name="Shape 8"/>
          <p:cNvSpPr/>
          <p:nvPr/>
        </p:nvSpPr>
        <p:spPr>
          <a:xfrm>
            <a:off x="6271439" y="4065389"/>
            <a:ext cx="455890" cy="455890"/>
          </a:xfrm>
          <a:prstGeom prst="roundRect">
            <a:avLst>
              <a:gd name="adj" fmla="val 6667"/>
            </a:avLst>
          </a:prstGeom>
          <a:solidFill>
            <a:srgbClr val="E5DFD2"/>
          </a:solidFill>
          <a:ln/>
        </p:spPr>
        <p:txBody>
          <a:bodyPr/>
          <a:lstStyle/>
          <a:p>
            <a:endParaRPr lang="en-US"/>
          </a:p>
        </p:txBody>
      </p:sp>
      <p:sp>
        <p:nvSpPr>
          <p:cNvPr id="13" name="Text 9"/>
          <p:cNvSpPr/>
          <p:nvPr/>
        </p:nvSpPr>
        <p:spPr>
          <a:xfrm>
            <a:off x="6411218" y="4141351"/>
            <a:ext cx="176332" cy="303967"/>
          </a:xfrm>
          <a:prstGeom prst="rect">
            <a:avLst/>
          </a:prstGeom>
          <a:noFill/>
          <a:ln/>
        </p:spPr>
        <p:txBody>
          <a:bodyPr wrap="none" lIns="0" tIns="0" rIns="0" bIns="0" rtlCol="0" anchor="t"/>
          <a:lstStyle/>
          <a:p>
            <a:pPr marL="0" indent="0" algn="ctr">
              <a:lnSpc>
                <a:spcPts val="2350"/>
              </a:lnSpc>
              <a:buNone/>
            </a:pPr>
            <a:r>
              <a:rPr lang="en-US" sz="2350" b="1" dirty="0">
                <a:solidFill>
                  <a:srgbClr val="4A4A45"/>
                </a:solidFill>
                <a:latin typeface="Lato Bold" pitchFamily="34" charset="0"/>
                <a:ea typeface="Lato Bold" pitchFamily="34" charset="-122"/>
                <a:cs typeface="Lato Bold" pitchFamily="34" charset="-120"/>
              </a:rPr>
              <a:t>2</a:t>
            </a:r>
            <a:endParaRPr lang="en-US" sz="2350" dirty="0"/>
          </a:p>
        </p:txBody>
      </p:sp>
      <p:sp>
        <p:nvSpPr>
          <p:cNvPr id="14" name="Text 10"/>
          <p:cNvSpPr/>
          <p:nvPr/>
        </p:nvSpPr>
        <p:spPr>
          <a:xfrm>
            <a:off x="7613809" y="4040029"/>
            <a:ext cx="2532936" cy="316468"/>
          </a:xfrm>
          <a:prstGeom prst="rect">
            <a:avLst/>
          </a:prstGeom>
          <a:noFill/>
          <a:ln/>
        </p:spPr>
        <p:txBody>
          <a:bodyPr wrap="none" lIns="0" tIns="0" rIns="0" bIns="0" rtlCol="0" anchor="t"/>
          <a:lstStyle/>
          <a:p>
            <a:pPr marL="0" indent="0" algn="l">
              <a:lnSpc>
                <a:spcPts val="2450"/>
              </a:lnSpc>
              <a:buNone/>
            </a:pPr>
            <a:r>
              <a:rPr lang="en-US" sz="1950" b="1" dirty="0">
                <a:solidFill>
                  <a:srgbClr val="4A4A45"/>
                </a:solidFill>
                <a:latin typeface="Lato Bold" pitchFamily="34" charset="0"/>
                <a:ea typeface="Lato Bold" pitchFamily="34" charset="-122"/>
                <a:cs typeface="Lato Bold" pitchFamily="34" charset="-120"/>
              </a:rPr>
              <a:t>Bentuk Antena</a:t>
            </a:r>
            <a:endParaRPr lang="en-US" sz="1950" dirty="0"/>
          </a:p>
        </p:txBody>
      </p:sp>
      <p:sp>
        <p:nvSpPr>
          <p:cNvPr id="15" name="Text 11"/>
          <p:cNvSpPr/>
          <p:nvPr/>
        </p:nvSpPr>
        <p:spPr>
          <a:xfrm>
            <a:off x="7613809" y="4478060"/>
            <a:ext cx="6307455" cy="972622"/>
          </a:xfrm>
          <a:prstGeom prst="rect">
            <a:avLst/>
          </a:prstGeom>
          <a:noFill/>
          <a:ln/>
        </p:spPr>
        <p:txBody>
          <a:bodyPr wrap="square" lIns="0" tIns="0" rIns="0" bIns="0" rtlCol="0" anchor="t"/>
          <a:lstStyle/>
          <a:p>
            <a:pPr marL="0" indent="0" algn="l">
              <a:lnSpc>
                <a:spcPts val="2550"/>
              </a:lnSpc>
              <a:buNone/>
            </a:pPr>
            <a:r>
              <a:rPr lang="en-US" sz="1550" dirty="0">
                <a:solidFill>
                  <a:srgbClr val="4A4A45"/>
                </a:solidFill>
                <a:latin typeface="Lato" pitchFamily="34" charset="0"/>
                <a:ea typeface="Lato" pitchFamily="34" charset="-122"/>
                <a:cs typeface="Lato" pitchFamily="34" charset="-120"/>
              </a:rPr>
              <a:t>Bentuk antena memengaruhi pola radiasi dan gain antena. Antena berbentuk dipole, loop, atau mikrostrip memiliki pola radiasi dan gain yang berbeda.</a:t>
            </a:r>
            <a:endParaRPr lang="en-US" sz="1550" dirty="0"/>
          </a:p>
        </p:txBody>
      </p:sp>
      <p:sp>
        <p:nvSpPr>
          <p:cNvPr id="16" name="Shape 12"/>
          <p:cNvSpPr/>
          <p:nvPr/>
        </p:nvSpPr>
        <p:spPr>
          <a:xfrm>
            <a:off x="6704469" y="6300073"/>
            <a:ext cx="709136" cy="22860"/>
          </a:xfrm>
          <a:prstGeom prst="roundRect">
            <a:avLst>
              <a:gd name="adj" fmla="val 132963"/>
            </a:avLst>
          </a:prstGeom>
          <a:solidFill>
            <a:srgbClr val="CBC5B8"/>
          </a:solidFill>
          <a:ln/>
        </p:spPr>
        <p:txBody>
          <a:bodyPr/>
          <a:lstStyle/>
          <a:p>
            <a:endParaRPr lang="en-US"/>
          </a:p>
        </p:txBody>
      </p:sp>
      <p:sp>
        <p:nvSpPr>
          <p:cNvPr id="17" name="Shape 13"/>
          <p:cNvSpPr/>
          <p:nvPr/>
        </p:nvSpPr>
        <p:spPr>
          <a:xfrm>
            <a:off x="6271439" y="6083618"/>
            <a:ext cx="455890" cy="455890"/>
          </a:xfrm>
          <a:prstGeom prst="roundRect">
            <a:avLst>
              <a:gd name="adj" fmla="val 6667"/>
            </a:avLst>
          </a:prstGeom>
          <a:solidFill>
            <a:srgbClr val="E5DFD2"/>
          </a:solidFill>
          <a:ln/>
        </p:spPr>
        <p:txBody>
          <a:bodyPr/>
          <a:lstStyle/>
          <a:p>
            <a:endParaRPr lang="en-US"/>
          </a:p>
        </p:txBody>
      </p:sp>
      <p:sp>
        <p:nvSpPr>
          <p:cNvPr id="18" name="Text 14"/>
          <p:cNvSpPr/>
          <p:nvPr/>
        </p:nvSpPr>
        <p:spPr>
          <a:xfrm>
            <a:off x="6411218" y="6159579"/>
            <a:ext cx="176332" cy="303967"/>
          </a:xfrm>
          <a:prstGeom prst="rect">
            <a:avLst/>
          </a:prstGeom>
          <a:noFill/>
          <a:ln/>
        </p:spPr>
        <p:txBody>
          <a:bodyPr wrap="none" lIns="0" tIns="0" rIns="0" bIns="0" rtlCol="0" anchor="t"/>
          <a:lstStyle/>
          <a:p>
            <a:pPr marL="0" indent="0" algn="ctr">
              <a:lnSpc>
                <a:spcPts val="2350"/>
              </a:lnSpc>
              <a:buNone/>
            </a:pPr>
            <a:r>
              <a:rPr lang="en-US" sz="2350" b="1" dirty="0">
                <a:solidFill>
                  <a:srgbClr val="4A4A45"/>
                </a:solidFill>
                <a:latin typeface="Lato Bold" pitchFamily="34" charset="0"/>
                <a:ea typeface="Lato Bold" pitchFamily="34" charset="-122"/>
                <a:cs typeface="Lato Bold" pitchFamily="34" charset="-120"/>
              </a:rPr>
              <a:t>3</a:t>
            </a:r>
            <a:endParaRPr lang="en-US" sz="2350" dirty="0"/>
          </a:p>
        </p:txBody>
      </p:sp>
      <p:sp>
        <p:nvSpPr>
          <p:cNvPr id="19" name="Text 15"/>
          <p:cNvSpPr/>
          <p:nvPr/>
        </p:nvSpPr>
        <p:spPr>
          <a:xfrm>
            <a:off x="7613809" y="6058257"/>
            <a:ext cx="2532936" cy="316468"/>
          </a:xfrm>
          <a:prstGeom prst="rect">
            <a:avLst/>
          </a:prstGeom>
          <a:noFill/>
          <a:ln/>
        </p:spPr>
        <p:txBody>
          <a:bodyPr wrap="none" lIns="0" tIns="0" rIns="0" bIns="0" rtlCol="0" anchor="t"/>
          <a:lstStyle/>
          <a:p>
            <a:pPr marL="0" indent="0" algn="l">
              <a:lnSpc>
                <a:spcPts val="2450"/>
              </a:lnSpc>
              <a:buNone/>
            </a:pPr>
            <a:r>
              <a:rPr lang="en-US" sz="1950" b="1" dirty="0">
                <a:solidFill>
                  <a:srgbClr val="4A4A45"/>
                </a:solidFill>
                <a:latin typeface="Lato Bold" pitchFamily="34" charset="0"/>
                <a:ea typeface="Lato Bold" pitchFamily="34" charset="-122"/>
                <a:cs typeface="Lato Bold" pitchFamily="34" charset="-120"/>
              </a:rPr>
              <a:t>Konfigurasi Antena</a:t>
            </a:r>
            <a:endParaRPr lang="en-US" sz="1950" dirty="0"/>
          </a:p>
        </p:txBody>
      </p:sp>
      <p:sp>
        <p:nvSpPr>
          <p:cNvPr id="20" name="Text 16"/>
          <p:cNvSpPr/>
          <p:nvPr/>
        </p:nvSpPr>
        <p:spPr>
          <a:xfrm>
            <a:off x="7613809" y="6496288"/>
            <a:ext cx="6307455" cy="972622"/>
          </a:xfrm>
          <a:prstGeom prst="rect">
            <a:avLst/>
          </a:prstGeom>
          <a:noFill/>
          <a:ln/>
        </p:spPr>
        <p:txBody>
          <a:bodyPr wrap="square" lIns="0" tIns="0" rIns="0" bIns="0" rtlCol="0" anchor="t"/>
          <a:lstStyle/>
          <a:p>
            <a:pPr marL="0" indent="0" algn="l">
              <a:lnSpc>
                <a:spcPts val="2550"/>
              </a:lnSpc>
              <a:buNone/>
            </a:pPr>
            <a:r>
              <a:rPr lang="en-US" sz="1550" dirty="0">
                <a:solidFill>
                  <a:srgbClr val="4A4A45"/>
                </a:solidFill>
                <a:latin typeface="Lato" pitchFamily="34" charset="0"/>
                <a:ea typeface="Lato" pitchFamily="34" charset="-122"/>
                <a:cs typeface="Lato" pitchFamily="34" charset="-120"/>
              </a:rPr>
              <a:t>Konfigurasi antena, seperti antena Yagi-Uda, memengaruhi arah radiasi dan gain. Konfigurasi ini digunakan untuk meningkatkan sinyal dalam arah tertentu.</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2075021"/>
            <a:ext cx="6456521" cy="708779"/>
          </a:xfrm>
          <a:prstGeom prst="rect">
            <a:avLst/>
          </a:prstGeom>
          <a:noFill/>
          <a:ln/>
        </p:spPr>
        <p:txBody>
          <a:bodyPr wrap="none" lIns="0" tIns="0" rIns="0" bIns="0" rtlCol="0" anchor="t"/>
          <a:lstStyle/>
          <a:p>
            <a:pPr marL="0" indent="0">
              <a:lnSpc>
                <a:spcPts val="5550"/>
              </a:lnSpc>
              <a:buNone/>
            </a:pPr>
            <a:r>
              <a:rPr lang="en-US" sz="4450" b="1" dirty="0">
                <a:solidFill>
                  <a:srgbClr val="282824"/>
                </a:solidFill>
                <a:latin typeface="Lato Bold" pitchFamily="34" charset="0"/>
                <a:ea typeface="Lato Bold" pitchFamily="34" charset="-122"/>
                <a:cs typeface="Lato Bold" pitchFamily="34" charset="-120"/>
              </a:rPr>
              <a:t>Bahan Konstruksi Antena</a:t>
            </a:r>
            <a:endParaRPr lang="en-US" sz="4450" dirty="0"/>
          </a:p>
        </p:txBody>
      </p:sp>
      <p:sp>
        <p:nvSpPr>
          <p:cNvPr id="3" name="Text 1"/>
          <p:cNvSpPr/>
          <p:nvPr/>
        </p:nvSpPr>
        <p:spPr>
          <a:xfrm>
            <a:off x="793790" y="3350776"/>
            <a:ext cx="2835235" cy="354330"/>
          </a:xfrm>
          <a:prstGeom prst="rect">
            <a:avLst/>
          </a:prstGeom>
          <a:noFill/>
          <a:ln/>
        </p:spPr>
        <p:txBody>
          <a:bodyPr wrap="none" lIns="0" tIns="0" rIns="0" bIns="0" rtlCol="0" anchor="t"/>
          <a:lstStyle/>
          <a:p>
            <a:pPr marL="0" indent="0">
              <a:lnSpc>
                <a:spcPts val="2750"/>
              </a:lnSpc>
              <a:buNone/>
            </a:pPr>
            <a:r>
              <a:rPr lang="en-US" sz="2200" b="1" dirty="0">
                <a:solidFill>
                  <a:srgbClr val="282824"/>
                </a:solidFill>
                <a:latin typeface="Lato Bold" pitchFamily="34" charset="0"/>
                <a:ea typeface="Lato Bold" pitchFamily="34" charset="-122"/>
                <a:cs typeface="Lato Bold" pitchFamily="34" charset="-120"/>
              </a:rPr>
              <a:t>Logam</a:t>
            </a:r>
            <a:endParaRPr lang="en-US" sz="2200" dirty="0"/>
          </a:p>
        </p:txBody>
      </p:sp>
      <p:sp>
        <p:nvSpPr>
          <p:cNvPr id="4" name="Text 2"/>
          <p:cNvSpPr/>
          <p:nvPr/>
        </p:nvSpPr>
        <p:spPr>
          <a:xfrm>
            <a:off x="793790" y="3931920"/>
            <a:ext cx="6244709" cy="1088708"/>
          </a:xfrm>
          <a:prstGeom prst="rect">
            <a:avLst/>
          </a:prstGeom>
          <a:noFill/>
          <a:ln/>
        </p:spPr>
        <p:txBody>
          <a:bodyPr wrap="square" lIns="0" tIns="0" rIns="0" bIns="0" rtlCol="0" anchor="t"/>
          <a:lstStyle/>
          <a:p>
            <a:pPr marL="0" indent="0">
              <a:lnSpc>
                <a:spcPts val="2850"/>
              </a:lnSpc>
              <a:buNone/>
            </a:pPr>
            <a:r>
              <a:rPr lang="en-US" sz="1750" dirty="0">
                <a:solidFill>
                  <a:srgbClr val="4A4A45"/>
                </a:solidFill>
                <a:latin typeface="Lato" pitchFamily="34" charset="0"/>
                <a:ea typeface="Lato" pitchFamily="34" charset="-122"/>
                <a:cs typeface="Lato" pitchFamily="34" charset="-120"/>
              </a:rPr>
              <a:t>Logam seperti aluminium, tembaga, dan baja umum digunakan dalam konstruksi antena karena konduktivitas listriknya yang tinggi.</a:t>
            </a:r>
            <a:endParaRPr lang="en-US" sz="1750" dirty="0"/>
          </a:p>
        </p:txBody>
      </p:sp>
      <p:sp>
        <p:nvSpPr>
          <p:cNvPr id="5" name="Text 3"/>
          <p:cNvSpPr/>
          <p:nvPr/>
        </p:nvSpPr>
        <p:spPr>
          <a:xfrm>
            <a:off x="793790" y="5224701"/>
            <a:ext cx="6244709" cy="725805"/>
          </a:xfrm>
          <a:prstGeom prst="rect">
            <a:avLst/>
          </a:prstGeom>
          <a:noFill/>
          <a:ln/>
        </p:spPr>
        <p:txBody>
          <a:bodyPr wrap="square" lIns="0" tIns="0" rIns="0" bIns="0" rtlCol="0" anchor="t"/>
          <a:lstStyle/>
          <a:p>
            <a:pPr marL="0" indent="0">
              <a:lnSpc>
                <a:spcPts val="2850"/>
              </a:lnSpc>
              <a:buNone/>
            </a:pPr>
            <a:r>
              <a:rPr lang="en-US" sz="1750" dirty="0">
                <a:solidFill>
                  <a:srgbClr val="4A4A45"/>
                </a:solidFill>
                <a:latin typeface="Lato" pitchFamily="34" charset="0"/>
                <a:ea typeface="Lato" pitchFamily="34" charset="-122"/>
                <a:cs typeface="Lato" pitchFamily="34" charset="-120"/>
              </a:rPr>
              <a:t>Sifat ini memungkinkan antena untuk memancarkan dan menerima sinyal elektromagnetik secara efisien.</a:t>
            </a:r>
            <a:endParaRPr lang="en-US" sz="1750" dirty="0"/>
          </a:p>
        </p:txBody>
      </p:sp>
      <p:sp>
        <p:nvSpPr>
          <p:cNvPr id="6" name="Text 4"/>
          <p:cNvSpPr/>
          <p:nvPr/>
        </p:nvSpPr>
        <p:spPr>
          <a:xfrm>
            <a:off x="7599521" y="3350776"/>
            <a:ext cx="2835235" cy="354330"/>
          </a:xfrm>
          <a:prstGeom prst="rect">
            <a:avLst/>
          </a:prstGeom>
          <a:noFill/>
          <a:ln/>
        </p:spPr>
        <p:txBody>
          <a:bodyPr wrap="none" lIns="0" tIns="0" rIns="0" bIns="0" rtlCol="0" anchor="t"/>
          <a:lstStyle/>
          <a:p>
            <a:pPr marL="0" indent="0">
              <a:lnSpc>
                <a:spcPts val="2750"/>
              </a:lnSpc>
              <a:buNone/>
            </a:pPr>
            <a:r>
              <a:rPr lang="en-US" sz="2200" b="1" dirty="0">
                <a:solidFill>
                  <a:srgbClr val="282824"/>
                </a:solidFill>
                <a:latin typeface="Lato Bold" pitchFamily="34" charset="0"/>
                <a:ea typeface="Lato Bold" pitchFamily="34" charset="-122"/>
                <a:cs typeface="Lato Bold" pitchFamily="34" charset="-120"/>
              </a:rPr>
              <a:t>Non-Logam</a:t>
            </a:r>
            <a:endParaRPr lang="en-US" sz="2200" dirty="0"/>
          </a:p>
        </p:txBody>
      </p:sp>
      <p:sp>
        <p:nvSpPr>
          <p:cNvPr id="7" name="Text 5"/>
          <p:cNvSpPr/>
          <p:nvPr/>
        </p:nvSpPr>
        <p:spPr>
          <a:xfrm>
            <a:off x="7599521" y="3931920"/>
            <a:ext cx="6244709" cy="1088708"/>
          </a:xfrm>
          <a:prstGeom prst="rect">
            <a:avLst/>
          </a:prstGeom>
          <a:noFill/>
          <a:ln/>
        </p:spPr>
        <p:txBody>
          <a:bodyPr wrap="square" lIns="0" tIns="0" rIns="0" bIns="0" rtlCol="0" anchor="t"/>
          <a:lstStyle/>
          <a:p>
            <a:pPr marL="0" indent="0">
              <a:lnSpc>
                <a:spcPts val="2850"/>
              </a:lnSpc>
              <a:buNone/>
            </a:pPr>
            <a:r>
              <a:rPr lang="en-US" sz="1750" dirty="0">
                <a:solidFill>
                  <a:srgbClr val="4A4A45"/>
                </a:solidFill>
                <a:latin typeface="Lato" pitchFamily="34" charset="0"/>
                <a:ea typeface="Lato" pitchFamily="34" charset="-122"/>
                <a:cs typeface="Lato" pitchFamily="34" charset="-120"/>
              </a:rPr>
              <a:t>Bahan non-logam seperti plastik dan fiberglass dapat digunakan dalam pembuatan antena yang ringan dan tahan lama.</a:t>
            </a:r>
            <a:endParaRPr lang="en-US" sz="1750" dirty="0"/>
          </a:p>
        </p:txBody>
      </p:sp>
      <p:sp>
        <p:nvSpPr>
          <p:cNvPr id="8" name="Text 6"/>
          <p:cNvSpPr/>
          <p:nvPr/>
        </p:nvSpPr>
        <p:spPr>
          <a:xfrm>
            <a:off x="7599521" y="5224701"/>
            <a:ext cx="6244709" cy="725805"/>
          </a:xfrm>
          <a:prstGeom prst="rect">
            <a:avLst/>
          </a:prstGeom>
          <a:noFill/>
          <a:ln/>
        </p:spPr>
        <p:txBody>
          <a:bodyPr wrap="square" lIns="0" tIns="0" rIns="0" bIns="0" rtlCol="0" anchor="t"/>
          <a:lstStyle/>
          <a:p>
            <a:pPr marL="0" indent="0">
              <a:lnSpc>
                <a:spcPts val="2850"/>
              </a:lnSpc>
              <a:buNone/>
            </a:pPr>
            <a:r>
              <a:rPr lang="en-US" sz="1750" dirty="0">
                <a:solidFill>
                  <a:srgbClr val="4A4A45"/>
                </a:solidFill>
                <a:latin typeface="Lato" pitchFamily="34" charset="0"/>
                <a:ea typeface="Lato" pitchFamily="34" charset="-122"/>
                <a:cs typeface="Lato" pitchFamily="34" charset="-120"/>
              </a:rPr>
              <a:t>Bahan ini sering digunakan untuk membuat casing antena yang melindungi komponen elektronik di dalamnya.</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9427488" y="2085499"/>
            <a:ext cx="4919305" cy="4058483"/>
          </a:xfrm>
          <a:prstGeom prst="rect">
            <a:avLst/>
          </a:prstGeom>
        </p:spPr>
      </p:pic>
      <p:sp>
        <p:nvSpPr>
          <p:cNvPr id="4" name="Text 0"/>
          <p:cNvSpPr/>
          <p:nvPr/>
        </p:nvSpPr>
        <p:spPr>
          <a:xfrm>
            <a:off x="793790" y="868561"/>
            <a:ext cx="5831086" cy="708779"/>
          </a:xfrm>
          <a:prstGeom prst="rect">
            <a:avLst/>
          </a:prstGeom>
          <a:noFill/>
          <a:ln/>
        </p:spPr>
        <p:txBody>
          <a:bodyPr wrap="none" lIns="0" tIns="0" rIns="0" bIns="0" rtlCol="0" anchor="t"/>
          <a:lstStyle/>
          <a:p>
            <a:pPr marL="0" indent="0">
              <a:lnSpc>
                <a:spcPts val="5550"/>
              </a:lnSpc>
              <a:buNone/>
            </a:pPr>
            <a:r>
              <a:rPr lang="en-US" sz="4450" b="1" dirty="0">
                <a:solidFill>
                  <a:srgbClr val="282824"/>
                </a:solidFill>
                <a:latin typeface="Lato Bold" pitchFamily="34" charset="0"/>
                <a:ea typeface="Lato Bold" pitchFamily="34" charset="-122"/>
                <a:cs typeface="Lato Bold" pitchFamily="34" charset="-120"/>
              </a:rPr>
              <a:t>Metode Desain Antena</a:t>
            </a:r>
            <a:endParaRPr lang="en-US" sz="4450" dirty="0"/>
          </a:p>
        </p:txBody>
      </p:sp>
      <p:pic>
        <p:nvPicPr>
          <p:cNvPr id="5" name="Image 2" descr="preencoded.png"/>
          <p:cNvPicPr>
            <a:picLocks noChangeAspect="1"/>
          </p:cNvPicPr>
          <p:nvPr/>
        </p:nvPicPr>
        <p:blipFill>
          <a:blip r:embed="rId5"/>
          <a:stretch>
            <a:fillRect/>
          </a:stretch>
        </p:blipFill>
        <p:spPr>
          <a:xfrm>
            <a:off x="793790" y="1917502"/>
            <a:ext cx="1134070" cy="1814513"/>
          </a:xfrm>
          <a:prstGeom prst="rect">
            <a:avLst/>
          </a:prstGeom>
        </p:spPr>
      </p:pic>
      <p:sp>
        <p:nvSpPr>
          <p:cNvPr id="6" name="Text 1"/>
          <p:cNvSpPr/>
          <p:nvPr/>
        </p:nvSpPr>
        <p:spPr>
          <a:xfrm>
            <a:off x="2268022" y="2144316"/>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Metode Analitis</a:t>
            </a:r>
            <a:endParaRPr lang="en-US" sz="2200" dirty="0"/>
          </a:p>
        </p:txBody>
      </p:sp>
      <p:sp>
        <p:nvSpPr>
          <p:cNvPr id="7" name="Text 2"/>
          <p:cNvSpPr/>
          <p:nvPr/>
        </p:nvSpPr>
        <p:spPr>
          <a:xfrm>
            <a:off x="2268022" y="2634734"/>
            <a:ext cx="6082189"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Metode ini memanfaatkan persamaan matematika dan teori elektromagnetik untuk memprediksi karakteristik antena.</a:t>
            </a:r>
            <a:endParaRPr lang="en-US" sz="1750" dirty="0"/>
          </a:p>
        </p:txBody>
      </p:sp>
      <p:pic>
        <p:nvPicPr>
          <p:cNvPr id="8" name="Image 3" descr="preencoded.png"/>
          <p:cNvPicPr>
            <a:picLocks noChangeAspect="1"/>
          </p:cNvPicPr>
          <p:nvPr/>
        </p:nvPicPr>
        <p:blipFill>
          <a:blip r:embed="rId6"/>
          <a:stretch>
            <a:fillRect/>
          </a:stretch>
        </p:blipFill>
        <p:spPr>
          <a:xfrm>
            <a:off x="793790" y="3732014"/>
            <a:ext cx="1134070" cy="1814513"/>
          </a:xfrm>
          <a:prstGeom prst="rect">
            <a:avLst/>
          </a:prstGeom>
        </p:spPr>
      </p:pic>
      <p:sp>
        <p:nvSpPr>
          <p:cNvPr id="9" name="Text 3"/>
          <p:cNvSpPr/>
          <p:nvPr/>
        </p:nvSpPr>
        <p:spPr>
          <a:xfrm>
            <a:off x="2268022" y="395882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Metode Simulasi</a:t>
            </a:r>
            <a:endParaRPr lang="en-US" sz="2200" dirty="0"/>
          </a:p>
        </p:txBody>
      </p:sp>
      <p:sp>
        <p:nvSpPr>
          <p:cNvPr id="10" name="Text 4"/>
          <p:cNvSpPr/>
          <p:nvPr/>
        </p:nvSpPr>
        <p:spPr>
          <a:xfrm>
            <a:off x="2268022" y="4449247"/>
            <a:ext cx="6082189"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Simulasi komputer digunakan untuk mensimulasikan perilaku antena dan memprediksi performanya.</a:t>
            </a:r>
            <a:endParaRPr lang="en-US" sz="1750" dirty="0"/>
          </a:p>
        </p:txBody>
      </p:sp>
      <p:pic>
        <p:nvPicPr>
          <p:cNvPr id="11" name="Image 4" descr="preencoded.png"/>
          <p:cNvPicPr>
            <a:picLocks noChangeAspect="1"/>
          </p:cNvPicPr>
          <p:nvPr/>
        </p:nvPicPr>
        <p:blipFill>
          <a:blip r:embed="rId7"/>
          <a:stretch>
            <a:fillRect/>
          </a:stretch>
        </p:blipFill>
        <p:spPr>
          <a:xfrm>
            <a:off x="793790" y="5546527"/>
            <a:ext cx="1134070" cy="1814513"/>
          </a:xfrm>
          <a:prstGeom prst="rect">
            <a:avLst/>
          </a:prstGeom>
        </p:spPr>
      </p:pic>
      <p:sp>
        <p:nvSpPr>
          <p:cNvPr id="12" name="Text 5"/>
          <p:cNvSpPr/>
          <p:nvPr/>
        </p:nvSpPr>
        <p:spPr>
          <a:xfrm>
            <a:off x="2268022" y="577334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Metode Prototipe</a:t>
            </a:r>
            <a:endParaRPr lang="en-US" sz="2200" dirty="0"/>
          </a:p>
        </p:txBody>
      </p:sp>
      <p:sp>
        <p:nvSpPr>
          <p:cNvPr id="13" name="Text 6"/>
          <p:cNvSpPr/>
          <p:nvPr/>
        </p:nvSpPr>
        <p:spPr>
          <a:xfrm>
            <a:off x="2268022" y="6263759"/>
            <a:ext cx="6082189" cy="725805"/>
          </a:xfrm>
          <a:prstGeom prst="rect">
            <a:avLst/>
          </a:prstGeom>
          <a:noFill/>
          <a:ln/>
        </p:spPr>
        <p:txBody>
          <a:bodyPr wrap="square" lIns="0" tIns="0" rIns="0" bIns="0" rtlCol="0" anchor="t"/>
          <a:lstStyle/>
          <a:p>
            <a:pPr marL="0" indent="0" algn="l">
              <a:lnSpc>
                <a:spcPts val="2850"/>
              </a:lnSpc>
              <a:buNone/>
            </a:pPr>
            <a:r>
              <a:rPr lang="en-US" sz="1750" dirty="0">
                <a:solidFill>
                  <a:srgbClr val="4A4A45"/>
                </a:solidFill>
                <a:latin typeface="Lato" pitchFamily="34" charset="0"/>
                <a:ea typeface="Lato" pitchFamily="34" charset="-122"/>
                <a:cs typeface="Lato" pitchFamily="34" charset="-120"/>
              </a:rPr>
              <a:t>Membuat model fisik antena untuk memvalidasi desain dan mengukur karakteristiknya.</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19257" y="565071"/>
            <a:ext cx="9510832" cy="642104"/>
          </a:xfrm>
          <a:prstGeom prst="rect">
            <a:avLst/>
          </a:prstGeom>
          <a:noFill/>
          <a:ln/>
        </p:spPr>
        <p:txBody>
          <a:bodyPr wrap="none" lIns="0" tIns="0" rIns="0" bIns="0" rtlCol="0" anchor="t"/>
          <a:lstStyle/>
          <a:p>
            <a:pPr marL="0" indent="0">
              <a:lnSpc>
                <a:spcPts val="5050"/>
              </a:lnSpc>
              <a:buNone/>
            </a:pPr>
            <a:r>
              <a:rPr lang="en-US" sz="4000" b="1" dirty="0">
                <a:solidFill>
                  <a:srgbClr val="282824"/>
                </a:solidFill>
                <a:latin typeface="Lato Bold" pitchFamily="34" charset="0"/>
                <a:ea typeface="Lato Bold" pitchFamily="34" charset="-122"/>
                <a:cs typeface="Lato Bold" pitchFamily="34" charset="-120"/>
              </a:rPr>
              <a:t>Antena Dipole: Struktur dan Prinsip Kerja</a:t>
            </a:r>
            <a:endParaRPr lang="en-US" sz="4000" dirty="0"/>
          </a:p>
        </p:txBody>
      </p:sp>
      <p:sp>
        <p:nvSpPr>
          <p:cNvPr id="3" name="Text 1"/>
          <p:cNvSpPr/>
          <p:nvPr/>
        </p:nvSpPr>
        <p:spPr>
          <a:xfrm>
            <a:off x="719257" y="1700332"/>
            <a:ext cx="6345317" cy="1972389"/>
          </a:xfrm>
          <a:prstGeom prst="rect">
            <a:avLst/>
          </a:prstGeom>
          <a:noFill/>
          <a:ln/>
        </p:spPr>
        <p:txBody>
          <a:bodyPr wrap="square" lIns="0" tIns="0" rIns="0" bIns="0" rtlCol="0" anchor="t"/>
          <a:lstStyle/>
          <a:p>
            <a:pPr marL="0" indent="0">
              <a:lnSpc>
                <a:spcPts val="2550"/>
              </a:lnSpc>
              <a:buNone/>
            </a:pPr>
            <a:r>
              <a:rPr lang="en-US" sz="1600" dirty="0">
                <a:solidFill>
                  <a:srgbClr val="4A4A45"/>
                </a:solidFill>
                <a:latin typeface="Lato" pitchFamily="34" charset="0"/>
                <a:ea typeface="Lato" pitchFamily="34" charset="-122"/>
                <a:cs typeface="Lato" pitchFamily="34" charset="-120"/>
              </a:rPr>
              <a:t>Antena dipole merupakan salah satu jenis antena yang paling sederhana dan banyak digunakan. Antena ini terdiri dari dua buah konduktor lurus yang sejajar dan berjarak sama. Panjang konduktor ini menentukan frekuensi kerja antena, dengan panjang ideal sama dengan setengah panjang gelombang sinyal yang akan dipancarkan atau diterima.</a:t>
            </a:r>
            <a:endParaRPr lang="en-US" sz="1600" dirty="0"/>
          </a:p>
        </p:txBody>
      </p:sp>
      <p:sp>
        <p:nvSpPr>
          <p:cNvPr id="4" name="Text 2"/>
          <p:cNvSpPr/>
          <p:nvPr/>
        </p:nvSpPr>
        <p:spPr>
          <a:xfrm>
            <a:off x="719257" y="3857625"/>
            <a:ext cx="6345317" cy="1314926"/>
          </a:xfrm>
          <a:prstGeom prst="rect">
            <a:avLst/>
          </a:prstGeom>
          <a:noFill/>
          <a:ln/>
        </p:spPr>
        <p:txBody>
          <a:bodyPr wrap="square" lIns="0" tIns="0" rIns="0" bIns="0" rtlCol="0" anchor="t"/>
          <a:lstStyle/>
          <a:p>
            <a:pPr marL="0" indent="0">
              <a:lnSpc>
                <a:spcPts val="2550"/>
              </a:lnSpc>
              <a:buNone/>
            </a:pPr>
            <a:r>
              <a:rPr lang="en-US" sz="1600" dirty="0">
                <a:solidFill>
                  <a:srgbClr val="4A4A45"/>
                </a:solidFill>
                <a:latin typeface="Lato" pitchFamily="34" charset="0"/>
                <a:ea typeface="Lato" pitchFamily="34" charset="-122"/>
                <a:cs typeface="Lato" pitchFamily="34" charset="-120"/>
              </a:rPr>
              <a:t>Arus listrik yang mengalir pada konduktor menghasilkan medan elektromagnetik yang dipancarkan ke udara. Medan ini membentuk pola radiasi antena yang memiliki karakteristik tertentu, tergantung pada bentuk dan ukuran antena.</a:t>
            </a:r>
            <a:endParaRPr lang="en-US" sz="1600" dirty="0"/>
          </a:p>
        </p:txBody>
      </p:sp>
      <p:pic>
        <p:nvPicPr>
          <p:cNvPr id="5" name="Image 0" descr="preencoded.png"/>
          <p:cNvPicPr>
            <a:picLocks noChangeAspect="1"/>
          </p:cNvPicPr>
          <p:nvPr/>
        </p:nvPicPr>
        <p:blipFill>
          <a:blip r:embed="rId3"/>
          <a:stretch>
            <a:fillRect/>
          </a:stretch>
        </p:blipFill>
        <p:spPr>
          <a:xfrm>
            <a:off x="7573447" y="1746528"/>
            <a:ext cx="6345317" cy="638115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9427488" y="1542336"/>
            <a:ext cx="4919305" cy="5144810"/>
          </a:xfrm>
          <a:prstGeom prst="rect">
            <a:avLst/>
          </a:prstGeom>
        </p:spPr>
      </p:pic>
      <p:sp>
        <p:nvSpPr>
          <p:cNvPr id="4" name="Text 0"/>
          <p:cNvSpPr/>
          <p:nvPr/>
        </p:nvSpPr>
        <p:spPr>
          <a:xfrm>
            <a:off x="793790" y="2019657"/>
            <a:ext cx="7556421" cy="1417558"/>
          </a:xfrm>
          <a:prstGeom prst="rect">
            <a:avLst/>
          </a:prstGeom>
          <a:noFill/>
          <a:ln/>
        </p:spPr>
        <p:txBody>
          <a:bodyPr wrap="square" lIns="0" tIns="0" rIns="0" bIns="0" rtlCol="0" anchor="t"/>
          <a:lstStyle/>
          <a:p>
            <a:pPr marL="0" indent="0">
              <a:lnSpc>
                <a:spcPts val="5550"/>
              </a:lnSpc>
              <a:buNone/>
            </a:pPr>
            <a:r>
              <a:rPr lang="en-US" sz="4450" b="1" dirty="0">
                <a:solidFill>
                  <a:srgbClr val="282824"/>
                </a:solidFill>
                <a:latin typeface="Lato Bold" pitchFamily="34" charset="0"/>
                <a:ea typeface="Lato Bold" pitchFamily="34" charset="-122"/>
                <a:cs typeface="Lato Bold" pitchFamily="34" charset="-120"/>
              </a:rPr>
              <a:t>Antena Loop: Struktur dan Prinsip Kerja</a:t>
            </a:r>
            <a:endParaRPr lang="en-US" sz="4450" dirty="0"/>
          </a:p>
        </p:txBody>
      </p:sp>
      <p:sp>
        <p:nvSpPr>
          <p:cNvPr id="5" name="Text 1"/>
          <p:cNvSpPr/>
          <p:nvPr/>
        </p:nvSpPr>
        <p:spPr>
          <a:xfrm>
            <a:off x="793790" y="3777377"/>
            <a:ext cx="7556421" cy="1088708"/>
          </a:xfrm>
          <a:prstGeom prst="rect">
            <a:avLst/>
          </a:prstGeom>
          <a:noFill/>
          <a:ln/>
        </p:spPr>
        <p:txBody>
          <a:bodyPr wrap="square" lIns="0" tIns="0" rIns="0" bIns="0" rtlCol="0" anchor="t"/>
          <a:lstStyle/>
          <a:p>
            <a:pPr marL="0" indent="0">
              <a:lnSpc>
                <a:spcPts val="2850"/>
              </a:lnSpc>
              <a:buNone/>
            </a:pPr>
            <a:r>
              <a:rPr lang="en-US" sz="1750" dirty="0">
                <a:solidFill>
                  <a:srgbClr val="4A4A45"/>
                </a:solidFill>
                <a:latin typeface="Lato" pitchFamily="34" charset="0"/>
                <a:ea typeface="Lato" pitchFamily="34" charset="-122"/>
                <a:cs typeface="Lato" pitchFamily="34" charset="-120"/>
              </a:rPr>
              <a:t>Antena loop adalah jenis antena yang terdiri dari satu atau lebih loop kawat konduktor. Loop ini memiliki induktansi dan kapasitansi yang menghasilkan resonansi pada frekuensi tertentu.</a:t>
            </a:r>
            <a:endParaRPr lang="en-US" sz="1750" dirty="0"/>
          </a:p>
        </p:txBody>
      </p:sp>
      <p:sp>
        <p:nvSpPr>
          <p:cNvPr id="6" name="Text 2"/>
          <p:cNvSpPr/>
          <p:nvPr/>
        </p:nvSpPr>
        <p:spPr>
          <a:xfrm>
            <a:off x="793790" y="5121235"/>
            <a:ext cx="7556421" cy="1088708"/>
          </a:xfrm>
          <a:prstGeom prst="rect">
            <a:avLst/>
          </a:prstGeom>
          <a:noFill/>
          <a:ln/>
        </p:spPr>
        <p:txBody>
          <a:bodyPr wrap="square" lIns="0" tIns="0" rIns="0" bIns="0" rtlCol="0" anchor="t"/>
          <a:lstStyle/>
          <a:p>
            <a:pPr marL="0" indent="0">
              <a:lnSpc>
                <a:spcPts val="2850"/>
              </a:lnSpc>
              <a:buNone/>
            </a:pPr>
            <a:r>
              <a:rPr lang="en-US" sz="1750" dirty="0">
                <a:solidFill>
                  <a:srgbClr val="4A4A45"/>
                </a:solidFill>
                <a:latin typeface="Lato" pitchFamily="34" charset="0"/>
                <a:ea typeface="Lato" pitchFamily="34" charset="-122"/>
                <a:cs typeface="Lato" pitchFamily="34" charset="-120"/>
              </a:rPr>
              <a:t>Arus bolak-balik yang mengalir melalui loop menghasilkan medan magnet yang memancar keluar. Pola radiasi antena loop bervariasi tergantung pada bentuk dan ukuran loop.</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9427488" y="2651284"/>
            <a:ext cx="4919305" cy="2927032"/>
          </a:xfrm>
          <a:prstGeom prst="rect">
            <a:avLst/>
          </a:prstGeom>
        </p:spPr>
      </p:pic>
      <p:sp>
        <p:nvSpPr>
          <p:cNvPr id="4" name="Text 0"/>
          <p:cNvSpPr/>
          <p:nvPr/>
        </p:nvSpPr>
        <p:spPr>
          <a:xfrm>
            <a:off x="793790" y="1838206"/>
            <a:ext cx="7556421" cy="1417558"/>
          </a:xfrm>
          <a:prstGeom prst="rect">
            <a:avLst/>
          </a:prstGeom>
          <a:noFill/>
          <a:ln/>
        </p:spPr>
        <p:txBody>
          <a:bodyPr wrap="square" lIns="0" tIns="0" rIns="0" bIns="0" rtlCol="0" anchor="t"/>
          <a:lstStyle/>
          <a:p>
            <a:pPr marL="0" indent="0">
              <a:lnSpc>
                <a:spcPts val="5550"/>
              </a:lnSpc>
              <a:buNone/>
            </a:pPr>
            <a:r>
              <a:rPr lang="en-US" sz="4450" b="1" dirty="0">
                <a:solidFill>
                  <a:srgbClr val="282824"/>
                </a:solidFill>
                <a:latin typeface="Lato Bold" pitchFamily="34" charset="0"/>
                <a:ea typeface="Lato Bold" pitchFamily="34" charset="-122"/>
                <a:cs typeface="Lato Bold" pitchFamily="34" charset="-120"/>
              </a:rPr>
              <a:t>Antena Mikrostrip: Struktur dan Prinsip Kerja</a:t>
            </a:r>
            <a:endParaRPr lang="en-US" sz="4450" dirty="0"/>
          </a:p>
        </p:txBody>
      </p:sp>
      <p:sp>
        <p:nvSpPr>
          <p:cNvPr id="5" name="Text 1"/>
          <p:cNvSpPr/>
          <p:nvPr/>
        </p:nvSpPr>
        <p:spPr>
          <a:xfrm>
            <a:off x="793790" y="3595926"/>
            <a:ext cx="7556421" cy="1451610"/>
          </a:xfrm>
          <a:prstGeom prst="rect">
            <a:avLst/>
          </a:prstGeom>
          <a:noFill/>
          <a:ln/>
        </p:spPr>
        <p:txBody>
          <a:bodyPr wrap="square" lIns="0" tIns="0" rIns="0" bIns="0" rtlCol="0" anchor="t"/>
          <a:lstStyle/>
          <a:p>
            <a:pPr marL="0" indent="0">
              <a:lnSpc>
                <a:spcPts val="2850"/>
              </a:lnSpc>
              <a:buNone/>
            </a:pPr>
            <a:r>
              <a:rPr lang="en-US" sz="1750" dirty="0">
                <a:solidFill>
                  <a:srgbClr val="4A4A45"/>
                </a:solidFill>
                <a:latin typeface="Lato" pitchFamily="34" charset="0"/>
                <a:ea typeface="Lato" pitchFamily="34" charset="-122"/>
                <a:cs typeface="Lato" pitchFamily="34" charset="-120"/>
              </a:rPr>
              <a:t>Antena mikrostrip adalah jenis antena yang memanfaatkan jalur konduktor tipis yang dicetak pada substrat dielektrik. Jalur ini terhubung ke strip transmisi, membentuk elemen radiasi yang memancarkan gelombang elektromagnetik.</a:t>
            </a:r>
            <a:endParaRPr lang="en-US" sz="1750" dirty="0"/>
          </a:p>
        </p:txBody>
      </p:sp>
      <p:sp>
        <p:nvSpPr>
          <p:cNvPr id="6" name="Text 2"/>
          <p:cNvSpPr/>
          <p:nvPr/>
        </p:nvSpPr>
        <p:spPr>
          <a:xfrm>
            <a:off x="793790" y="5302687"/>
            <a:ext cx="7556421" cy="1088708"/>
          </a:xfrm>
          <a:prstGeom prst="rect">
            <a:avLst/>
          </a:prstGeom>
          <a:noFill/>
          <a:ln/>
        </p:spPr>
        <p:txBody>
          <a:bodyPr wrap="square" lIns="0" tIns="0" rIns="0" bIns="0" rtlCol="0" anchor="t"/>
          <a:lstStyle/>
          <a:p>
            <a:pPr marL="0" indent="0">
              <a:lnSpc>
                <a:spcPts val="2850"/>
              </a:lnSpc>
              <a:buNone/>
            </a:pPr>
            <a:r>
              <a:rPr lang="en-US" sz="1750" dirty="0">
                <a:solidFill>
                  <a:srgbClr val="4A4A45"/>
                </a:solidFill>
                <a:latin typeface="Lato" pitchFamily="34" charset="0"/>
                <a:ea typeface="Lato" pitchFamily="34" charset="-122"/>
                <a:cs typeface="Lato" pitchFamily="34" charset="-120"/>
              </a:rPr>
              <a:t>Antena ini memiliki beberapa keunggulan, yaitu kompak, ringan, dan mudah diproduksi secara massal. Hal ini membuatnya ideal untuk berbagai aplikasi, seperti komunikasi nirkabel, sensor, dan perangkat elektronik lainnya.</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706755"/>
            <a:ext cx="11131510" cy="708779"/>
          </a:xfrm>
          <a:prstGeom prst="rect">
            <a:avLst/>
          </a:prstGeom>
          <a:noFill/>
          <a:ln/>
        </p:spPr>
        <p:txBody>
          <a:bodyPr wrap="none" lIns="0" tIns="0" rIns="0" bIns="0" rtlCol="0" anchor="t"/>
          <a:lstStyle/>
          <a:p>
            <a:pPr marL="0" indent="0">
              <a:lnSpc>
                <a:spcPts val="5550"/>
              </a:lnSpc>
              <a:buNone/>
            </a:pPr>
            <a:r>
              <a:rPr lang="en-US" sz="4450" b="1" dirty="0">
                <a:solidFill>
                  <a:srgbClr val="282824"/>
                </a:solidFill>
                <a:latin typeface="Lato Bold" pitchFamily="34" charset="0"/>
                <a:ea typeface="Lato Bold" pitchFamily="34" charset="-122"/>
                <a:cs typeface="Lato Bold" pitchFamily="34" charset="-120"/>
              </a:rPr>
              <a:t>Antena Yagi-Uda: Struktur dan Prinsip Kerja</a:t>
            </a:r>
            <a:endParaRPr lang="en-US" sz="4450" dirty="0"/>
          </a:p>
        </p:txBody>
      </p:sp>
      <p:sp>
        <p:nvSpPr>
          <p:cNvPr id="3" name="Text 1"/>
          <p:cNvSpPr/>
          <p:nvPr/>
        </p:nvSpPr>
        <p:spPr>
          <a:xfrm>
            <a:off x="793790" y="1959769"/>
            <a:ext cx="6244709" cy="2540318"/>
          </a:xfrm>
          <a:prstGeom prst="rect">
            <a:avLst/>
          </a:prstGeom>
          <a:noFill/>
          <a:ln/>
        </p:spPr>
        <p:txBody>
          <a:bodyPr wrap="square" lIns="0" tIns="0" rIns="0" bIns="0" rtlCol="0" anchor="t"/>
          <a:lstStyle/>
          <a:p>
            <a:pPr marL="0" indent="0">
              <a:lnSpc>
                <a:spcPts val="2850"/>
              </a:lnSpc>
              <a:buNone/>
            </a:pPr>
            <a:r>
              <a:rPr lang="en-US" sz="1750" dirty="0">
                <a:solidFill>
                  <a:srgbClr val="4A4A45"/>
                </a:solidFill>
                <a:latin typeface="Lato" pitchFamily="34" charset="0"/>
                <a:ea typeface="Lato" pitchFamily="34" charset="-122"/>
                <a:cs typeface="Lato" pitchFamily="34" charset="-120"/>
              </a:rPr>
              <a:t>Antena Yagi-Uda merupakan jenis antena directional yang terdiri dari beberapa elemen. Elemen utama adalah dipole yang memancarkan gelombang elektromagnetik. Elemen reflektor, terletak di belakang dipole, memantulkan gelombang, sehingga meningkatkan gain antena. Elemen direktor, yang berada di depan dipole, berfungsi untuk mengarahkan gelombang ke arah yang diinginkan.</a:t>
            </a:r>
            <a:endParaRPr lang="en-US" sz="1750" dirty="0"/>
          </a:p>
        </p:txBody>
      </p:sp>
      <p:sp>
        <p:nvSpPr>
          <p:cNvPr id="4" name="Text 2"/>
          <p:cNvSpPr/>
          <p:nvPr/>
        </p:nvSpPr>
        <p:spPr>
          <a:xfrm>
            <a:off x="793790" y="4704159"/>
            <a:ext cx="6244709" cy="1814513"/>
          </a:xfrm>
          <a:prstGeom prst="rect">
            <a:avLst/>
          </a:prstGeom>
          <a:noFill/>
          <a:ln/>
        </p:spPr>
        <p:txBody>
          <a:bodyPr wrap="square" lIns="0" tIns="0" rIns="0" bIns="0" rtlCol="0" anchor="t"/>
          <a:lstStyle/>
          <a:p>
            <a:pPr marL="0" indent="0">
              <a:lnSpc>
                <a:spcPts val="2850"/>
              </a:lnSpc>
              <a:buNone/>
            </a:pPr>
            <a:r>
              <a:rPr lang="en-US" sz="1750" dirty="0">
                <a:solidFill>
                  <a:srgbClr val="4A4A45"/>
                </a:solidFill>
                <a:latin typeface="Lato" pitchFamily="34" charset="0"/>
                <a:ea typeface="Lato" pitchFamily="34" charset="-122"/>
                <a:cs typeface="Lato" pitchFamily="34" charset="-120"/>
              </a:rPr>
              <a:t>Prinsip kerja antena Yagi-Uda didasarkan pada interaksi antara gelombang elektromagnetik yang dipancarkan dari dipole dengan elemen-elemen lainnya. Interaksi ini menghasilkan interferensi konstruktif dan destruktif, sehingga membentuk pola radiasi yang terarah.</a:t>
            </a:r>
            <a:endParaRPr lang="en-US" sz="1750" dirty="0"/>
          </a:p>
        </p:txBody>
      </p:sp>
      <p:pic>
        <p:nvPicPr>
          <p:cNvPr id="5" name="Image 0" descr="preencoded.png"/>
          <p:cNvPicPr>
            <a:picLocks noChangeAspect="1"/>
          </p:cNvPicPr>
          <p:nvPr/>
        </p:nvPicPr>
        <p:blipFill>
          <a:blip r:embed="rId3"/>
          <a:stretch>
            <a:fillRect/>
          </a:stretch>
        </p:blipFill>
        <p:spPr>
          <a:xfrm>
            <a:off x="7599521" y="2010847"/>
            <a:ext cx="6244709" cy="525672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9427488" y="1515666"/>
            <a:ext cx="4919305" cy="5198150"/>
          </a:xfrm>
          <a:prstGeom prst="rect">
            <a:avLst/>
          </a:prstGeom>
        </p:spPr>
      </p:pic>
      <p:sp>
        <p:nvSpPr>
          <p:cNvPr id="4" name="Text 0"/>
          <p:cNvSpPr/>
          <p:nvPr/>
        </p:nvSpPr>
        <p:spPr>
          <a:xfrm>
            <a:off x="793790" y="1710571"/>
            <a:ext cx="7556421" cy="1417558"/>
          </a:xfrm>
          <a:prstGeom prst="rect">
            <a:avLst/>
          </a:prstGeom>
          <a:noFill/>
          <a:ln/>
        </p:spPr>
        <p:txBody>
          <a:bodyPr wrap="square" lIns="0" tIns="0" rIns="0" bIns="0" rtlCol="0" anchor="t"/>
          <a:lstStyle/>
          <a:p>
            <a:pPr marL="0" indent="0">
              <a:lnSpc>
                <a:spcPts val="5550"/>
              </a:lnSpc>
              <a:buNone/>
            </a:pPr>
            <a:r>
              <a:rPr lang="en-US" sz="4450" b="1" dirty="0">
                <a:solidFill>
                  <a:srgbClr val="282824"/>
                </a:solidFill>
                <a:latin typeface="Lato Bold" pitchFamily="34" charset="0"/>
                <a:ea typeface="Lato Bold" pitchFamily="34" charset="-122"/>
                <a:cs typeface="Lato Bold" pitchFamily="34" charset="-120"/>
              </a:rPr>
              <a:t>Studi Kasus: Desain Antena untuk Perangkat IoT</a:t>
            </a:r>
            <a:endParaRPr lang="en-US" sz="4450" dirty="0"/>
          </a:p>
        </p:txBody>
      </p:sp>
      <p:sp>
        <p:nvSpPr>
          <p:cNvPr id="5" name="Text 1"/>
          <p:cNvSpPr/>
          <p:nvPr/>
        </p:nvSpPr>
        <p:spPr>
          <a:xfrm>
            <a:off x="793790" y="3468291"/>
            <a:ext cx="7556421" cy="725805"/>
          </a:xfrm>
          <a:prstGeom prst="rect">
            <a:avLst/>
          </a:prstGeom>
          <a:noFill/>
          <a:ln/>
        </p:spPr>
        <p:txBody>
          <a:bodyPr wrap="square" lIns="0" tIns="0" rIns="0" bIns="0" rtlCol="0" anchor="t"/>
          <a:lstStyle/>
          <a:p>
            <a:pPr marL="0" indent="0">
              <a:lnSpc>
                <a:spcPts val="2850"/>
              </a:lnSpc>
              <a:buNone/>
            </a:pPr>
            <a:r>
              <a:rPr lang="en-US" sz="1750" dirty="0">
                <a:solidFill>
                  <a:srgbClr val="4A4A45"/>
                </a:solidFill>
                <a:latin typeface="Lato" pitchFamily="34" charset="0"/>
                <a:ea typeface="Lato" pitchFamily="34" charset="-122"/>
                <a:cs typeface="Lato" pitchFamily="34" charset="-120"/>
              </a:rPr>
              <a:t>Mendesain antena untuk perangkat IoT menghadirkan tantangan unik. Perangkat IoT biasanya berukuran kecil dan membutuhkan daya rendah.</a:t>
            </a:r>
            <a:endParaRPr lang="en-US" sz="1750" dirty="0"/>
          </a:p>
        </p:txBody>
      </p:sp>
      <p:sp>
        <p:nvSpPr>
          <p:cNvPr id="6" name="Text 2"/>
          <p:cNvSpPr/>
          <p:nvPr/>
        </p:nvSpPr>
        <p:spPr>
          <a:xfrm>
            <a:off x="793790" y="4449247"/>
            <a:ext cx="7556421" cy="725805"/>
          </a:xfrm>
          <a:prstGeom prst="rect">
            <a:avLst/>
          </a:prstGeom>
          <a:noFill/>
          <a:ln/>
        </p:spPr>
        <p:txBody>
          <a:bodyPr wrap="square" lIns="0" tIns="0" rIns="0" bIns="0" rtlCol="0" anchor="t"/>
          <a:lstStyle/>
          <a:p>
            <a:pPr marL="0" indent="0">
              <a:lnSpc>
                <a:spcPts val="2850"/>
              </a:lnSpc>
              <a:buNone/>
            </a:pPr>
            <a:r>
              <a:rPr lang="en-US" sz="1750" dirty="0">
                <a:solidFill>
                  <a:srgbClr val="4A4A45"/>
                </a:solidFill>
                <a:latin typeface="Lato" pitchFamily="34" charset="0"/>
                <a:ea typeface="Lato" pitchFamily="34" charset="-122"/>
                <a:cs typeface="Lato" pitchFamily="34" charset="-120"/>
              </a:rPr>
              <a:t>Antena untuk perangkat IoT perlu efisien dan memiliki pola radiasi optimal untuk komunikasi jarak pendek.</a:t>
            </a:r>
            <a:endParaRPr lang="en-US" sz="1750" dirty="0"/>
          </a:p>
        </p:txBody>
      </p:sp>
      <p:sp>
        <p:nvSpPr>
          <p:cNvPr id="7" name="Text 3"/>
          <p:cNvSpPr/>
          <p:nvPr/>
        </p:nvSpPr>
        <p:spPr>
          <a:xfrm>
            <a:off x="793790" y="5430203"/>
            <a:ext cx="7556421" cy="1088708"/>
          </a:xfrm>
          <a:prstGeom prst="rect">
            <a:avLst/>
          </a:prstGeom>
          <a:noFill/>
          <a:ln/>
        </p:spPr>
        <p:txBody>
          <a:bodyPr wrap="square" lIns="0" tIns="0" rIns="0" bIns="0" rtlCol="0" anchor="t"/>
          <a:lstStyle/>
          <a:p>
            <a:pPr marL="0" indent="0">
              <a:lnSpc>
                <a:spcPts val="2850"/>
              </a:lnSpc>
              <a:buNone/>
            </a:pPr>
            <a:r>
              <a:rPr lang="en-US" sz="1750" dirty="0">
                <a:solidFill>
                  <a:srgbClr val="4A4A45"/>
                </a:solidFill>
                <a:latin typeface="Lato" pitchFamily="34" charset="0"/>
                <a:ea typeface="Lato" pitchFamily="34" charset="-122"/>
                <a:cs typeface="Lato" pitchFamily="34" charset="-120"/>
              </a:rPr>
              <a:t>Misalnya, pada sensor nirkabel, antena harus dirancang untuk memaksimalkan jangkauan dan kekuatan sinyal, sambil tetap kompak dan hemat energi.</a:t>
            </a:r>
            <a:endParaRPr lang="en-US" sz="1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1088350"/>
            <a:ext cx="6004084" cy="708779"/>
          </a:xfrm>
          <a:prstGeom prst="rect">
            <a:avLst/>
          </a:prstGeom>
          <a:noFill/>
          <a:ln/>
        </p:spPr>
        <p:txBody>
          <a:bodyPr wrap="none" lIns="0" tIns="0" rIns="0" bIns="0" rtlCol="0" anchor="t"/>
          <a:lstStyle/>
          <a:p>
            <a:pPr marL="0" indent="0">
              <a:lnSpc>
                <a:spcPts val="5550"/>
              </a:lnSpc>
              <a:buNone/>
            </a:pPr>
            <a:r>
              <a:rPr lang="en-US" sz="4450" b="1" dirty="0">
                <a:solidFill>
                  <a:srgbClr val="282824"/>
                </a:solidFill>
                <a:latin typeface="Lato Bold" pitchFamily="34" charset="0"/>
                <a:ea typeface="Lato Bold" pitchFamily="34" charset="-122"/>
                <a:cs typeface="Lato Bold" pitchFamily="34" charset="-120"/>
              </a:rPr>
              <a:t>Kesimpulan dan Diskusi</a:t>
            </a:r>
            <a:endParaRPr lang="en-US" sz="4450" dirty="0"/>
          </a:p>
        </p:txBody>
      </p:sp>
      <p:sp>
        <p:nvSpPr>
          <p:cNvPr id="3" name="Text 1"/>
          <p:cNvSpPr/>
          <p:nvPr/>
        </p:nvSpPr>
        <p:spPr>
          <a:xfrm>
            <a:off x="793790" y="2364105"/>
            <a:ext cx="2845594" cy="708660"/>
          </a:xfrm>
          <a:prstGeom prst="rect">
            <a:avLst/>
          </a:prstGeom>
          <a:noFill/>
          <a:ln/>
        </p:spPr>
        <p:txBody>
          <a:bodyPr wrap="square" lIns="0" tIns="0" rIns="0" bIns="0" rtlCol="0" anchor="t"/>
          <a:lstStyle/>
          <a:p>
            <a:pPr marL="0" indent="0">
              <a:lnSpc>
                <a:spcPts val="2750"/>
              </a:lnSpc>
              <a:buNone/>
            </a:pPr>
            <a:r>
              <a:rPr lang="en-US" sz="2200" b="1" dirty="0">
                <a:solidFill>
                  <a:srgbClr val="282824"/>
                </a:solidFill>
                <a:latin typeface="Lato Bold" pitchFamily="34" charset="0"/>
                <a:ea typeface="Lato Bold" pitchFamily="34" charset="-122"/>
                <a:cs typeface="Lato Bold" pitchFamily="34" charset="-120"/>
              </a:rPr>
              <a:t>Pentingnya Desain Antena</a:t>
            </a:r>
            <a:endParaRPr lang="en-US" sz="2200" dirty="0"/>
          </a:p>
        </p:txBody>
      </p:sp>
      <p:sp>
        <p:nvSpPr>
          <p:cNvPr id="4" name="Text 2"/>
          <p:cNvSpPr/>
          <p:nvPr/>
        </p:nvSpPr>
        <p:spPr>
          <a:xfrm>
            <a:off x="793790" y="3299579"/>
            <a:ext cx="2845594" cy="3266123"/>
          </a:xfrm>
          <a:prstGeom prst="rect">
            <a:avLst/>
          </a:prstGeom>
          <a:noFill/>
          <a:ln/>
        </p:spPr>
        <p:txBody>
          <a:bodyPr wrap="square" lIns="0" tIns="0" rIns="0" bIns="0" rtlCol="0" anchor="t"/>
          <a:lstStyle/>
          <a:p>
            <a:pPr marL="0" indent="0">
              <a:lnSpc>
                <a:spcPts val="2850"/>
              </a:lnSpc>
              <a:buNone/>
            </a:pPr>
            <a:r>
              <a:rPr lang="en-US" sz="1750" dirty="0">
                <a:solidFill>
                  <a:srgbClr val="4A4A45"/>
                </a:solidFill>
                <a:latin typeface="Lato" pitchFamily="34" charset="0"/>
                <a:ea typeface="Lato" pitchFamily="34" charset="-122"/>
                <a:cs typeface="Lato" pitchFamily="34" charset="-120"/>
              </a:rPr>
              <a:t>Desain antena memainkan peran krusial dalam mencapai komunikasi nirkabel yang optimal. Antena yang tepat dapat meningkatkan jangkauan, kekuatan sinyal, dan efisiensi energi, sehingga memastikan performa yang handal.</a:t>
            </a:r>
            <a:endParaRPr lang="en-US" sz="1750" dirty="0"/>
          </a:p>
        </p:txBody>
      </p:sp>
      <p:sp>
        <p:nvSpPr>
          <p:cNvPr id="5" name="Text 3"/>
          <p:cNvSpPr/>
          <p:nvPr/>
        </p:nvSpPr>
        <p:spPr>
          <a:xfrm>
            <a:off x="4200406" y="2364105"/>
            <a:ext cx="2835235" cy="354330"/>
          </a:xfrm>
          <a:prstGeom prst="rect">
            <a:avLst/>
          </a:prstGeom>
          <a:noFill/>
          <a:ln/>
        </p:spPr>
        <p:txBody>
          <a:bodyPr wrap="none" lIns="0" tIns="0" rIns="0" bIns="0" rtlCol="0" anchor="t"/>
          <a:lstStyle/>
          <a:p>
            <a:pPr marL="0" indent="0">
              <a:lnSpc>
                <a:spcPts val="2750"/>
              </a:lnSpc>
              <a:buNone/>
            </a:pPr>
            <a:r>
              <a:rPr lang="en-US" sz="2200" b="1" dirty="0">
                <a:solidFill>
                  <a:srgbClr val="282824"/>
                </a:solidFill>
                <a:latin typeface="Lato Bold" pitchFamily="34" charset="0"/>
                <a:ea typeface="Lato Bold" pitchFamily="34" charset="-122"/>
                <a:cs typeface="Lato Bold" pitchFamily="34" charset="-120"/>
              </a:rPr>
              <a:t>Pilihan Antena</a:t>
            </a:r>
            <a:endParaRPr lang="en-US" sz="2200" dirty="0"/>
          </a:p>
        </p:txBody>
      </p:sp>
      <p:sp>
        <p:nvSpPr>
          <p:cNvPr id="6" name="Text 4"/>
          <p:cNvSpPr/>
          <p:nvPr/>
        </p:nvSpPr>
        <p:spPr>
          <a:xfrm>
            <a:off x="4563308" y="2945249"/>
            <a:ext cx="248269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A4A45"/>
                </a:solidFill>
                <a:latin typeface="Lato" pitchFamily="34" charset="0"/>
                <a:ea typeface="Lato" pitchFamily="34" charset="-122"/>
                <a:cs typeface="Lato" pitchFamily="34" charset="-120"/>
              </a:rPr>
              <a:t>Antena dipole</a:t>
            </a:r>
            <a:endParaRPr lang="en-US" sz="1750" dirty="0"/>
          </a:p>
        </p:txBody>
      </p:sp>
      <p:sp>
        <p:nvSpPr>
          <p:cNvPr id="7" name="Text 5"/>
          <p:cNvSpPr/>
          <p:nvPr/>
        </p:nvSpPr>
        <p:spPr>
          <a:xfrm>
            <a:off x="4563308" y="3387447"/>
            <a:ext cx="248269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A4A45"/>
                </a:solidFill>
                <a:latin typeface="Lato" pitchFamily="34" charset="0"/>
                <a:ea typeface="Lato" pitchFamily="34" charset="-122"/>
                <a:cs typeface="Lato" pitchFamily="34" charset="-120"/>
              </a:rPr>
              <a:t>Antena loop</a:t>
            </a:r>
            <a:endParaRPr lang="en-US" sz="1750" dirty="0"/>
          </a:p>
        </p:txBody>
      </p:sp>
      <p:sp>
        <p:nvSpPr>
          <p:cNvPr id="8" name="Text 6"/>
          <p:cNvSpPr/>
          <p:nvPr/>
        </p:nvSpPr>
        <p:spPr>
          <a:xfrm>
            <a:off x="4563308" y="3829645"/>
            <a:ext cx="248269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A4A45"/>
                </a:solidFill>
                <a:latin typeface="Lato" pitchFamily="34" charset="0"/>
                <a:ea typeface="Lato" pitchFamily="34" charset="-122"/>
                <a:cs typeface="Lato" pitchFamily="34" charset="-120"/>
              </a:rPr>
              <a:t>Antena mikrostrip</a:t>
            </a:r>
            <a:endParaRPr lang="en-US" sz="1750" dirty="0"/>
          </a:p>
        </p:txBody>
      </p:sp>
      <p:sp>
        <p:nvSpPr>
          <p:cNvPr id="9" name="Text 7"/>
          <p:cNvSpPr/>
          <p:nvPr/>
        </p:nvSpPr>
        <p:spPr>
          <a:xfrm>
            <a:off x="4563308" y="4271843"/>
            <a:ext cx="248269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A4A45"/>
                </a:solidFill>
                <a:latin typeface="Lato" pitchFamily="34" charset="0"/>
                <a:ea typeface="Lato" pitchFamily="34" charset="-122"/>
                <a:cs typeface="Lato" pitchFamily="34" charset="-120"/>
              </a:rPr>
              <a:t>Antena Yagi-Uda</a:t>
            </a:r>
            <a:endParaRPr lang="en-US" sz="1750" dirty="0"/>
          </a:p>
        </p:txBody>
      </p:sp>
      <p:sp>
        <p:nvSpPr>
          <p:cNvPr id="10" name="Text 8"/>
          <p:cNvSpPr/>
          <p:nvPr/>
        </p:nvSpPr>
        <p:spPr>
          <a:xfrm>
            <a:off x="7607022" y="2364105"/>
            <a:ext cx="2835235" cy="354330"/>
          </a:xfrm>
          <a:prstGeom prst="rect">
            <a:avLst/>
          </a:prstGeom>
          <a:noFill/>
          <a:ln/>
        </p:spPr>
        <p:txBody>
          <a:bodyPr wrap="none" lIns="0" tIns="0" rIns="0" bIns="0" rtlCol="0" anchor="t"/>
          <a:lstStyle/>
          <a:p>
            <a:pPr marL="0" indent="0">
              <a:lnSpc>
                <a:spcPts val="2750"/>
              </a:lnSpc>
              <a:buNone/>
            </a:pPr>
            <a:r>
              <a:rPr lang="en-US" sz="2200" b="1" dirty="0">
                <a:solidFill>
                  <a:srgbClr val="282824"/>
                </a:solidFill>
                <a:latin typeface="Lato Bold" pitchFamily="34" charset="0"/>
                <a:ea typeface="Lato Bold" pitchFamily="34" charset="-122"/>
                <a:cs typeface="Lato Bold" pitchFamily="34" charset="-120"/>
              </a:rPr>
              <a:t>Tantangan Desain</a:t>
            </a:r>
            <a:endParaRPr lang="en-US" sz="2200" dirty="0"/>
          </a:p>
        </p:txBody>
      </p:sp>
      <p:sp>
        <p:nvSpPr>
          <p:cNvPr id="11" name="Text 9"/>
          <p:cNvSpPr/>
          <p:nvPr/>
        </p:nvSpPr>
        <p:spPr>
          <a:xfrm>
            <a:off x="7607022" y="2945249"/>
            <a:ext cx="2845594" cy="3991928"/>
          </a:xfrm>
          <a:prstGeom prst="rect">
            <a:avLst/>
          </a:prstGeom>
          <a:noFill/>
          <a:ln/>
        </p:spPr>
        <p:txBody>
          <a:bodyPr wrap="square" lIns="0" tIns="0" rIns="0" bIns="0" rtlCol="0" anchor="t"/>
          <a:lstStyle/>
          <a:p>
            <a:pPr marL="0" indent="0">
              <a:lnSpc>
                <a:spcPts val="2850"/>
              </a:lnSpc>
              <a:buNone/>
            </a:pPr>
            <a:r>
              <a:rPr lang="en-US" sz="1750" dirty="0">
                <a:solidFill>
                  <a:srgbClr val="4A4A45"/>
                </a:solidFill>
                <a:latin typeface="Lato" pitchFamily="34" charset="0"/>
                <a:ea typeface="Lato" pitchFamily="34" charset="-122"/>
                <a:cs typeface="Lato" pitchFamily="34" charset="-120"/>
              </a:rPr>
              <a:t>Desain antena dipengaruhi oleh berbagai faktor, termasuk frekuensi operasi, dimensi, material, dan lingkungan sekitarnya. Untuk memilih antena yang sesuai dengan aplikasi tertentu, diperlukan pemahaman mendalam tentang prinsip-prinsip desain antena.</a:t>
            </a:r>
            <a:endParaRPr lang="en-US" sz="1750" dirty="0"/>
          </a:p>
        </p:txBody>
      </p:sp>
      <p:sp>
        <p:nvSpPr>
          <p:cNvPr id="12" name="Text 10"/>
          <p:cNvSpPr/>
          <p:nvPr/>
        </p:nvSpPr>
        <p:spPr>
          <a:xfrm>
            <a:off x="11013638" y="2364105"/>
            <a:ext cx="2835235" cy="354330"/>
          </a:xfrm>
          <a:prstGeom prst="rect">
            <a:avLst/>
          </a:prstGeom>
          <a:noFill/>
          <a:ln/>
        </p:spPr>
        <p:txBody>
          <a:bodyPr wrap="none" lIns="0" tIns="0" rIns="0" bIns="0" rtlCol="0" anchor="t"/>
          <a:lstStyle/>
          <a:p>
            <a:pPr marL="0" indent="0">
              <a:lnSpc>
                <a:spcPts val="2750"/>
              </a:lnSpc>
              <a:buNone/>
            </a:pPr>
            <a:r>
              <a:rPr lang="en-US" sz="2200" b="1" dirty="0">
                <a:solidFill>
                  <a:srgbClr val="282824"/>
                </a:solidFill>
                <a:latin typeface="Lato Bold" pitchFamily="34" charset="0"/>
                <a:ea typeface="Lato Bold" pitchFamily="34" charset="-122"/>
                <a:cs typeface="Lato Bold" pitchFamily="34" charset="-120"/>
              </a:rPr>
              <a:t>Masa Depan</a:t>
            </a:r>
            <a:endParaRPr lang="en-US" sz="2200" dirty="0"/>
          </a:p>
        </p:txBody>
      </p:sp>
      <p:sp>
        <p:nvSpPr>
          <p:cNvPr id="13" name="Text 11"/>
          <p:cNvSpPr/>
          <p:nvPr/>
        </p:nvSpPr>
        <p:spPr>
          <a:xfrm>
            <a:off x="11013638" y="2945249"/>
            <a:ext cx="2845594" cy="3266123"/>
          </a:xfrm>
          <a:prstGeom prst="rect">
            <a:avLst/>
          </a:prstGeom>
          <a:noFill/>
          <a:ln/>
        </p:spPr>
        <p:txBody>
          <a:bodyPr wrap="square" lIns="0" tIns="0" rIns="0" bIns="0" rtlCol="0" anchor="t"/>
          <a:lstStyle/>
          <a:p>
            <a:pPr marL="0" indent="0">
              <a:lnSpc>
                <a:spcPts val="2850"/>
              </a:lnSpc>
              <a:buNone/>
            </a:pPr>
            <a:r>
              <a:rPr lang="en-US" sz="1750" dirty="0">
                <a:solidFill>
                  <a:srgbClr val="4A4A45"/>
                </a:solidFill>
                <a:latin typeface="Lato" pitchFamily="34" charset="0"/>
                <a:ea typeface="Lato" pitchFamily="34" charset="-122"/>
                <a:cs typeface="Lato" pitchFamily="34" charset="-120"/>
              </a:rPr>
              <a:t>Teknologi nirkabel terus berkembang pesat, mendorong kebutuhan akan desain antena yang lebih canggih dan efisien. Antena dengan kinerja tinggi dan kemampuan multi-band akan menjadi semakin penting dalam masa depan.</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1099</Words>
  <Application>Microsoft Macintosh PowerPoint</Application>
  <PresentationFormat>Custom</PresentationFormat>
  <Paragraphs>118</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Lato Bold</vt:lpstr>
      <vt:lpstr>Arial</vt:lpstr>
      <vt:lpstr>Lato</vt:lpstr>
      <vt:lpstr>Lato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AndiDayat</cp:lastModifiedBy>
  <cp:revision>2</cp:revision>
  <dcterms:created xsi:type="dcterms:W3CDTF">2024-10-07T11:48:32Z</dcterms:created>
  <dcterms:modified xsi:type="dcterms:W3CDTF">2024-10-07T11:49:53Z</dcterms:modified>
</cp:coreProperties>
</file>